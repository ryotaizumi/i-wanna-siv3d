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fa682623824d83" /><Relationship Type="http://schemas.openxmlformats.org/officeDocument/2006/relationships/extended-properties" Target="/docProps/app.xml" Id="R217671a221d44968" /><Relationship Type="http://schemas.openxmlformats.org/officeDocument/2006/relationships/officeDocument" Target="/ppt/presentation.xml" Id="R6bd16b165a4e4f40" /></Relationships>
</file>

<file path=ppt/presentation.xml><?xml version="1.0" encoding="utf-8"?>
<p:presentation xmlns:p="http://schemas.openxmlformats.org/presentationml/2006/main">
  <p:sldMasterIdLst>
    <p:sldMasterId xmlns:r="http://schemas.openxmlformats.org/officeDocument/2006/relationships" id="2147483648" r:id="R515de19903cc4f3b"/>
  </p:sldMasterIdLst>
  <p:notesMasterIdLst>
    <p:notesMasterId xmlns:r="http://schemas.openxmlformats.org/officeDocument/2006/relationships" r:id="R0287d61868914820"/>
  </p:notesMasterIdLst>
  <p:sldIdLst>
    <p:sldId xmlns:r="http://schemas.openxmlformats.org/officeDocument/2006/relationships" id="256" r:id="Rf378ce92a3d84105"/>
    <p:sldId xmlns:r="http://schemas.openxmlformats.org/officeDocument/2006/relationships" id="257" r:id="Rf1656974f7444fb5"/>
    <p:sldId xmlns:r="http://schemas.openxmlformats.org/officeDocument/2006/relationships" id="258" r:id="R1c0c2a8545374c5a"/>
    <p:sldId xmlns:r="http://schemas.openxmlformats.org/officeDocument/2006/relationships" id="259" r:id="R172091d8059e47ea"/>
    <p:sldId xmlns:r="http://schemas.openxmlformats.org/officeDocument/2006/relationships" id="260" r:id="R1450047ad5b1491c"/>
    <p:sldId xmlns:r="http://schemas.openxmlformats.org/officeDocument/2006/relationships" id="261" r:id="R55904cfa58d34881"/>
    <p:sldId xmlns:r="http://schemas.openxmlformats.org/officeDocument/2006/relationships" id="262" r:id="R1cca21760c3e4b38"/>
    <p:sldId xmlns:r="http://schemas.openxmlformats.org/officeDocument/2006/relationships" id="263" r:id="R41b02624356b4b0b"/>
    <p:sldId xmlns:r="http://schemas.openxmlformats.org/officeDocument/2006/relationships" id="264" r:id="R0c03a29b85c449f0"/>
    <p:sldId xmlns:r="http://schemas.openxmlformats.org/officeDocument/2006/relationships" id="265" r:id="Rb410fa563bc746b3"/>
    <p:sldId xmlns:r="http://schemas.openxmlformats.org/officeDocument/2006/relationships" id="266" r:id="R6d507b436d484eee"/>
    <p:sldId xmlns:r="http://schemas.openxmlformats.org/officeDocument/2006/relationships" id="267" r:id="R808b0a654cf746dc"/>
    <p:sldId xmlns:r="http://schemas.openxmlformats.org/officeDocument/2006/relationships" id="268" r:id="R4eeb53c695f6496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d59c94fc454e36" /><Relationship Type="http://schemas.openxmlformats.org/officeDocument/2006/relationships/slideMaster" Target="/ppt/slideMasters/slideMaster1.xml" Id="R515de19903cc4f3b" /><Relationship Type="http://schemas.openxmlformats.org/officeDocument/2006/relationships/notesMaster" Target="/ppt/notesMasters/notesMaster1.xml" Id="R0287d61868914820" /><Relationship Type="http://schemas.openxmlformats.org/officeDocument/2006/relationships/presProps" Target="/ppt/presProps.xml" Id="Rf35d2b0131fa49b1" /><Relationship Type="http://schemas.openxmlformats.org/officeDocument/2006/relationships/tableStyles" Target="/ppt/tableStyles.xml" Id="Rad24674064124346" /><Relationship Type="http://schemas.openxmlformats.org/officeDocument/2006/relationships/slide" Target="/ppt/slides/slide1.xml" Id="Rf378ce92a3d84105" /><Relationship Type="http://schemas.openxmlformats.org/officeDocument/2006/relationships/slide" Target="/ppt/slides/slide2.xml" Id="Rf1656974f7444fb5" /><Relationship Type="http://schemas.openxmlformats.org/officeDocument/2006/relationships/slide" Target="/ppt/slides/slide3.xml" Id="R1c0c2a8545374c5a" /><Relationship Type="http://schemas.openxmlformats.org/officeDocument/2006/relationships/slide" Target="/ppt/slides/slide4.xml" Id="R172091d8059e47ea" /><Relationship Type="http://schemas.openxmlformats.org/officeDocument/2006/relationships/slide" Target="/ppt/slides/slide5.xml" Id="R1450047ad5b1491c" /><Relationship Type="http://schemas.openxmlformats.org/officeDocument/2006/relationships/slide" Target="/ppt/slides/slide6.xml" Id="R55904cfa58d34881" /><Relationship Type="http://schemas.openxmlformats.org/officeDocument/2006/relationships/slide" Target="/ppt/slides/slide7.xml" Id="R1cca21760c3e4b38" /><Relationship Type="http://schemas.openxmlformats.org/officeDocument/2006/relationships/slide" Target="/ppt/slides/slide8.xml" Id="R41b02624356b4b0b" /><Relationship Type="http://schemas.openxmlformats.org/officeDocument/2006/relationships/slide" Target="/ppt/slides/slide9.xml" Id="R0c03a29b85c449f0" /><Relationship Type="http://schemas.openxmlformats.org/officeDocument/2006/relationships/slide" Target="/ppt/slides/slide10.xml" Id="Rb410fa563bc746b3" /><Relationship Type="http://schemas.openxmlformats.org/officeDocument/2006/relationships/slide" Target="/ppt/slides/slide11.xml" Id="R6d507b436d484eee" /><Relationship Type="http://schemas.openxmlformats.org/officeDocument/2006/relationships/slide" Target="/ppt/slides/slide12.xml" Id="R808b0a654cf746dc" /><Relationship Type="http://schemas.openxmlformats.org/officeDocument/2006/relationships/slide" Target="/ppt/slides/slide13.xml" Id="R4eeb53c695f649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ad358c669b45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0a341aa95b4a81" /><Relationship Type="http://schemas.openxmlformats.org/officeDocument/2006/relationships/notesMaster" Target="/ppt/notesMasters/notesMaster1.xml" Id="R8def14a989c747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1c7bcf2463432f" /><Relationship Type="http://schemas.openxmlformats.org/officeDocument/2006/relationships/notesMaster" Target="/ppt/notesMasters/notesMaster1.xml" Id="R45623a80bc054b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feed68286e49a9" /><Relationship Type="http://schemas.openxmlformats.org/officeDocument/2006/relationships/notesMaster" Target="/ppt/notesMasters/notesMaster1.xml" Id="R86b605116cd445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3be210c56c4ca4" /><Relationship Type="http://schemas.openxmlformats.org/officeDocument/2006/relationships/notesMaster" Target="/ppt/notesMasters/notesMaster1.xml" Id="R3c66850373bf4f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5c65e2fd05447e" /><Relationship Type="http://schemas.openxmlformats.org/officeDocument/2006/relationships/notesMaster" Target="/ppt/notesMasters/notesMaster1.xml" Id="R9bd61f8ea36849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1ee5bf2bcf4fbc" /><Relationship Type="http://schemas.openxmlformats.org/officeDocument/2006/relationships/notesMaster" Target="/ppt/notesMasters/notesMaster1.xml" Id="R1b54d12a64e24b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7405194125473f" /><Relationship Type="http://schemas.openxmlformats.org/officeDocument/2006/relationships/notesMaster" Target="/ppt/notesMasters/notesMaster1.xml" Id="R37319e25bcc04b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d6b473e1fc4df4" /><Relationship Type="http://schemas.openxmlformats.org/officeDocument/2006/relationships/notesMaster" Target="/ppt/notesMasters/notesMaster1.xml" Id="R3fa30353da804a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3aa6697384437e" /><Relationship Type="http://schemas.openxmlformats.org/officeDocument/2006/relationships/notesMaster" Target="/ppt/notesMasters/notesMaster1.xml" Id="R9ee241368bf24a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5ae0f861ca467d" /><Relationship Type="http://schemas.openxmlformats.org/officeDocument/2006/relationships/notesMaster" Target="/ppt/notesMasters/notesMaster1.xml" Id="Rfa3df160e3ed40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9cabfb69ab4a89" /><Relationship Type="http://schemas.openxmlformats.org/officeDocument/2006/relationships/notesMaster" Target="/ppt/notesMasters/notesMaster1.xml" Id="R89d16306f96742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91e0d54f944753" /><Relationship Type="http://schemas.openxmlformats.org/officeDocument/2006/relationships/notesMaster" Target="/ppt/notesMasters/notesMaster1.xml" Id="Rbd364bdda2ab48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1888828990e418f" /><Relationship Type="http://schemas.openxmlformats.org/officeDocument/2006/relationships/notesMaster" Target="/ppt/notesMasters/notesMaster1.xml" Id="Ra38dcea3f24546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Encoding NP-Complete Problems as Bullet-Hell Game Gimmicks</a:t>
            </a:r>
          </a:p>
          <a:p xmlns:a="http://schemas.openxmlformats.org/drawingml/2006/main">
            <a:r>
              <a:t/>
            </a:r>
          </a:p>
          <a:p xmlns:a="http://schemas.openxmlformats.org/drawingml/2006/main">
            <a:r>
              <a:t>Presenter script:</a:t>
            </a:r>
          </a:p>
          <a:p xmlns:a="http://schemas.openxmlformats.org/drawingml/2006/main">
            <a:r>
              <a:t>Today I will talk about a research project that connects computational complexity with game design. The basic idea is to take NP-complete problems, especially 3SAT and Hamilton Path, and express them as playable bullet-hell gimmicks in an I Wanna-style engine built with Siv3D. I already have provisional gimmicks for both problems, and the 3SAT gimmick has also been used in an actual stage context. The goal of this talk is to explain what has been built, why it is interesting as research, and what should be evaluated next.</a:t>
            </a:r>
          </a:p>
          <a:p xmlns:a="http://schemas.openxmlformats.org/drawingml/2006/main">
            <a:r>
              <a:t/>
            </a:r>
          </a:p>
          <a:p xmlns:a="http://schemas.openxmlformats.org/drawingml/2006/main">
            <a:r>
              <a:t>Japanese translation:</a:t>
            </a:r>
          </a:p>
          <a:p xmlns:a="http://schemas.openxmlformats.org/drawingml/2006/main">
            <a:r>
              <a:t>今日は、計算複雑性とゲームデザインをつなぐ研究について発表します。基本的なアイデアは、3SATやHamilton PathのようなNP完全問題を、Siv3D製のアイワナ風エンジン上でプレイ可能な弾幕ギミックとして表現することです。現時点で両方の仮ギミックは用意できており、3SATについては実際のステージでの使用例もあります。この発表では、何を作ったのか、なぜ研究として面白いのか、次に何を評価すべきかを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The research question is broader than difficulty</a:t>
            </a:r>
          </a:p>
          <a:p xmlns:a="http://schemas.openxmlformats.org/drawingml/2006/main">
            <a:r>
              <a:t/>
            </a:r>
          </a:p>
          <a:p xmlns:a="http://schemas.openxmlformats.org/drawingml/2006/main">
            <a:r>
              <a:t>Presenter script:</a:t>
            </a:r>
          </a:p>
          <a:p xmlns:a="http://schemas.openxmlformats.org/drawingml/2006/main">
            <a:r>
              <a:t>A common first impression is that this project is about making very difficult stages. But the research question is broader than that. I want to ask whether a formal problem instance can be transformed into a playable gimmick, whether clearability corresponds to the existence of a solution, and whether the player can experience search and constraint satisfaction through movement. In other words, the stage is not only hard; it is hard for a reason that comes from the original problem structure.</a:t>
            </a:r>
          </a:p>
          <a:p xmlns:a="http://schemas.openxmlformats.org/drawingml/2006/main">
            <a:r>
              <a:t/>
            </a:r>
          </a:p>
          <a:p xmlns:a="http://schemas.openxmlformats.org/drawingml/2006/main">
            <a:r>
              <a:t>Japanese translation:</a:t>
            </a:r>
          </a:p>
          <a:p xmlns:a="http://schemas.openxmlformats.org/drawingml/2006/main">
            <a:r>
              <a:t>この研究は、単に難しいステージを作ることだけが目的ではありません。研究の問いはもっと広く、形式的な問題インスタンスをプレイ可能なギミックに変換できるか、ステージのクリア可能性が解の存在と対応するか、そしてプレイヤーが移動を通して探索や制約充足を体験できるか、という点にあります。つまり、ステージが難しいだけでなく、その難しさが元の問題構造に由来していることが重要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Two completed prototypes give the research a concrete base</a:t>
            </a:r>
          </a:p>
          <a:p xmlns:a="http://schemas.openxmlformats.org/drawingml/2006/main">
            <a:r>
              <a:t/>
            </a:r>
          </a:p>
          <a:p xmlns:a="http://schemas.openxmlformats.org/drawingml/2006/main">
            <a:r>
              <a:t>Presenter script:</a:t>
            </a:r>
          </a:p>
          <a:p xmlns:a="http://schemas.openxmlformats.org/drawingml/2006/main">
            <a:r>
              <a:t>The current work has three important pieces of evidence. First, the 3SAT prototype maps variable choices and clause checks into a route-based gimmick. Second, the Hamilton Path prototype maps graph traversal into movement constraints. Third, the 3SAT mechanism is not only a small isolated demo; it has already been used in a practical stage context. This gives the research a concrete starting point for both theoretical discussion and playability evaluation.</a:t>
            </a:r>
          </a:p>
          <a:p xmlns:a="http://schemas.openxmlformats.org/drawingml/2006/main">
            <a:r>
              <a:t/>
            </a:r>
          </a:p>
          <a:p xmlns:a="http://schemas.openxmlformats.org/drawingml/2006/main">
            <a:r>
              <a:t>Japanese translation:</a:t>
            </a:r>
          </a:p>
          <a:p xmlns:a="http://schemas.openxmlformats.org/drawingml/2006/main">
            <a:r>
              <a:t>現状の成果には重要な要素が3つあります。1つ目は、3SATの仮ギミックで、変数選択と節の判定をルート選択型のギミックに対応させています。2つ目はHamilton Pathの仮ギミックで、グラフの走査を移動制約として表現しています。3つ目は、3SATの仕組みが単なる小さなデモではなく、実際のステージ文脈でも使われていることです。これにより、理論的な議論とプレイ性の評価の両方に進める具体的な土台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3SAT becomes a sequence of commitments and checks</a:t>
            </a:r>
          </a:p>
          <a:p xmlns:a="http://schemas.openxmlformats.org/drawingml/2006/main">
            <a:r>
              <a:t/>
            </a:r>
          </a:p>
          <a:p xmlns:a="http://schemas.openxmlformats.org/drawingml/2006/main">
            <a:r>
              <a:t>Presenter script:</a:t>
            </a:r>
          </a:p>
          <a:p xmlns:a="http://schemas.openxmlformats.org/drawingml/2006/main">
            <a:r>
              <a:t>For 3SAT, the player first makes commitments. For example, taking one route can mean assigning a variable to true, while another route can mean assigning it to false. After these choices, the stage tests clauses. A clause gate is passable if at least one of its literals is satisfied by the earlier choices. This makes the formula structure visible as a sequence of decisions followed by checks.</a:t>
            </a:r>
          </a:p>
          <a:p xmlns:a="http://schemas.openxmlformats.org/drawingml/2006/main">
            <a:r>
              <a:t/>
            </a:r>
          </a:p>
          <a:p xmlns:a="http://schemas.openxmlformats.org/drawingml/2006/main">
            <a:r>
              <a:t>Japanese translation:</a:t>
            </a:r>
          </a:p>
          <a:p xmlns:a="http://schemas.openxmlformats.org/drawingml/2006/main">
            <a:r>
              <a:t>3SATでは、プレイヤーはまず真偽値の選択を行います。たとえば、あるルートを通ることが変数をTrueにすることを意味し、別のルートを通ることがFalseにすることを意味します。その後、ステージ内で節の判定を行います。節ゲートは、先ほどの選択によって少なくとも1つのリテラルが満たされていれば通過可能になります。このように、論理式の構造を「選択」と「判定」の連続として見える形に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A 3SAT stage can preserve the logical meaning of the formula</a:t>
            </a:r>
          </a:p>
          <a:p xmlns:a="http://schemas.openxmlformats.org/drawingml/2006/main">
            <a:r>
              <a:t/>
            </a:r>
          </a:p>
          <a:p xmlns:a="http://schemas.openxmlformats.org/drawingml/2006/main">
            <a:r>
              <a:t>Presenter script:</a:t>
            </a:r>
          </a:p>
          <a:p xmlns:a="http://schemas.openxmlformats.org/drawingml/2006/main">
            <a:r>
              <a:t>The key point is correspondence. Variables, literals, clauses, and satisfying assignments each have a game-side meaning. If the mapping is designed correctly, a satisfying assignment should correspond to a complete clear route. This is what makes the stage a research object rather than only a themed level. The question becomes whether the game construction preserves the logic of the original formula.</a:t>
            </a:r>
          </a:p>
          <a:p xmlns:a="http://schemas.openxmlformats.org/drawingml/2006/main">
            <a:r>
              <a:t/>
            </a:r>
          </a:p>
          <a:p xmlns:a="http://schemas.openxmlformats.org/drawingml/2006/main">
            <a:r>
              <a:t>Japanese translation:</a:t>
            </a:r>
          </a:p>
          <a:p xmlns:a="http://schemas.openxmlformats.org/drawingml/2006/main">
            <a:r>
              <a:t>ここで重要なのは対応関係です。変数、リテラル、節、充足割当のそれぞれにゲーム上の意味があります。対応が正しく設計されていれば、充足割当は完全なクリアルートに対応するはずです。これにより、ステージは単なるテーマ付きのステージではなく、研究対象になります。問題は、ゲーム内の構成が元の論理式の意味を保っているかどうか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The existing 3SAT use case turns the prototype into evidence</a:t>
            </a:r>
          </a:p>
          <a:p xmlns:a="http://schemas.openxmlformats.org/drawingml/2006/main">
            <a:r>
              <a:t/>
            </a:r>
          </a:p>
          <a:p xmlns:a="http://schemas.openxmlformats.org/drawingml/2006/main">
            <a:r>
              <a:t>Presenter script:</a:t>
            </a:r>
          </a:p>
          <a:p xmlns:a="http://schemas.openxmlformats.org/drawingml/2006/main">
            <a:r>
              <a:t>The practical 3SAT use case is especially important because it lets us discuss playability. A prototype can show that a construction is possible, but an actual stage can show whether players can read it, whether the timing and hazards still work, and whether the mechanism feels strategic rather than arbitrary. For the next research step, I want to measure how players infer the rule, where they fail, and whether their retries resemble problem-solving behavior.</a:t>
            </a:r>
          </a:p>
          <a:p xmlns:a="http://schemas.openxmlformats.org/drawingml/2006/main">
            <a:r>
              <a:t/>
            </a:r>
          </a:p>
          <a:p xmlns:a="http://schemas.openxmlformats.org/drawingml/2006/main">
            <a:r>
              <a:t>Japanese translation:</a:t>
            </a:r>
          </a:p>
          <a:p xmlns:a="http://schemas.openxmlformats.org/drawingml/2006/main">
            <a:r>
              <a:t>3SATの実戦使用例は、プレイ性を議論できる点で特に重要です。プロトタイプは構成が可能であることを示せますが、実際のステージでは、プレイヤーが仕組みを読み取れるか、タイミングや弾幕として成立するか、そして理不尽ではなく戦略的に感じられるかを確認できます。次の研究段階では、プレイヤーがルールをどう推測するか、どこで失敗するか、リトライが問題解決行動に近いかを測りたい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Hamilton Path maps graph traversal to route planning</a:t>
            </a:r>
          </a:p>
          <a:p xmlns:a="http://schemas.openxmlformats.org/drawingml/2006/main">
            <a:r>
              <a:t/>
            </a:r>
          </a:p>
          <a:p xmlns:a="http://schemas.openxmlformats.org/drawingml/2006/main">
            <a:r>
              <a:t>Presenter script:</a:t>
            </a:r>
          </a:p>
          <a:p xmlns:a="http://schemas.openxmlformats.org/drawingml/2006/main">
            <a:r>
              <a:t>Hamilton Path gives a different kind of structure. Instead of assigning truth values, the player chooses a path through vertices. The rule is that every vertex must be visited exactly once, and movement should follow only valid edges. In game terms, the player is planning a route through rooms, nodes, or sections while avoiding illegal transitions and repeated visits.</a:t>
            </a:r>
          </a:p>
          <a:p xmlns:a="http://schemas.openxmlformats.org/drawingml/2006/main">
            <a:r>
              <a:t/>
            </a:r>
          </a:p>
          <a:p xmlns:a="http://schemas.openxmlformats.org/drawingml/2006/main">
            <a:r>
              <a:t>Japanese translation:</a:t>
            </a:r>
          </a:p>
          <a:p xmlns:a="http://schemas.openxmlformats.org/drawingml/2006/main">
            <a:r>
              <a:t>Hamilton Pathは3SATとは異なる構造を持っています。真偽値を割り当てるのではなく、プレイヤーは頂点を通る経路を選びます。ルールは、すべての頂点をちょうど一度ずつ訪れ、存在する辺に沿ってのみ移動することです。ゲーム上では、プレイヤーが部屋やノード、区間を通るルートを計画し、不正な移動や再訪問を避ける形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The Hamilton Path gimmick has two core enforcement problems</a:t>
            </a:r>
          </a:p>
          <a:p xmlns:a="http://schemas.openxmlformats.org/drawingml/2006/main">
            <a:r>
              <a:t/>
            </a:r>
          </a:p>
          <a:p xmlns:a="http://schemas.openxmlformats.org/drawingml/2006/main">
            <a:r>
              <a:t>Presenter script:</a:t>
            </a:r>
          </a:p>
          <a:p xmlns:a="http://schemas.openxmlformats.org/drawingml/2006/main">
            <a:r>
              <a:t>For Hamilton Path, two enforcement problems are central. First, the stage must represent edge validity. If two vertices are not connected in the graph, the player should not be able to move between them safely. Second, the stage must represent visit uniqueness. Once a vertex has been used, returning to it should be blocked or punished. These two constraints are what make the game route correspond to a Hamilton path.</a:t>
            </a:r>
          </a:p>
          <a:p xmlns:a="http://schemas.openxmlformats.org/drawingml/2006/main">
            <a:r>
              <a:t/>
            </a:r>
          </a:p>
          <a:p xmlns:a="http://schemas.openxmlformats.org/drawingml/2006/main">
            <a:r>
              <a:t>Japanese translation:</a:t>
            </a:r>
          </a:p>
          <a:p xmlns:a="http://schemas.openxmlformats.org/drawingml/2006/main">
            <a:r>
              <a:t>Hamilton Pathでは、中心となる強制条件が2つあります。1つ目は辺の有効性です。グラフ上でつながっていない2つの頂点間は、安全に移動できないようにする必要があります。2つ目は訪問の一意性です。一度使った頂点に戻ることは、ブロックされるか失敗につながるべきです。この2つの制約によって、ゲーム内のルートがHamilton Pathに対応します。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Both gimmicks express search through player movement</a:t>
            </a:r>
          </a:p>
          <a:p xmlns:a="http://schemas.openxmlformats.org/drawingml/2006/main">
            <a:r>
              <a:t/>
            </a:r>
          </a:p>
          <a:p xmlns:a="http://schemas.openxmlformats.org/drawingml/2006/main">
            <a:r>
              <a:t>Presenter script:</a:t>
            </a:r>
          </a:p>
          <a:p xmlns:a="http://schemas.openxmlformats.org/drawingml/2006/main">
            <a:r>
              <a:t>Comparing the two gimmicks is useful because they express different problems through the same medium: player movement. In 3SAT, the choice unit is a truth assignment; in Hamilton Path, it is the next vertex. In 3SAT, failure comes from an unsatisfied clause; in Hamilton Path, failure comes from a missing edge or repeated vertex. This comparison can help clarify what kinds of computational structures are natural for an action game.</a:t>
            </a:r>
          </a:p>
          <a:p xmlns:a="http://schemas.openxmlformats.org/drawingml/2006/main">
            <a:r>
              <a:t/>
            </a:r>
          </a:p>
          <a:p xmlns:a="http://schemas.openxmlformats.org/drawingml/2006/main">
            <a:r>
              <a:t>Japanese translation:</a:t>
            </a:r>
          </a:p>
          <a:p xmlns:a="http://schemas.openxmlformats.org/drawingml/2006/main">
            <a:r>
              <a:t>2つのギミックを比較することは有用です。どちらも異なる問題を、プレイヤーの移動という同じ媒体で表現しているからです。3SATでは選択単位が真偽値割当であり、Hamilton Pathでは次に訪れる頂点です。3SATでは未充足の節が失敗につながり、Hamilton Pathでは存在しない辺や頂点の再訪問が失敗につながります。この比較によって、どのような計算構造がアクションゲームに自然に向いているかを考えられます。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The research contribution can be framed at three levels</a:t>
            </a:r>
          </a:p>
          <a:p xmlns:a="http://schemas.openxmlformats.org/drawingml/2006/main">
            <a:r>
              <a:t/>
            </a:r>
          </a:p>
          <a:p xmlns:a="http://schemas.openxmlformats.org/drawingml/2006/main">
            <a:r>
              <a:t>Presenter script:</a:t>
            </a:r>
          </a:p>
          <a:p xmlns:a="http://schemas.openxmlformats.org/drawingml/2006/main">
            <a:r>
              <a:t>I think the contribution can be framed at three levels. At the computational level, the project studies whether clearability can correspond to a formal solution. At the educational level, it makes abstract NP-complete problems visible and playable. At the design level, it suggests that problem instances could become a source of systematic stage design or even stage generation.</a:t>
            </a:r>
          </a:p>
          <a:p xmlns:a="http://schemas.openxmlformats.org/drawingml/2006/main">
            <a:r>
              <a:t/>
            </a:r>
          </a:p>
          <a:p xmlns:a="http://schemas.openxmlformats.org/drawingml/2006/main">
            <a:r>
              <a:t>Japanese translation:</a:t>
            </a:r>
          </a:p>
          <a:p xmlns:a="http://schemas.openxmlformats.org/drawingml/2006/main">
            <a:r>
              <a:t>この研究の貢献は3つのレベルで説明できます。計算理論のレベルでは、クリア可能性が形式的な解と対応するかを調べます。教育的なレベルでは、抽象的なNP完全問題を見える形、プレイできる形にします。ゲームデザインのレベルでは、問題インスタンスを体系的なステージ設計、あるいは自動生成の素材として使える可能性を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Evaluation should separate correctness from playability</a:t>
            </a:r>
          </a:p>
          <a:p xmlns:a="http://schemas.openxmlformats.org/drawingml/2006/main">
            <a:r>
              <a:t/>
            </a:r>
          </a:p>
          <a:p xmlns:a="http://schemas.openxmlformats.org/drawingml/2006/main">
            <a:r>
              <a:t>Presenter script:</a:t>
            </a:r>
          </a:p>
          <a:p xmlns:a="http://schemas.openxmlformats.org/drawingml/2006/main">
            <a:r>
              <a:t>For evaluation, I want to separate correctness from playability. Correctness asks whether the construction really preserves the problem: a solution exists if and only if the stage can be cleared. Playability asks whether players can understand and enjoy the result. Both matter. A stage can be formally correct but unreadable, or fun but not faithful to the original problem. The research should evaluate both sides explicitly.</a:t>
            </a:r>
          </a:p>
          <a:p xmlns:a="http://schemas.openxmlformats.org/drawingml/2006/main">
            <a:r>
              <a:t/>
            </a:r>
          </a:p>
          <a:p xmlns:a="http://schemas.openxmlformats.org/drawingml/2006/main">
            <a:r>
              <a:t>Japanese translation:</a:t>
            </a:r>
          </a:p>
          <a:p xmlns:a="http://schemas.openxmlformats.org/drawingml/2006/main">
            <a:r>
              <a:t>評価では、正しさとプレイ性を分けて考えたいです。正しさとは、その構成が本当に元の問題を保っているか、つまり解が存在する場合に限りステージがクリア可能かということです。プレイ性とは、プレイヤーが理解し、楽しめるかということです。どちらも重要です。形式的には正しいが読みにくいステージもあり得ますし、楽しいけれど元の問題に忠実でないステージもあり得ます。そのため、両方を明示的に評価する必要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Next: turn examples into a repeatable method</a:t>
            </a:r>
          </a:p>
          <a:p xmlns:a="http://schemas.openxmlformats.org/drawingml/2006/main">
            <a:r>
              <a:t/>
            </a:r>
          </a:p>
          <a:p xmlns:a="http://schemas.openxmlformats.org/drawingml/2006/main">
            <a:r>
              <a:t>Presenter script:</a:t>
            </a:r>
          </a:p>
          <a:p xmlns:a="http://schemas.openxmlformats.org/drawingml/2006/main">
            <a:r>
              <a:t>The next step is to move from individual examples to a repeatable method. First, I want to formalize the mapping from problem instances to stage components. Then I want to generate candidate stages from formulas or graphs, validate whether the correspondence holds, and finally test whether players can understand and enjoy the resulting challenges. This would turn the current prototypes into a more systematic research project.</a:t>
            </a:r>
          </a:p>
          <a:p xmlns:a="http://schemas.openxmlformats.org/drawingml/2006/main">
            <a:r>
              <a:t/>
            </a:r>
          </a:p>
          <a:p xmlns:a="http://schemas.openxmlformats.org/drawingml/2006/main">
            <a:r>
              <a:t>Japanese translation:</a:t>
            </a:r>
          </a:p>
          <a:p xmlns:a="http://schemas.openxmlformats.org/drawingml/2006/main">
            <a:r>
              <a:t>次の段階では、個別の例から再現可能な方法へ進めたいです。まず、問題インスタンスからステージ部品への対応を形式化します。次に、論理式やグラフから候補ステージを生成し、その対応が成り立つかを検証します。最後に、プレイヤーがそのチャレンジを理解し、楽しめるかを調べます。これにより、現在のプロトタイプをより体系的な研究へ発展させ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Discussion</a:t>
            </a:r>
          </a:p>
          <a:p xmlns:a="http://schemas.openxmlformats.org/drawingml/2006/main">
            <a:r>
              <a:t/>
            </a:r>
          </a:p>
          <a:p xmlns:a="http://schemas.openxmlformats.org/drawingml/2006/main">
            <a:r>
              <a:t>Presenter script:</a:t>
            </a:r>
          </a:p>
          <a:p xmlns:a="http://schemas.openxmlformats.org/drawingml/2006/main">
            <a:r>
              <a:t>To close, the main takeaway is that these prototypes suggest a way to treat NP-complete problems as playable constraint systems, not only as metaphors for difficulty. I would like to discuss how much formal proof is needed, how impossible instances should be presented to players, and where the boundary lies between mathematical structure and game-design fun.</a:t>
            </a:r>
          </a:p>
          <a:p xmlns:a="http://schemas.openxmlformats.org/drawingml/2006/main">
            <a:r>
              <a:t/>
            </a:r>
          </a:p>
          <a:p xmlns:a="http://schemas.openxmlformats.org/drawingml/2006/main">
            <a:r>
              <a:t>Japanese translation:</a:t>
            </a:r>
          </a:p>
          <a:p xmlns:a="http://schemas.openxmlformats.org/drawingml/2006/main">
            <a:r>
              <a:t>最後に、この研究の要点は、NP完全問題を単なる難しさの比喩ではなく、プレイ可能な制約システムとして扱える可能性を示していることです。議論したい点として、どの程度の形式的証明が必要か、解のないインスタンスをプレイヤーにどう提示すべきか、数学的構造とゲームとしての面白さの境界はどこにあるのか、という問題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d94860043444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62d96c19ab4fd8" /><Relationship Type="http://schemas.openxmlformats.org/officeDocument/2006/relationships/slideLayout" Target="/ppt/slideLayouts/slideLayout1.xml" Id="R47ccd4cc065d44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ccd4cc065d44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e1062b95f94a13" /><Relationship Type="http://schemas.openxmlformats.org/officeDocument/2006/relationships/notesSlide" Target="/ppt/notesSlides/notesSlide1.xml" Id="R5994aecf0b0240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a47dc386fc4edf" /><Relationship Type="http://schemas.openxmlformats.org/officeDocument/2006/relationships/notesSlide" Target="/ppt/notesSlides/notesSlide2.xml" Id="Rd7f3411cb71445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e21a3cbeeb4b68" /><Relationship Type="http://schemas.openxmlformats.org/officeDocument/2006/relationships/notesSlide" Target="/ppt/notesSlides/notesSlide3.xml" Id="Rd598bc155dea4d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44ffae2b8b4dbd" /><Relationship Type="http://schemas.openxmlformats.org/officeDocument/2006/relationships/notesSlide" Target="/ppt/notesSlides/notesSlide4.xml" Id="R25aa98eb24f34b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c7ac982b2245c9" /><Relationship Type="http://schemas.openxmlformats.org/officeDocument/2006/relationships/notesSlide" Target="/ppt/notesSlides/notesSlide5.xml" Id="Re5e1c8b246244b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0f73ad91404121" /><Relationship Type="http://schemas.openxmlformats.org/officeDocument/2006/relationships/notesSlide" Target="/ppt/notesSlides/notesSlide6.xml" Id="Re17346b35a8047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a5984e50c74657" /><Relationship Type="http://schemas.openxmlformats.org/officeDocument/2006/relationships/notesSlide" Target="/ppt/notesSlides/notesSlide7.xml" Id="Rc5fd61bdb55d45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c899192a9d4b47" /><Relationship Type="http://schemas.openxmlformats.org/officeDocument/2006/relationships/notesSlide" Target="/ppt/notesSlides/notesSlide8.xml" Id="R9476e8ae72b149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0d54b165d143e5" /><Relationship Type="http://schemas.openxmlformats.org/officeDocument/2006/relationships/notesSlide" Target="/ppt/notesSlides/notesSlide9.xml" Id="R7c21b76fdb0847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2d7dc1231e4b48" /><Relationship Type="http://schemas.openxmlformats.org/officeDocument/2006/relationships/notesSlide" Target="/ppt/notesSlides/notesSlide10.xml" Id="Rc774b1851be745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71c4344122a4163" /><Relationship Type="http://schemas.openxmlformats.org/officeDocument/2006/relationships/notesSlide" Target="/ppt/notesSlides/notesSlide11.xml" Id="R68bc69c4ca9b44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2abd7f755db4bc0" /><Relationship Type="http://schemas.openxmlformats.org/officeDocument/2006/relationships/notesSlide" Target="/ppt/notesSlides/notesSlide12.xml" Id="R1fb0781192db4a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f196ad45fb946a1" /><Relationship Type="http://schemas.openxmlformats.org/officeDocument/2006/relationships/notesSlide" Target="/ppt/notesSlides/notesSlide13.xml" Id="R17c44f27a0644d5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1BF294F-2A66-4B53-8769-053D3D5D4F9A}"/>
              </a:ext>
            </a:extLst>
          </p:cNvPr>
          <p:cNvSpPr>
            <a:spLocks xmlns:a="http://schemas.openxmlformats.org/drawingml/2006/main" noGrp="1"/>
          </p:cNvSpPr>
          <p:nvPr/>
        </p:nvSpPr>
        <p:spPr>
          <a:xfrm xmlns:a="http://schemas.openxmlformats.org/drawingml/2006/main">
            <a:off x="609600" y="876300"/>
            <a:ext cx="9144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125" b="1">
                <a:solidFill>
                  <a:srgbClr val="111111"/>
                </a:solidFill>
              </a:defRPr>
            </a:pPr>
            <a:r>
              <a:rPr sz="4125" b="1">
                <a:solidFill>
                  <a:srgbClr val="111111"/>
                </a:solidFill>
              </a:rPr>
              <a:t>Encoding NP-Complete Problems as Bullet-Hell Game Gimmicks</a:t>
            </a:r>
          </a:p>
        </p:txBody>
      </p:sp>
      <p:sp>
        <p:nvSpPr>
          <p:cNvPr id="2" name="">
            <a:extLst xmlns:a="http://schemas.openxmlformats.org/drawingml/2006/main">
              <a:ext uri="{FF2B5EF4-FFF2-40B4-BE49-F238E27FC236}">
                <a16:creationId xmlns:a16="http://schemas.microsoft.com/office/drawing/2014/main" id="{195C5246-7B3D-44AE-99B3-6172DFAF55AC}"/>
              </a:ext>
            </a:extLst>
          </p:cNvPr>
          <p:cNvSpPr>
            <a:spLocks xmlns:a="http://schemas.openxmlformats.org/drawingml/2006/main" noGrp="1"/>
          </p:cNvSpPr>
          <p:nvPr/>
        </p:nvSpPr>
        <p:spPr>
          <a:xfrm xmlns:a="http://schemas.openxmlformats.org/drawingml/2006/main">
            <a:off x="647700" y="2819400"/>
            <a:ext cx="781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a:solidFill>
                  <a:srgbClr val="555A61"/>
                </a:solidFill>
              </a:defRPr>
            </a:pPr>
            <a:r>
              <a:rPr sz="1800" b="0">
                <a:solidFill>
                  <a:srgbClr val="555A61"/>
                </a:solidFill>
              </a:rPr>
              <a:t>A research presentation using an I Wanna-style engine built with Siv3D</a:t>
            </a:r>
          </a:p>
        </p:txBody>
      </p:sp>
      <p:sp>
        <p:nvSpPr>
          <p:cNvPr id="3" name="">
            <a:extLst xmlns:a="http://schemas.openxmlformats.org/drawingml/2006/main">
              <a:ext uri="{FF2B5EF4-FFF2-40B4-BE49-F238E27FC236}">
                <a16:creationId xmlns:a16="http://schemas.microsoft.com/office/drawing/2014/main" id="{E56E52BD-8AE9-48C3-975A-037673B46D22}"/>
              </a:ext>
            </a:extLst>
          </p:cNvPr>
          <p:cNvSpPr>
            <a:spLocks xmlns:a="http://schemas.openxmlformats.org/drawingml/2006/main" noGrp="1"/>
          </p:cNvSpPr>
          <p:nvPr/>
        </p:nvSpPr>
        <p:spPr>
          <a:xfrm xmlns:a="http://schemas.openxmlformats.org/drawingml/2006/main">
            <a:off x="8667750" y="952500"/>
            <a:ext cx="2476500" cy="4000500"/>
          </a:xfrm>
          <a:prstGeom xmlns:a="http://schemas.openxmlformats.org/drawingml/2006/main" prst="rect">
            <a:avLst/>
          </a:prstGeom>
          <a:solidFill xmlns:a="http://schemas.openxmlformats.org/drawingml/2006/main">
            <a:srgbClr val="F2F7FB"/>
          </a:solidFill>
          <a:ln xmlns:a="http://schemas.openxmlformats.org/drawingml/2006/main" w="9525">
            <a:solidFill>
              <a:srgbClr val="D4D7DC"/>
            </a:solidFill>
            <a:prstDash val="solid"/>
          </a:ln>
        </p:spPr>
      </p:sp>
      <p:sp>
        <p:nvSpPr>
          <p:cNvPr id="4" name="">
            <a:extLst xmlns:a="http://schemas.openxmlformats.org/drawingml/2006/main">
              <a:ext uri="{FF2B5EF4-FFF2-40B4-BE49-F238E27FC236}">
                <a16:creationId xmlns:a16="http://schemas.microsoft.com/office/drawing/2014/main" id="{575F18E2-EE39-49AE-A240-8B646304D89C}"/>
              </a:ext>
            </a:extLst>
          </p:cNvPr>
          <p:cNvSpPr>
            <a:spLocks xmlns:a="http://schemas.openxmlformats.org/drawingml/2006/main" noGrp="1"/>
          </p:cNvSpPr>
          <p:nvPr/>
        </p:nvSpPr>
        <p:spPr>
          <a:xfrm xmlns:a="http://schemas.openxmlformats.org/drawingml/2006/main">
            <a:off x="9048750" y="14478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3D8DFF"/>
                </a:solidFill>
              </a:defRPr>
            </a:pPr>
            <a:r>
              <a:rPr sz="3150" b="1">
                <a:solidFill>
                  <a:srgbClr val="3D8DFF"/>
                </a:solidFill>
              </a:rPr>
              <a:t>3SAT</a:t>
            </a:r>
          </a:p>
        </p:txBody>
      </p:sp>
      <p:sp>
        <p:nvSpPr>
          <p:cNvPr id="5" name="">
            <a:extLst xmlns:a="http://schemas.openxmlformats.org/drawingml/2006/main">
              <a:ext uri="{FF2B5EF4-FFF2-40B4-BE49-F238E27FC236}">
                <a16:creationId xmlns:a16="http://schemas.microsoft.com/office/drawing/2014/main" id="{2486E51B-69A3-47DC-BBCB-B659239E4C7F}"/>
              </a:ext>
            </a:extLst>
          </p:cNvPr>
          <p:cNvSpPr>
            <a:spLocks xmlns:a="http://schemas.openxmlformats.org/drawingml/2006/main" noGrp="1"/>
          </p:cNvSpPr>
          <p:nvPr/>
        </p:nvSpPr>
        <p:spPr>
          <a:xfrm xmlns:a="http://schemas.openxmlformats.org/drawingml/2006/main">
            <a:off x="9658350" y="232410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111111"/>
                </a:solidFill>
              </a:defRPr>
            </a:pPr>
            <a:r>
              <a:rPr sz="3150" b="1">
                <a:solidFill>
                  <a:srgbClr val="111111"/>
                </a:solidFill>
              </a:rPr>
              <a:t>+</a:t>
            </a:r>
          </a:p>
        </p:txBody>
      </p:sp>
      <p:sp>
        <p:nvSpPr>
          <p:cNvPr id="6" name="">
            <a:extLst xmlns:a="http://schemas.openxmlformats.org/drawingml/2006/main">
              <a:ext uri="{FF2B5EF4-FFF2-40B4-BE49-F238E27FC236}">
                <a16:creationId xmlns:a16="http://schemas.microsoft.com/office/drawing/2014/main" id="{C13EE6AE-F45B-4C94-BDF1-8394D3522F81}"/>
              </a:ext>
            </a:extLst>
          </p:cNvPr>
          <p:cNvSpPr>
            <a:spLocks xmlns:a="http://schemas.openxmlformats.org/drawingml/2006/main" noGrp="1"/>
          </p:cNvSpPr>
          <p:nvPr/>
        </p:nvSpPr>
        <p:spPr>
          <a:xfrm xmlns:a="http://schemas.openxmlformats.org/drawingml/2006/main">
            <a:off x="9048750" y="3105150"/>
            <a:ext cx="180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34A853"/>
                </a:solidFill>
              </a:defRPr>
            </a:pPr>
            <a:r>
              <a:rPr sz="2850" b="1">
                <a:solidFill>
                  <a:srgbClr val="34A853"/>
                </a:solidFill>
              </a:rPr>
              <a:t>Hamilton</a:t>
            </a:r>
          </a:p>
          <a:p xmlns:a="http://schemas.openxmlformats.org/drawingml/2006/main">
            <a:pPr algn="l">
              <a:buNone/>
              <a:defRPr sz="2850" b="1">
                <a:solidFill>
                  <a:srgbClr val="34A853"/>
                </a:solidFill>
              </a:defRPr>
            </a:pPr>
            <a:r>
              <a:rPr sz="2850" b="1">
                <a:solidFill>
                  <a:srgbClr val="34A853"/>
                </a:solidFill>
              </a:rPr>
              <a:t>Path</a:t>
            </a:r>
          </a:p>
        </p:txBody>
      </p:sp>
      <p:sp>
        <p:nvSpPr>
          <p:cNvPr id="7" name="">
            <a:extLst xmlns:a="http://schemas.openxmlformats.org/drawingml/2006/main">
              <a:ext uri="{FF2B5EF4-FFF2-40B4-BE49-F238E27FC236}">
                <a16:creationId xmlns:a16="http://schemas.microsoft.com/office/drawing/2014/main" id="{1D03B4EC-9DB8-40C8-8E0E-0C70835E1B8B}"/>
              </a:ext>
            </a:extLst>
          </p:cNvPr>
          <p:cNvSpPr>
            <a:spLocks xmlns:a="http://schemas.openxmlformats.org/drawingml/2006/main" noGrp="1"/>
          </p:cNvSpPr>
          <p:nvPr/>
        </p:nvSpPr>
        <p:spPr>
          <a:xfrm xmlns:a="http://schemas.openxmlformats.org/drawingml/2006/main">
            <a:off x="647700" y="55721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20-minute talk / 10-minute Q&amp;A</a:t>
            </a:r>
          </a:p>
        </p:txBody>
      </p:sp>
      <p:sp>
        <p:nvSpPr>
          <p:cNvPr id="8" name="">
            <a:extLst xmlns:a="http://schemas.openxmlformats.org/drawingml/2006/main">
              <a:ext uri="{FF2B5EF4-FFF2-40B4-BE49-F238E27FC236}">
                <a16:creationId xmlns:a16="http://schemas.microsoft.com/office/drawing/2014/main" id="{C50D7214-8B4D-43E9-9AA6-0FA9B2FE871B}"/>
              </a:ext>
            </a:extLst>
          </p:cNvPr>
          <p:cNvSpPr>
            <a:spLocks xmlns:a="http://schemas.openxmlformats.org/drawingml/2006/main" noGrp="1"/>
          </p:cNvSpPr>
          <p:nvPr/>
        </p:nvSpPr>
        <p:spPr>
          <a:xfrm xmlns:a="http://schemas.openxmlformats.org/drawingml/2006/main">
            <a:off x="11296650" y="621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01</a:t>
            </a:r>
          </a:p>
        </p:txBody>
      </p:sp>
    </p:spTree>
    <p:extLst>
      <p:ext uri="{BB962C8B-B14F-4D97-AF65-F5344CB8AC3E}">
        <p14:creationId xmlns:p14="http://schemas.microsoft.com/office/powerpoint/2010/main" val="10265729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29DAB5-38A0-4E75-9711-3D461E6BB6BA}"/>
              </a:ext>
            </a:extLst>
          </p:cNvPr>
          <p:cNvSpPr>
            <a:spLocks xmlns:a="http://schemas.openxmlformats.org/drawingml/2006/main" noGrp="1"/>
          </p:cNvSpPr>
          <p:nvPr/>
        </p:nvSpPr>
        <p:spPr>
          <a:xfrm xmlns:a="http://schemas.openxmlformats.org/drawingml/2006/main">
            <a:off x="609600" y="400050"/>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The research question is broader than difficulty</a:t>
            </a:r>
          </a:p>
        </p:txBody>
      </p:sp>
      <p:sp>
        <p:nvSpPr>
          <p:cNvPr id="2" name="">
            <a:extLst xmlns:a="http://schemas.openxmlformats.org/drawingml/2006/main">
              <a:ext uri="{FF2B5EF4-FFF2-40B4-BE49-F238E27FC236}">
                <a16:creationId xmlns:a16="http://schemas.microsoft.com/office/drawing/2014/main" id="{03724F43-FE55-4065-85B3-BE42C5BE4CD4}"/>
              </a:ext>
            </a:extLst>
          </p:cNvPr>
          <p:cNvSpPr>
            <a:spLocks xmlns:a="http://schemas.openxmlformats.org/drawingml/2006/main" noGrp="1"/>
          </p:cNvSpPr>
          <p:nvPr/>
        </p:nvSpPr>
        <p:spPr>
          <a:xfrm xmlns:a="http://schemas.openxmlformats.org/drawingml/2006/main">
            <a:off x="628650" y="142875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The goal is to connect formal problem structure with playable level structure.</a:t>
            </a:r>
          </a:p>
        </p:txBody>
      </p:sp>
      <p:sp>
        <p:nvSpPr>
          <p:cNvPr id="3" name="">
            <a:extLst xmlns:a="http://schemas.openxmlformats.org/drawingml/2006/main">
              <a:ext uri="{FF2B5EF4-FFF2-40B4-BE49-F238E27FC236}">
                <a16:creationId xmlns:a16="http://schemas.microsoft.com/office/drawing/2014/main" id="{4F130374-117A-4F02-A789-D0495AA629B2}"/>
              </a:ext>
            </a:extLst>
          </p:cNvPr>
          <p:cNvSpPr>
            <a:spLocks xmlns:a="http://schemas.openxmlformats.org/drawingml/2006/main" noGrp="1"/>
          </p:cNvSpPr>
          <p:nvPr/>
        </p:nvSpPr>
        <p:spPr>
          <a:xfrm xmlns:a="http://schemas.openxmlformats.org/drawingml/2006/main">
            <a:off x="11296650" y="621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02</a:t>
            </a:r>
          </a:p>
        </p:txBody>
      </p:sp>
      <p:sp>
        <p:nvSpPr>
          <p:cNvPr id="4" name="">
            <a:extLst xmlns:a="http://schemas.openxmlformats.org/drawingml/2006/main">
              <a:ext uri="{FF2B5EF4-FFF2-40B4-BE49-F238E27FC236}">
                <a16:creationId xmlns:a16="http://schemas.microsoft.com/office/drawing/2014/main" id="{FC0F97B4-160F-4618-98A9-C63ECA4555E0}"/>
              </a:ext>
            </a:extLst>
          </p:cNvPr>
          <p:cNvSpPr>
            <a:spLocks xmlns:a="http://schemas.openxmlformats.org/drawingml/2006/main" noGrp="1"/>
          </p:cNvSpPr>
          <p:nvPr/>
        </p:nvSpPr>
        <p:spPr>
          <a:xfrm xmlns:a="http://schemas.openxmlformats.org/drawingml/2006/main">
            <a:off x="876300" y="21336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5" name="">
            <a:extLst xmlns:a="http://schemas.openxmlformats.org/drawingml/2006/main">
              <a:ext uri="{FF2B5EF4-FFF2-40B4-BE49-F238E27FC236}">
                <a16:creationId xmlns:a16="http://schemas.microsoft.com/office/drawing/2014/main" id="{DC8FBF3B-4DD0-4E82-A61A-DF285F0AFBC7}"/>
              </a:ext>
            </a:extLst>
          </p:cNvPr>
          <p:cNvSpPr>
            <a:spLocks xmlns:a="http://schemas.openxmlformats.org/drawingml/2006/main" noGrp="1"/>
          </p:cNvSpPr>
          <p:nvPr/>
        </p:nvSpPr>
        <p:spPr>
          <a:xfrm xmlns:a="http://schemas.openxmlformats.org/drawingml/2006/main">
            <a:off x="1104900" y="2038350"/>
            <a:ext cx="9677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a:solidFill>
                  <a:srgbClr val="111111"/>
                </a:solidFill>
              </a:defRPr>
            </a:pPr>
            <a:r>
              <a:rPr sz="1800" b="0">
                <a:solidFill>
                  <a:srgbClr val="111111"/>
                </a:solidFill>
              </a:rPr>
              <a:t>Can a Boolean formula or graph instance be transformed into a playable gimmick?</a:t>
            </a:r>
          </a:p>
        </p:txBody>
      </p:sp>
      <p:sp>
        <p:nvSpPr>
          <p:cNvPr id="6" name="">
            <a:extLst xmlns:a="http://schemas.openxmlformats.org/drawingml/2006/main">
              <a:ext uri="{FF2B5EF4-FFF2-40B4-BE49-F238E27FC236}">
                <a16:creationId xmlns:a16="http://schemas.microsoft.com/office/drawing/2014/main" id="{13201E6B-CDC4-4B54-AC37-ECB3ED113FBD}"/>
              </a:ext>
            </a:extLst>
          </p:cNvPr>
          <p:cNvSpPr>
            <a:spLocks xmlns:a="http://schemas.openxmlformats.org/drawingml/2006/main" noGrp="1"/>
          </p:cNvSpPr>
          <p:nvPr/>
        </p:nvSpPr>
        <p:spPr>
          <a:xfrm xmlns:a="http://schemas.openxmlformats.org/drawingml/2006/main">
            <a:off x="876300" y="27622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1B203338-3674-48A0-9203-016BC5A77C06}"/>
              </a:ext>
            </a:extLst>
          </p:cNvPr>
          <p:cNvSpPr>
            <a:spLocks xmlns:a="http://schemas.openxmlformats.org/drawingml/2006/main" noGrp="1"/>
          </p:cNvSpPr>
          <p:nvPr/>
        </p:nvSpPr>
        <p:spPr>
          <a:xfrm xmlns:a="http://schemas.openxmlformats.org/drawingml/2006/main">
            <a:off x="1104900" y="2667000"/>
            <a:ext cx="9677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a:solidFill>
                  <a:srgbClr val="111111"/>
                </a:solidFill>
              </a:defRPr>
            </a:pPr>
            <a:r>
              <a:rPr sz="1800" b="0">
                <a:solidFill>
                  <a:srgbClr val="111111"/>
                </a:solidFill>
              </a:rPr>
              <a:t>Does stage clearability correspond to the existence of a valid solution?</a:t>
            </a:r>
          </a:p>
        </p:txBody>
      </p:sp>
      <p:sp>
        <p:nvSpPr>
          <p:cNvPr id="8" name="">
            <a:extLst xmlns:a="http://schemas.openxmlformats.org/drawingml/2006/main">
              <a:ext uri="{FF2B5EF4-FFF2-40B4-BE49-F238E27FC236}">
                <a16:creationId xmlns:a16="http://schemas.microsoft.com/office/drawing/2014/main" id="{2880FBBC-9D27-46BE-BCE4-78AD0BF74EBE}"/>
              </a:ext>
            </a:extLst>
          </p:cNvPr>
          <p:cNvSpPr>
            <a:spLocks xmlns:a="http://schemas.openxmlformats.org/drawingml/2006/main" noGrp="1"/>
          </p:cNvSpPr>
          <p:nvPr/>
        </p:nvSpPr>
        <p:spPr>
          <a:xfrm xmlns:a="http://schemas.openxmlformats.org/drawingml/2006/main">
            <a:off x="876300" y="33909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4D1B0FB7-B7B6-4A00-B865-A2433FE018F6}"/>
              </a:ext>
            </a:extLst>
          </p:cNvPr>
          <p:cNvSpPr>
            <a:spLocks xmlns:a="http://schemas.openxmlformats.org/drawingml/2006/main" noGrp="1"/>
          </p:cNvSpPr>
          <p:nvPr/>
        </p:nvSpPr>
        <p:spPr>
          <a:xfrm xmlns:a="http://schemas.openxmlformats.org/drawingml/2006/main">
            <a:off x="1104900" y="3295650"/>
            <a:ext cx="9677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a:solidFill>
                  <a:srgbClr val="111111"/>
                </a:solidFill>
              </a:defRPr>
            </a:pPr>
            <a:r>
              <a:rPr sz="1800" b="0">
                <a:solidFill>
                  <a:srgbClr val="111111"/>
                </a:solidFill>
              </a:rPr>
              <a:t>Can the player experience search, constraint satisfaction, and backtracking as game actions?</a:t>
            </a:r>
          </a:p>
        </p:txBody>
      </p:sp>
      <p:sp>
        <p:nvSpPr>
          <p:cNvPr id="10" name="">
            <a:extLst xmlns:a="http://schemas.openxmlformats.org/drawingml/2006/main">
              <a:ext uri="{FF2B5EF4-FFF2-40B4-BE49-F238E27FC236}">
                <a16:creationId xmlns:a16="http://schemas.microsoft.com/office/drawing/2014/main" id="{BE1EB772-4573-46B2-A812-275A4F5494C3}"/>
              </a:ext>
            </a:extLst>
          </p:cNvPr>
          <p:cNvSpPr>
            <a:spLocks xmlns:a="http://schemas.openxmlformats.org/drawingml/2006/main" noGrp="1"/>
          </p:cNvSpPr>
          <p:nvPr/>
        </p:nvSpPr>
        <p:spPr>
          <a:xfrm xmlns:a="http://schemas.openxmlformats.org/drawingml/2006/main">
            <a:off x="876300" y="40195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EFA20B9A-0A47-4021-94C1-7C1D735E9AEF}"/>
              </a:ext>
            </a:extLst>
          </p:cNvPr>
          <p:cNvSpPr>
            <a:spLocks xmlns:a="http://schemas.openxmlformats.org/drawingml/2006/main" noGrp="1"/>
          </p:cNvSpPr>
          <p:nvPr/>
        </p:nvSpPr>
        <p:spPr>
          <a:xfrm xmlns:a="http://schemas.openxmlformats.org/drawingml/2006/main">
            <a:off x="1104900" y="3924300"/>
            <a:ext cx="9677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a:solidFill>
                  <a:srgbClr val="111111"/>
                </a:solidFill>
              </a:defRPr>
            </a:pPr>
            <a:r>
              <a:rPr sz="1800" b="0">
                <a:solidFill>
                  <a:srgbClr val="111111"/>
                </a:solidFill>
              </a:rPr>
              <a:t>Can the same engine support both prototype demonstrations and practical stage design?</a:t>
            </a:r>
          </a:p>
        </p:txBody>
      </p:sp>
    </p:spTree>
    <p:extLst>
      <p:ext uri="{BB962C8B-B14F-4D97-AF65-F5344CB8AC3E}">
        <p14:creationId xmlns:p14="http://schemas.microsoft.com/office/powerpoint/2010/main" val="12152565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32D4CD-7F87-4137-BFB2-2937DF9CA75B}"/>
              </a:ext>
            </a:extLst>
          </p:cNvPr>
          <p:cNvSpPr>
            <a:spLocks xmlns:a="http://schemas.openxmlformats.org/drawingml/2006/main" noGrp="1"/>
          </p:cNvSpPr>
          <p:nvPr/>
        </p:nvSpPr>
        <p:spPr>
          <a:xfrm xmlns:a="http://schemas.openxmlformats.org/drawingml/2006/main">
            <a:off x="609600" y="400050"/>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Two completed prototypes give the research a concrete base</a:t>
            </a:r>
          </a:p>
        </p:txBody>
      </p:sp>
      <p:sp>
        <p:nvSpPr>
          <p:cNvPr id="2" name="">
            <a:extLst xmlns:a="http://schemas.openxmlformats.org/drawingml/2006/main">
              <a:ext uri="{FF2B5EF4-FFF2-40B4-BE49-F238E27FC236}">
                <a16:creationId xmlns:a16="http://schemas.microsoft.com/office/drawing/2014/main" id="{B8FAC0D5-4D46-4642-A82F-3B30B7C34EE2}"/>
              </a:ext>
            </a:extLst>
          </p:cNvPr>
          <p:cNvSpPr>
            <a:spLocks xmlns:a="http://schemas.openxmlformats.org/drawingml/2006/main" noGrp="1"/>
          </p:cNvSpPr>
          <p:nvPr/>
        </p:nvSpPr>
        <p:spPr>
          <a:xfrm xmlns:a="http://schemas.openxmlformats.org/drawingml/2006/main">
            <a:off x="628650" y="142875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Both reductions currently exist as provisional gimmicks; 3SAT also has an in-stage usage example.</a:t>
            </a:r>
          </a:p>
        </p:txBody>
      </p:sp>
      <p:sp>
        <p:nvSpPr>
          <p:cNvPr id="3" name="">
            <a:extLst xmlns:a="http://schemas.openxmlformats.org/drawingml/2006/main">
              <a:ext uri="{FF2B5EF4-FFF2-40B4-BE49-F238E27FC236}">
                <a16:creationId xmlns:a16="http://schemas.microsoft.com/office/drawing/2014/main" id="{06E53256-D499-496B-B7E6-2A6A9E64E1A3}"/>
              </a:ext>
            </a:extLst>
          </p:cNvPr>
          <p:cNvSpPr>
            <a:spLocks xmlns:a="http://schemas.openxmlformats.org/drawingml/2006/main" noGrp="1"/>
          </p:cNvSpPr>
          <p:nvPr/>
        </p:nvSpPr>
        <p:spPr>
          <a:xfrm xmlns:a="http://schemas.openxmlformats.org/drawingml/2006/main">
            <a:off x="11296650" y="621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03</a:t>
            </a:r>
          </a:p>
        </p:txBody>
      </p:sp>
      <p:sp>
        <p:nvSpPr>
          <p:cNvPr id="4" name="">
            <a:extLst xmlns:a="http://schemas.openxmlformats.org/drawingml/2006/main">
              <a:ext uri="{FF2B5EF4-FFF2-40B4-BE49-F238E27FC236}">
                <a16:creationId xmlns:a16="http://schemas.microsoft.com/office/drawing/2014/main" id="{0D335F63-0BAD-4079-9A67-390623435E31}"/>
              </a:ext>
            </a:extLst>
          </p:cNvPr>
          <p:cNvSpPr>
            <a:spLocks xmlns:a="http://schemas.openxmlformats.org/drawingml/2006/main" noGrp="1"/>
          </p:cNvSpPr>
          <p:nvPr/>
        </p:nvSpPr>
        <p:spPr>
          <a:xfrm xmlns:a="http://schemas.openxmlformats.org/drawingml/2006/main">
            <a:off x="685800" y="1924050"/>
            <a:ext cx="3333750" cy="2952750"/>
          </a:xfrm>
          <a:prstGeom xmlns:a="http://schemas.openxmlformats.org/drawingml/2006/main" prst="rect">
            <a:avLst/>
          </a:prstGeom>
          <a:solidFill xmlns:a="http://schemas.openxmlformats.org/drawingml/2006/main">
            <a:srgbClr val="EDEDED"/>
          </a:solidFill>
          <a:ln xmlns:a="http://schemas.openxmlformats.org/drawingml/2006/main" w="9525">
            <a:solidFill>
              <a:srgbClr val="D4D7DC"/>
            </a:solidFill>
            <a:prstDash val="solid"/>
          </a:ln>
        </p:spPr>
      </p:sp>
      <p:sp>
        <p:nvSpPr>
          <p:cNvPr id="5" name="">
            <a:extLst xmlns:a="http://schemas.openxmlformats.org/drawingml/2006/main">
              <a:ext uri="{FF2B5EF4-FFF2-40B4-BE49-F238E27FC236}">
                <a16:creationId xmlns:a16="http://schemas.microsoft.com/office/drawing/2014/main" id="{1C7144E7-0F4D-49E9-8BE7-0DDBEB1FD108}"/>
              </a:ext>
            </a:extLst>
          </p:cNvPr>
          <p:cNvSpPr>
            <a:spLocks xmlns:a="http://schemas.openxmlformats.org/drawingml/2006/main" noGrp="1"/>
          </p:cNvSpPr>
          <p:nvPr/>
        </p:nvSpPr>
        <p:spPr>
          <a:xfrm xmlns:a="http://schemas.openxmlformats.org/drawingml/2006/main">
            <a:off x="4438650" y="1924050"/>
            <a:ext cx="3333750" cy="2952750"/>
          </a:xfrm>
          <a:prstGeom xmlns:a="http://schemas.openxmlformats.org/drawingml/2006/main" prst="rect">
            <a:avLst/>
          </a:prstGeom>
          <a:solidFill xmlns:a="http://schemas.openxmlformats.org/drawingml/2006/main">
            <a:srgbClr val="EDEDED"/>
          </a:solidFill>
          <a:ln xmlns:a="http://schemas.openxmlformats.org/drawingml/2006/main" w="9525">
            <a:solidFill>
              <a:srgbClr val="D4D7DC"/>
            </a:solidFill>
            <a:prstDash val="solid"/>
          </a:ln>
        </p:spPr>
      </p:sp>
      <p:sp>
        <p:nvSpPr>
          <p:cNvPr id="6" name="">
            <a:extLst xmlns:a="http://schemas.openxmlformats.org/drawingml/2006/main">
              <a:ext uri="{FF2B5EF4-FFF2-40B4-BE49-F238E27FC236}">
                <a16:creationId xmlns:a16="http://schemas.microsoft.com/office/drawing/2014/main" id="{A65AEDFE-C3B3-4ADE-B6CC-6CD68D9A32A6}"/>
              </a:ext>
            </a:extLst>
          </p:cNvPr>
          <p:cNvSpPr>
            <a:spLocks xmlns:a="http://schemas.openxmlformats.org/drawingml/2006/main" noGrp="1"/>
          </p:cNvSpPr>
          <p:nvPr/>
        </p:nvSpPr>
        <p:spPr>
          <a:xfrm xmlns:a="http://schemas.openxmlformats.org/drawingml/2006/main">
            <a:off x="8191500" y="1924050"/>
            <a:ext cx="3333750" cy="2952750"/>
          </a:xfrm>
          <a:prstGeom xmlns:a="http://schemas.openxmlformats.org/drawingml/2006/main" prst="rect">
            <a:avLst/>
          </a:prstGeom>
          <a:solidFill xmlns:a="http://schemas.openxmlformats.org/drawingml/2006/main">
            <a:srgbClr val="EDEDED"/>
          </a:solidFill>
          <a:ln xmlns:a="http://schemas.openxmlformats.org/drawingml/2006/main" w="9525">
            <a:solidFill>
              <a:srgbClr val="D4D7DC"/>
            </a:solidFill>
            <a:prstDash val="solid"/>
          </a:ln>
        </p:spPr>
      </p:sp>
      <p:sp>
        <p:nvSpPr>
          <p:cNvPr id="7" name="">
            <a:extLst xmlns:a="http://schemas.openxmlformats.org/drawingml/2006/main">
              <a:ext uri="{FF2B5EF4-FFF2-40B4-BE49-F238E27FC236}">
                <a16:creationId xmlns:a16="http://schemas.microsoft.com/office/drawing/2014/main" id="{F184083E-2CC2-41AE-9C06-7C8355C44D77}"/>
              </a:ext>
            </a:extLst>
          </p:cNvPr>
          <p:cNvSpPr>
            <a:spLocks xmlns:a="http://schemas.openxmlformats.org/drawingml/2006/main" noGrp="1"/>
          </p:cNvSpPr>
          <p:nvPr/>
        </p:nvSpPr>
        <p:spPr>
          <a:xfrm xmlns:a="http://schemas.openxmlformats.org/drawingml/2006/main">
            <a:off x="990600" y="22669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11111"/>
                </a:solidFill>
              </a:defRPr>
            </a:pPr>
            <a:r>
              <a:rPr sz="2025" b="1">
                <a:solidFill>
                  <a:srgbClr val="111111"/>
                </a:solidFill>
              </a:rPr>
              <a:t>3SAT gimmick</a:t>
            </a:r>
          </a:p>
        </p:txBody>
      </p:sp>
      <p:sp>
        <p:nvSpPr>
          <p:cNvPr id="8" name="">
            <a:extLst xmlns:a="http://schemas.openxmlformats.org/drawingml/2006/main">
              <a:ext uri="{FF2B5EF4-FFF2-40B4-BE49-F238E27FC236}">
                <a16:creationId xmlns:a16="http://schemas.microsoft.com/office/drawing/2014/main" id="{2A8FB7B3-3075-4288-A463-ED0F0934CF1C}"/>
              </a:ext>
            </a:extLst>
          </p:cNvPr>
          <p:cNvSpPr>
            <a:spLocks xmlns:a="http://schemas.openxmlformats.org/drawingml/2006/main" noGrp="1"/>
          </p:cNvSpPr>
          <p:nvPr/>
        </p:nvSpPr>
        <p:spPr>
          <a:xfrm xmlns:a="http://schemas.openxmlformats.org/drawingml/2006/main">
            <a:off x="990600" y="2895600"/>
            <a:ext cx="25908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55A61"/>
                </a:solidFill>
              </a:defRPr>
            </a:pPr>
            <a:r>
              <a:rPr sz="1575" b="0">
                <a:solidFill>
                  <a:srgbClr val="555A61"/>
                </a:solidFill>
              </a:rPr>
              <a:t>A route-choice structure represents variable assignments. Clause sections test whether at least one literal is satisfied.</a:t>
            </a:r>
          </a:p>
        </p:txBody>
      </p:sp>
      <p:sp>
        <p:nvSpPr>
          <p:cNvPr id="9" name="">
            <a:extLst xmlns:a="http://schemas.openxmlformats.org/drawingml/2006/main">
              <a:ext uri="{FF2B5EF4-FFF2-40B4-BE49-F238E27FC236}">
                <a16:creationId xmlns:a16="http://schemas.microsoft.com/office/drawing/2014/main" id="{CC6D2EB5-C4D3-475C-BDB9-483A28F22CFE}"/>
              </a:ext>
            </a:extLst>
          </p:cNvPr>
          <p:cNvSpPr>
            <a:spLocks xmlns:a="http://schemas.openxmlformats.org/drawingml/2006/main" noGrp="1"/>
          </p:cNvSpPr>
          <p:nvPr/>
        </p:nvSpPr>
        <p:spPr>
          <a:xfrm xmlns:a="http://schemas.openxmlformats.org/drawingml/2006/main">
            <a:off x="4743450" y="2266950"/>
            <a:ext cx="2667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11111"/>
                </a:solidFill>
              </a:defRPr>
            </a:pPr>
            <a:r>
              <a:rPr sz="2025" b="1">
                <a:solidFill>
                  <a:srgbClr val="111111"/>
                </a:solidFill>
              </a:rPr>
              <a:t>Hamilton Path gimmick</a:t>
            </a:r>
          </a:p>
        </p:txBody>
      </p:sp>
      <p:sp>
        <p:nvSpPr>
          <p:cNvPr id="10" name="">
            <a:extLst xmlns:a="http://schemas.openxmlformats.org/drawingml/2006/main">
              <a:ext uri="{FF2B5EF4-FFF2-40B4-BE49-F238E27FC236}">
                <a16:creationId xmlns:a16="http://schemas.microsoft.com/office/drawing/2014/main" id="{456F274A-98BE-4241-A0C7-76FF43E246E3}"/>
              </a:ext>
            </a:extLst>
          </p:cNvPr>
          <p:cNvSpPr>
            <a:spLocks xmlns:a="http://schemas.openxmlformats.org/drawingml/2006/main" noGrp="1"/>
          </p:cNvSpPr>
          <p:nvPr/>
        </p:nvSpPr>
        <p:spPr>
          <a:xfrm xmlns:a="http://schemas.openxmlformats.org/drawingml/2006/main">
            <a:off x="4743450" y="3181350"/>
            <a:ext cx="2590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55A61"/>
                </a:solidFill>
              </a:defRPr>
            </a:pPr>
            <a:r>
              <a:rPr sz="1575" b="0">
                <a:solidFill>
                  <a:srgbClr val="555A61"/>
                </a:solidFill>
              </a:rPr>
              <a:t>Graph traversal is mapped to player movement while enforcing edge validity and one-time vertex visits.</a:t>
            </a:r>
          </a:p>
        </p:txBody>
      </p:sp>
      <p:sp>
        <p:nvSpPr>
          <p:cNvPr id="11" name="">
            <a:extLst xmlns:a="http://schemas.openxmlformats.org/drawingml/2006/main">
              <a:ext uri="{FF2B5EF4-FFF2-40B4-BE49-F238E27FC236}">
                <a16:creationId xmlns:a16="http://schemas.microsoft.com/office/drawing/2014/main" id="{81504443-042C-4955-906A-F36D2FD85ABC}"/>
              </a:ext>
            </a:extLst>
          </p:cNvPr>
          <p:cNvSpPr>
            <a:spLocks xmlns:a="http://schemas.openxmlformats.org/drawingml/2006/main" noGrp="1"/>
          </p:cNvSpPr>
          <p:nvPr/>
        </p:nvSpPr>
        <p:spPr>
          <a:xfrm xmlns:a="http://schemas.openxmlformats.org/drawingml/2006/main">
            <a:off x="8496300" y="2266950"/>
            <a:ext cx="2667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11111"/>
                </a:solidFill>
              </a:defRPr>
            </a:pPr>
            <a:r>
              <a:rPr sz="2025" b="1">
                <a:solidFill>
                  <a:srgbClr val="111111"/>
                </a:solidFill>
              </a:rPr>
              <a:t>Practical 3SAT example</a:t>
            </a:r>
          </a:p>
        </p:txBody>
      </p:sp>
      <p:sp>
        <p:nvSpPr>
          <p:cNvPr id="12" name="">
            <a:extLst xmlns:a="http://schemas.openxmlformats.org/drawingml/2006/main">
              <a:ext uri="{FF2B5EF4-FFF2-40B4-BE49-F238E27FC236}">
                <a16:creationId xmlns:a16="http://schemas.microsoft.com/office/drawing/2014/main" id="{E122BF13-3699-4960-9BA3-3BC462B3E7C0}"/>
              </a:ext>
            </a:extLst>
          </p:cNvPr>
          <p:cNvSpPr>
            <a:spLocks xmlns:a="http://schemas.openxmlformats.org/drawingml/2006/main" noGrp="1"/>
          </p:cNvSpPr>
          <p:nvPr/>
        </p:nvSpPr>
        <p:spPr>
          <a:xfrm xmlns:a="http://schemas.openxmlformats.org/drawingml/2006/main">
            <a:off x="8496300" y="3181350"/>
            <a:ext cx="2590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555A61"/>
                </a:solidFill>
              </a:defRPr>
            </a:pPr>
            <a:r>
              <a:rPr sz="1575" b="0">
                <a:solidFill>
                  <a:srgbClr val="555A61"/>
                </a:solidFill>
              </a:rPr>
              <a:t>The 3SAT mechanism has moved beyond a toy prototype and has been used in an actual stage context.</a:t>
            </a:r>
          </a:p>
        </p:txBody>
      </p:sp>
    </p:spTree>
    <p:extLst>
      <p:ext uri="{BB962C8B-B14F-4D97-AF65-F5344CB8AC3E}">
        <p14:creationId xmlns:p14="http://schemas.microsoft.com/office/powerpoint/2010/main" val="10208162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ADF9B4-1BCE-4FF6-BEB6-58405CD89D7C}"/>
              </a:ext>
            </a:extLst>
          </p:cNvPr>
          <p:cNvSpPr>
            <a:spLocks xmlns:a="http://schemas.openxmlformats.org/drawingml/2006/main" noGrp="1"/>
          </p:cNvSpPr>
          <p:nvPr/>
        </p:nvSpPr>
        <p:spPr>
          <a:xfrm xmlns:a="http://schemas.openxmlformats.org/drawingml/2006/main">
            <a:off x="609600" y="400050"/>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3SAT becomes a sequence of commitments and checks</a:t>
            </a:r>
          </a:p>
        </p:txBody>
      </p:sp>
      <p:sp>
        <p:nvSpPr>
          <p:cNvPr id="2" name="">
            <a:extLst xmlns:a="http://schemas.openxmlformats.org/drawingml/2006/main">
              <a:ext uri="{FF2B5EF4-FFF2-40B4-BE49-F238E27FC236}">
                <a16:creationId xmlns:a16="http://schemas.microsoft.com/office/drawing/2014/main" id="{120D031C-0239-47F4-B52C-A2226AF0D809}"/>
              </a:ext>
            </a:extLst>
          </p:cNvPr>
          <p:cNvSpPr>
            <a:spLocks xmlns:a="http://schemas.openxmlformats.org/drawingml/2006/main" noGrp="1"/>
          </p:cNvSpPr>
          <p:nvPr/>
        </p:nvSpPr>
        <p:spPr>
          <a:xfrm xmlns:a="http://schemas.openxmlformats.org/drawingml/2006/main">
            <a:off x="628650" y="142875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The player chooses truth values, then the stage tests clause satisfaction.</a:t>
            </a:r>
          </a:p>
        </p:txBody>
      </p:sp>
      <p:sp>
        <p:nvSpPr>
          <p:cNvPr id="3" name="">
            <a:extLst xmlns:a="http://schemas.openxmlformats.org/drawingml/2006/main">
              <a:ext uri="{FF2B5EF4-FFF2-40B4-BE49-F238E27FC236}">
                <a16:creationId xmlns:a16="http://schemas.microsoft.com/office/drawing/2014/main" id="{60A94632-0253-4351-A47D-537AFEAE5FFC}"/>
              </a:ext>
            </a:extLst>
          </p:cNvPr>
          <p:cNvSpPr>
            <a:spLocks xmlns:a="http://schemas.openxmlformats.org/drawingml/2006/main" noGrp="1"/>
          </p:cNvSpPr>
          <p:nvPr/>
        </p:nvSpPr>
        <p:spPr>
          <a:xfrm xmlns:a="http://schemas.openxmlformats.org/drawingml/2006/main">
            <a:off x="11296650" y="621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04</a:t>
            </a:r>
          </a:p>
        </p:txBody>
      </p:sp>
      <p:sp>
        <p:nvSpPr>
          <p:cNvPr id="4" name="">
            <a:extLst xmlns:a="http://schemas.openxmlformats.org/drawingml/2006/main">
              <a:ext uri="{FF2B5EF4-FFF2-40B4-BE49-F238E27FC236}">
                <a16:creationId xmlns:a16="http://schemas.microsoft.com/office/drawing/2014/main" id="{B7E81C76-4029-4A0F-8A51-DF73BE3A8CD1}"/>
              </a:ext>
            </a:extLst>
          </p:cNvPr>
          <p:cNvSpPr>
            <a:spLocks xmlns:a="http://schemas.openxmlformats.org/drawingml/2006/main" noGrp="1"/>
          </p:cNvSpPr>
          <p:nvPr/>
        </p:nvSpPr>
        <p:spPr>
          <a:xfrm xmlns:a="http://schemas.openxmlformats.org/drawingml/2006/main">
            <a:off x="914400" y="2133600"/>
            <a:ext cx="4476750" cy="876300"/>
          </a:xfrm>
          <a:prstGeom xmlns:a="http://schemas.openxmlformats.org/drawingml/2006/main" prst="rect">
            <a:avLst/>
          </a:prstGeom>
          <a:solidFill xmlns:a="http://schemas.openxmlformats.org/drawingml/2006/main">
            <a:srgbClr val="F7F8FA"/>
          </a:solidFill>
          <a:ln xmlns:a="http://schemas.openxmlformats.org/drawingml/2006/main" w="9525">
            <a:solidFill>
              <a:srgbClr val="D4D7DC"/>
            </a:solidFill>
            <a:prstDash val="solid"/>
          </a:ln>
        </p:spPr>
      </p:sp>
      <p:sp>
        <p:nvSpPr>
          <p:cNvPr id="5" name="">
            <a:extLst xmlns:a="http://schemas.openxmlformats.org/drawingml/2006/main">
              <a:ext uri="{FF2B5EF4-FFF2-40B4-BE49-F238E27FC236}">
                <a16:creationId xmlns:a16="http://schemas.microsoft.com/office/drawing/2014/main" id="{70A1BE0F-07BD-415B-8D9E-17BF9B7C8229}"/>
              </a:ext>
            </a:extLst>
          </p:cNvPr>
          <p:cNvSpPr>
            <a:spLocks xmlns:a="http://schemas.openxmlformats.org/drawingml/2006/main" noGrp="1"/>
          </p:cNvSpPr>
          <p:nvPr/>
        </p:nvSpPr>
        <p:spPr>
          <a:xfrm xmlns:a="http://schemas.openxmlformats.org/drawingml/2006/main">
            <a:off x="1085850" y="2305050"/>
            <a:ext cx="857250" cy="323850"/>
          </a:xfrm>
          <a:prstGeom xmlns:a="http://schemas.openxmlformats.org/drawingml/2006/main" prst="roundRect">
            <a:avLst>
              <a:gd name="adj" fmla="val 35294"/>
            </a:avLst>
          </a:prstGeom>
          <a:solidFill xmlns:a="http://schemas.openxmlformats.org/drawingml/2006/main">
            <a:srgbClr val="34A853"/>
          </a:solidFill>
          <a:ln xmlns:a="http://schemas.openxmlformats.org/drawingml/2006/main" w="9525">
            <a:solidFill>
              <a:srgbClr val="34A853"/>
            </a:solid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FFFFFF"/>
                </a:solidFill>
              </a:defRPr>
            </a:pPr>
            <a:r>
              <a:rPr sz="1125" b="1">
                <a:solidFill>
                  <a:srgbClr val="FFFFFF"/>
                </a:solidFill>
              </a:rPr>
              <a:t>TRUE</a:t>
            </a:r>
          </a:p>
        </p:txBody>
      </p:sp>
      <p:sp>
        <p:nvSpPr>
          <p:cNvPr id="6" name="">
            <a:extLst xmlns:a="http://schemas.openxmlformats.org/drawingml/2006/main">
              <a:ext uri="{FF2B5EF4-FFF2-40B4-BE49-F238E27FC236}">
                <a16:creationId xmlns:a16="http://schemas.microsoft.com/office/drawing/2014/main" id="{9670A133-414F-49AC-ADEB-5C4A27CC51AD}"/>
              </a:ext>
            </a:extLst>
          </p:cNvPr>
          <p:cNvSpPr>
            <a:spLocks xmlns:a="http://schemas.openxmlformats.org/drawingml/2006/main" noGrp="1"/>
          </p:cNvSpPr>
          <p:nvPr/>
        </p:nvSpPr>
        <p:spPr>
          <a:xfrm xmlns:a="http://schemas.openxmlformats.org/drawingml/2006/main">
            <a:off x="2114550" y="2324100"/>
            <a:ext cx="3067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Upper route commits the variable to true</a:t>
            </a:r>
          </a:p>
        </p:txBody>
      </p:sp>
      <p:sp>
        <p:nvSpPr>
          <p:cNvPr id="7" name="">
            <a:extLst xmlns:a="http://schemas.openxmlformats.org/drawingml/2006/main">
              <a:ext uri="{FF2B5EF4-FFF2-40B4-BE49-F238E27FC236}">
                <a16:creationId xmlns:a16="http://schemas.microsoft.com/office/drawing/2014/main" id="{822FCB1D-3241-4AB8-A695-523CFBACAF0D}"/>
              </a:ext>
            </a:extLst>
          </p:cNvPr>
          <p:cNvSpPr>
            <a:spLocks xmlns:a="http://schemas.openxmlformats.org/drawingml/2006/main" noGrp="1"/>
          </p:cNvSpPr>
          <p:nvPr/>
        </p:nvSpPr>
        <p:spPr>
          <a:xfrm xmlns:a="http://schemas.openxmlformats.org/drawingml/2006/main">
            <a:off x="914400" y="3314700"/>
            <a:ext cx="4476750" cy="876300"/>
          </a:xfrm>
          <a:prstGeom xmlns:a="http://schemas.openxmlformats.org/drawingml/2006/main" prst="rect">
            <a:avLst/>
          </a:prstGeom>
          <a:solidFill xmlns:a="http://schemas.openxmlformats.org/drawingml/2006/main">
            <a:srgbClr val="F7F8FA"/>
          </a:solidFill>
          <a:ln xmlns:a="http://schemas.openxmlformats.org/drawingml/2006/main" w="9525">
            <a:solidFill>
              <a:srgbClr val="D4D7DC"/>
            </a:solidFill>
            <a:prstDash val="solid"/>
          </a:ln>
        </p:spPr>
      </p:sp>
      <p:sp>
        <p:nvSpPr>
          <p:cNvPr id="8" name="">
            <a:extLst xmlns:a="http://schemas.openxmlformats.org/drawingml/2006/main">
              <a:ext uri="{FF2B5EF4-FFF2-40B4-BE49-F238E27FC236}">
                <a16:creationId xmlns:a16="http://schemas.microsoft.com/office/drawing/2014/main" id="{1E0FF5CE-321A-46E8-9A1B-B02AE67DCC6A}"/>
              </a:ext>
            </a:extLst>
          </p:cNvPr>
          <p:cNvSpPr>
            <a:spLocks xmlns:a="http://schemas.openxmlformats.org/drawingml/2006/main" noGrp="1"/>
          </p:cNvSpPr>
          <p:nvPr/>
        </p:nvSpPr>
        <p:spPr>
          <a:xfrm xmlns:a="http://schemas.openxmlformats.org/drawingml/2006/main">
            <a:off x="1085850" y="3486150"/>
            <a:ext cx="857250" cy="323850"/>
          </a:xfrm>
          <a:prstGeom xmlns:a="http://schemas.openxmlformats.org/drawingml/2006/main" prst="roundRect">
            <a:avLst>
              <a:gd name="adj" fmla="val 35294"/>
            </a:avLst>
          </a:prstGeom>
          <a:solidFill xmlns:a="http://schemas.openxmlformats.org/drawingml/2006/main">
            <a:srgbClr val="EA4335"/>
          </a:solidFill>
          <a:ln xmlns:a="http://schemas.openxmlformats.org/drawingml/2006/main" w="9525">
            <a:solidFill>
              <a:srgbClr val="EA4335"/>
            </a:solid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FFFFFF"/>
                </a:solidFill>
              </a:defRPr>
            </a:pPr>
            <a:r>
              <a:rPr sz="1125" b="1">
                <a:solidFill>
                  <a:srgbClr val="FFFFFF"/>
                </a:solidFill>
              </a:rPr>
              <a:t>FALSE</a:t>
            </a:r>
          </a:p>
        </p:txBody>
      </p:sp>
      <p:sp>
        <p:nvSpPr>
          <p:cNvPr id="9" name="">
            <a:extLst xmlns:a="http://schemas.openxmlformats.org/drawingml/2006/main">
              <a:ext uri="{FF2B5EF4-FFF2-40B4-BE49-F238E27FC236}">
                <a16:creationId xmlns:a16="http://schemas.microsoft.com/office/drawing/2014/main" id="{2F24759B-CC0E-4B5E-BE95-ECEDEA5ED49F}"/>
              </a:ext>
            </a:extLst>
          </p:cNvPr>
          <p:cNvSpPr>
            <a:spLocks xmlns:a="http://schemas.openxmlformats.org/drawingml/2006/main" noGrp="1"/>
          </p:cNvSpPr>
          <p:nvPr/>
        </p:nvSpPr>
        <p:spPr>
          <a:xfrm xmlns:a="http://schemas.openxmlformats.org/drawingml/2006/main">
            <a:off x="2114550" y="3505200"/>
            <a:ext cx="3067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Lower route commits the variable to false</a:t>
            </a:r>
          </a:p>
        </p:txBody>
      </p:sp>
      <p:sp>
        <p:nvSpPr>
          <p:cNvPr id="10" name="">
            <a:extLst xmlns:a="http://schemas.openxmlformats.org/drawingml/2006/main">
              <a:ext uri="{FF2B5EF4-FFF2-40B4-BE49-F238E27FC236}">
                <a16:creationId xmlns:a16="http://schemas.microsoft.com/office/drawing/2014/main" id="{D45726F9-65DE-4131-95EA-0AE6317D3CBE}"/>
              </a:ext>
            </a:extLst>
          </p:cNvPr>
          <p:cNvSpPr>
            <a:spLocks xmlns:a="http://schemas.openxmlformats.org/drawingml/2006/main" noGrp="1"/>
          </p:cNvSpPr>
          <p:nvPr/>
        </p:nvSpPr>
        <p:spPr>
          <a:xfrm xmlns:a="http://schemas.openxmlformats.org/drawingml/2006/main">
            <a:off x="5619750" y="2724150"/>
            <a:ext cx="104775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11" name="">
            <a:extLst xmlns:a="http://schemas.openxmlformats.org/drawingml/2006/main">
              <a:ext uri="{FF2B5EF4-FFF2-40B4-BE49-F238E27FC236}">
                <a16:creationId xmlns:a16="http://schemas.microsoft.com/office/drawing/2014/main" id="{990D4D58-F786-4EC3-919D-89285EBE0475}"/>
              </a:ext>
            </a:extLst>
          </p:cNvPr>
          <p:cNvSpPr>
            <a:spLocks xmlns:a="http://schemas.openxmlformats.org/drawingml/2006/main" noGrp="1"/>
          </p:cNvSpPr>
          <p:nvPr/>
        </p:nvSpPr>
        <p:spPr>
          <a:xfrm xmlns:a="http://schemas.openxmlformats.org/drawingml/2006/main">
            <a:off x="5619750" y="3905250"/>
            <a:ext cx="104775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12" name="">
            <a:extLst xmlns:a="http://schemas.openxmlformats.org/drawingml/2006/main">
              <a:ext uri="{FF2B5EF4-FFF2-40B4-BE49-F238E27FC236}">
                <a16:creationId xmlns:a16="http://schemas.microsoft.com/office/drawing/2014/main" id="{CD0CB4B8-0A97-4967-AB94-DBD6049BAB94}"/>
              </a:ext>
            </a:extLst>
          </p:cNvPr>
          <p:cNvSpPr>
            <a:spLocks xmlns:a="http://schemas.openxmlformats.org/drawingml/2006/main" noGrp="1"/>
          </p:cNvSpPr>
          <p:nvPr/>
        </p:nvSpPr>
        <p:spPr>
          <a:xfrm xmlns:a="http://schemas.openxmlformats.org/drawingml/2006/main">
            <a:off x="6953250" y="2171700"/>
            <a:ext cx="4000500" cy="2095500"/>
          </a:xfrm>
          <a:prstGeom xmlns:a="http://schemas.openxmlformats.org/drawingml/2006/main" prst="rect">
            <a:avLst/>
          </a:prstGeom>
          <a:solidFill xmlns:a="http://schemas.openxmlformats.org/drawingml/2006/main">
            <a:srgbClr val="F7F8FA"/>
          </a:solidFill>
          <a:ln xmlns:a="http://schemas.openxmlformats.org/drawingml/2006/main" w="9525">
            <a:solidFill>
              <a:srgbClr val="D4D7DC"/>
            </a:solidFill>
            <a:prstDash val="solid"/>
          </a:ln>
        </p:spPr>
      </p:sp>
      <p:sp>
        <p:nvSpPr>
          <p:cNvPr id="13" name="">
            <a:extLst xmlns:a="http://schemas.openxmlformats.org/drawingml/2006/main">
              <a:ext uri="{FF2B5EF4-FFF2-40B4-BE49-F238E27FC236}">
                <a16:creationId xmlns:a16="http://schemas.microsoft.com/office/drawing/2014/main" id="{6649A436-E296-4F8C-A012-4A8FD34CD5F0}"/>
              </a:ext>
            </a:extLst>
          </p:cNvPr>
          <p:cNvSpPr>
            <a:spLocks xmlns:a="http://schemas.openxmlformats.org/drawingml/2006/main" noGrp="1"/>
          </p:cNvSpPr>
          <p:nvPr/>
        </p:nvSpPr>
        <p:spPr>
          <a:xfrm xmlns:a="http://schemas.openxmlformats.org/drawingml/2006/main">
            <a:off x="7334250" y="24955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75" b="1">
                <a:solidFill>
                  <a:srgbClr val="111111"/>
                </a:solidFill>
              </a:defRPr>
            </a:pPr>
            <a:r>
              <a:rPr sz="2175" b="1">
                <a:solidFill>
                  <a:srgbClr val="111111"/>
                </a:solidFill>
              </a:rPr>
              <a:t>Clause gate</a:t>
            </a:r>
          </a:p>
        </p:txBody>
      </p:sp>
      <p:sp>
        <p:nvSpPr>
          <p:cNvPr id="14" name="">
            <a:extLst xmlns:a="http://schemas.openxmlformats.org/drawingml/2006/main">
              <a:ext uri="{FF2B5EF4-FFF2-40B4-BE49-F238E27FC236}">
                <a16:creationId xmlns:a16="http://schemas.microsoft.com/office/drawing/2014/main" id="{8233205E-47C3-4CCA-BEA3-8796E9DEF137}"/>
              </a:ext>
            </a:extLst>
          </p:cNvPr>
          <p:cNvSpPr>
            <a:spLocks xmlns:a="http://schemas.openxmlformats.org/drawingml/2006/main" noGrp="1"/>
          </p:cNvSpPr>
          <p:nvPr/>
        </p:nvSpPr>
        <p:spPr>
          <a:xfrm xmlns:a="http://schemas.openxmlformats.org/drawingml/2006/main">
            <a:off x="7334250" y="30861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a:solidFill>
                  <a:srgbClr val="3D8DFF"/>
                </a:solidFill>
              </a:defRPr>
            </a:pPr>
            <a:r>
              <a:rPr sz="1725" b="0">
                <a:solidFill>
                  <a:srgbClr val="3D8DFF"/>
                </a:solidFill>
              </a:rPr>
              <a:t>(x1 OR not x2 OR x3)</a:t>
            </a:r>
          </a:p>
        </p:txBody>
      </p:sp>
      <p:sp>
        <p:nvSpPr>
          <p:cNvPr id="15" name="">
            <a:extLst xmlns:a="http://schemas.openxmlformats.org/drawingml/2006/main">
              <a:ext uri="{FF2B5EF4-FFF2-40B4-BE49-F238E27FC236}">
                <a16:creationId xmlns:a16="http://schemas.microsoft.com/office/drawing/2014/main" id="{1402CC1B-9369-4BBE-A9A8-8D6846158527}"/>
              </a:ext>
            </a:extLst>
          </p:cNvPr>
          <p:cNvSpPr>
            <a:spLocks xmlns:a="http://schemas.openxmlformats.org/drawingml/2006/main" noGrp="1"/>
          </p:cNvSpPr>
          <p:nvPr/>
        </p:nvSpPr>
        <p:spPr>
          <a:xfrm xmlns:a="http://schemas.openxmlformats.org/drawingml/2006/main">
            <a:off x="7334250" y="36766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Pass if at least one selected literal opens the path.</a:t>
            </a:r>
          </a:p>
        </p:txBody>
      </p:sp>
    </p:spTree>
    <p:extLst>
      <p:ext uri="{BB962C8B-B14F-4D97-AF65-F5344CB8AC3E}">
        <p14:creationId xmlns:p14="http://schemas.microsoft.com/office/powerpoint/2010/main" val="19882311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FF968B-90D6-48EC-A6BB-4E64F7409808}"/>
              </a:ext>
            </a:extLst>
          </p:cNvPr>
          <p:cNvSpPr>
            <a:spLocks xmlns:a="http://schemas.openxmlformats.org/drawingml/2006/main" noGrp="1"/>
          </p:cNvSpPr>
          <p:nvPr/>
        </p:nvSpPr>
        <p:spPr>
          <a:xfrm xmlns:a="http://schemas.openxmlformats.org/drawingml/2006/main">
            <a:off x="609600" y="400050"/>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A 3SAT stage can preserve the logical meaning of the formula</a:t>
            </a:r>
          </a:p>
        </p:txBody>
      </p:sp>
      <p:sp>
        <p:nvSpPr>
          <p:cNvPr id="2" name="">
            <a:extLst xmlns:a="http://schemas.openxmlformats.org/drawingml/2006/main">
              <a:ext uri="{FF2B5EF4-FFF2-40B4-BE49-F238E27FC236}">
                <a16:creationId xmlns:a16="http://schemas.microsoft.com/office/drawing/2014/main" id="{E1513102-91C3-44F0-AE16-4662F1007289}"/>
              </a:ext>
            </a:extLst>
          </p:cNvPr>
          <p:cNvSpPr>
            <a:spLocks xmlns:a="http://schemas.openxmlformats.org/drawingml/2006/main" noGrp="1"/>
          </p:cNvSpPr>
          <p:nvPr/>
        </p:nvSpPr>
        <p:spPr>
          <a:xfrm xmlns:a="http://schemas.openxmlformats.org/drawingml/2006/main">
            <a:off x="628650" y="142875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The important claim is correspondence, not just visual analogy.</a:t>
            </a:r>
          </a:p>
        </p:txBody>
      </p:sp>
      <p:sp>
        <p:nvSpPr>
          <p:cNvPr id="3" name="">
            <a:extLst xmlns:a="http://schemas.openxmlformats.org/drawingml/2006/main">
              <a:ext uri="{FF2B5EF4-FFF2-40B4-BE49-F238E27FC236}">
                <a16:creationId xmlns:a16="http://schemas.microsoft.com/office/drawing/2014/main" id="{6142377B-FCAD-4816-8B18-08321970652C}"/>
              </a:ext>
            </a:extLst>
          </p:cNvPr>
          <p:cNvSpPr>
            <a:spLocks xmlns:a="http://schemas.openxmlformats.org/drawingml/2006/main" noGrp="1"/>
          </p:cNvSpPr>
          <p:nvPr/>
        </p:nvSpPr>
        <p:spPr>
          <a:xfrm xmlns:a="http://schemas.openxmlformats.org/drawingml/2006/main">
            <a:off x="11296650" y="621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05</a:t>
            </a:r>
          </a:p>
        </p:txBody>
      </p:sp>
      <p:sp>
        <p:nvSpPr>
          <p:cNvPr id="4" name="">
            <a:extLst xmlns:a="http://schemas.openxmlformats.org/drawingml/2006/main">
              <a:ext uri="{FF2B5EF4-FFF2-40B4-BE49-F238E27FC236}">
                <a16:creationId xmlns:a16="http://schemas.microsoft.com/office/drawing/2014/main" id="{4ADCA7C5-F429-4ED5-B9B1-6CE0A2ED06DC}"/>
              </a:ext>
            </a:extLst>
          </p:cNvPr>
          <p:cNvSpPr>
            <a:spLocks xmlns:a="http://schemas.openxmlformats.org/drawingml/2006/main" noGrp="1"/>
          </p:cNvSpPr>
          <p:nvPr/>
        </p:nvSpPr>
        <p:spPr>
          <a:xfrm xmlns:a="http://schemas.openxmlformats.org/drawingml/2006/main">
            <a:off x="800100" y="1809750"/>
            <a:ext cx="2537460" cy="701040"/>
          </a:xfrm>
          <a:prstGeom xmlns:a="http://schemas.openxmlformats.org/drawingml/2006/main" prst="rect">
            <a:avLst/>
          </a:prstGeom>
          <a:solidFill xmlns:a="http://schemas.openxmlformats.org/drawingml/2006/main">
            <a:srgbClr val="111111"/>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B488B4C9-3AAF-42A0-91FD-C167A9A59E04}"/>
              </a:ext>
            </a:extLst>
          </p:cNvPr>
          <p:cNvSpPr>
            <a:spLocks xmlns:a="http://schemas.openxmlformats.org/drawingml/2006/main" noGrp="1"/>
          </p:cNvSpPr>
          <p:nvPr/>
        </p:nvSpPr>
        <p:spPr>
          <a:xfrm xmlns:a="http://schemas.openxmlformats.org/drawingml/2006/main">
            <a:off x="914400" y="1905000"/>
            <a:ext cx="230886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FFFFFF"/>
                </a:solidFill>
              </a:defRPr>
            </a:pPr>
            <a:r>
              <a:rPr sz="1575" b="1">
                <a:solidFill>
                  <a:srgbClr val="FFFFFF"/>
                </a:solidFill>
              </a:rPr>
              <a:t>Formula element</a:t>
            </a:r>
          </a:p>
        </p:txBody>
      </p:sp>
      <p:sp>
        <p:nvSpPr>
          <p:cNvPr id="6" name="">
            <a:extLst xmlns:a="http://schemas.openxmlformats.org/drawingml/2006/main">
              <a:ext uri="{FF2B5EF4-FFF2-40B4-BE49-F238E27FC236}">
                <a16:creationId xmlns:a16="http://schemas.microsoft.com/office/drawing/2014/main" id="{E2E0A5DC-A2F6-41C3-A270-5745A1661E5E}"/>
              </a:ext>
            </a:extLst>
          </p:cNvPr>
          <p:cNvSpPr>
            <a:spLocks xmlns:a="http://schemas.openxmlformats.org/drawingml/2006/main" noGrp="1"/>
          </p:cNvSpPr>
          <p:nvPr/>
        </p:nvSpPr>
        <p:spPr>
          <a:xfrm xmlns:a="http://schemas.openxmlformats.org/drawingml/2006/main">
            <a:off x="3337560" y="1809750"/>
            <a:ext cx="3277553" cy="701040"/>
          </a:xfrm>
          <a:prstGeom xmlns:a="http://schemas.openxmlformats.org/drawingml/2006/main" prst="rect">
            <a:avLst/>
          </a:prstGeom>
          <a:solidFill xmlns:a="http://schemas.openxmlformats.org/drawingml/2006/main">
            <a:srgbClr val="111111"/>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04CBE8C1-ACC4-4AF6-9659-1A30AD76C58C}"/>
              </a:ext>
            </a:extLst>
          </p:cNvPr>
          <p:cNvSpPr>
            <a:spLocks xmlns:a="http://schemas.openxmlformats.org/drawingml/2006/main" noGrp="1"/>
          </p:cNvSpPr>
          <p:nvPr/>
        </p:nvSpPr>
        <p:spPr>
          <a:xfrm xmlns:a="http://schemas.openxmlformats.org/drawingml/2006/main">
            <a:off x="3451860" y="1905000"/>
            <a:ext cx="3048953"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FFFFFF"/>
                </a:solidFill>
              </a:defRPr>
            </a:pPr>
            <a:r>
              <a:rPr sz="1575" b="1">
                <a:solidFill>
                  <a:srgbClr val="FFFFFF"/>
                </a:solidFill>
              </a:rPr>
              <a:t>Game element</a:t>
            </a:r>
          </a:p>
        </p:txBody>
      </p:sp>
      <p:sp>
        <p:nvSpPr>
          <p:cNvPr id="8" name="">
            <a:extLst xmlns:a="http://schemas.openxmlformats.org/drawingml/2006/main">
              <a:ext uri="{FF2B5EF4-FFF2-40B4-BE49-F238E27FC236}">
                <a16:creationId xmlns:a16="http://schemas.microsoft.com/office/drawing/2014/main" id="{D1371EFD-E3B1-44D8-AE8F-E879E121E8AF}"/>
              </a:ext>
            </a:extLst>
          </p:cNvPr>
          <p:cNvSpPr>
            <a:spLocks xmlns:a="http://schemas.openxmlformats.org/drawingml/2006/main" noGrp="1"/>
          </p:cNvSpPr>
          <p:nvPr/>
        </p:nvSpPr>
        <p:spPr>
          <a:xfrm xmlns:a="http://schemas.openxmlformats.org/drawingml/2006/main">
            <a:off x="6615113" y="1809750"/>
            <a:ext cx="4757738" cy="701040"/>
          </a:xfrm>
          <a:prstGeom xmlns:a="http://schemas.openxmlformats.org/drawingml/2006/main" prst="rect">
            <a:avLst/>
          </a:prstGeom>
          <a:solidFill xmlns:a="http://schemas.openxmlformats.org/drawingml/2006/main">
            <a:srgbClr val="111111"/>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CA1E4A2C-770B-4C48-B6DC-A321026B81AB}"/>
              </a:ext>
            </a:extLst>
          </p:cNvPr>
          <p:cNvSpPr>
            <a:spLocks xmlns:a="http://schemas.openxmlformats.org/drawingml/2006/main" noGrp="1"/>
          </p:cNvSpPr>
          <p:nvPr/>
        </p:nvSpPr>
        <p:spPr>
          <a:xfrm xmlns:a="http://schemas.openxmlformats.org/drawingml/2006/main">
            <a:off x="6729413" y="1905000"/>
            <a:ext cx="4529138"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FFFFFF"/>
                </a:solidFill>
              </a:defRPr>
            </a:pPr>
            <a:r>
              <a:rPr sz="1575" b="1">
                <a:solidFill>
                  <a:srgbClr val="FFFFFF"/>
                </a:solidFill>
              </a:rPr>
              <a:t>Why it matters</a:t>
            </a:r>
          </a:p>
        </p:txBody>
      </p:sp>
      <p:sp>
        <p:nvSpPr>
          <p:cNvPr id="10" name="">
            <a:extLst xmlns:a="http://schemas.openxmlformats.org/drawingml/2006/main">
              <a:ext uri="{FF2B5EF4-FFF2-40B4-BE49-F238E27FC236}">
                <a16:creationId xmlns:a16="http://schemas.microsoft.com/office/drawing/2014/main" id="{AE548122-5972-4433-AC1A-9CC269949183}"/>
              </a:ext>
            </a:extLst>
          </p:cNvPr>
          <p:cNvSpPr>
            <a:spLocks xmlns:a="http://schemas.openxmlformats.org/drawingml/2006/main" noGrp="1"/>
          </p:cNvSpPr>
          <p:nvPr/>
        </p:nvSpPr>
        <p:spPr>
          <a:xfrm xmlns:a="http://schemas.openxmlformats.org/drawingml/2006/main">
            <a:off x="800100" y="2510790"/>
            <a:ext cx="2537460" cy="7010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E2B10EB4-3402-4446-A9A1-BEF90E67F8BE}"/>
              </a:ext>
            </a:extLst>
          </p:cNvPr>
          <p:cNvSpPr>
            <a:spLocks xmlns:a="http://schemas.openxmlformats.org/drawingml/2006/main" noGrp="1"/>
          </p:cNvSpPr>
          <p:nvPr/>
        </p:nvSpPr>
        <p:spPr>
          <a:xfrm xmlns:a="http://schemas.openxmlformats.org/drawingml/2006/main">
            <a:off x="914400" y="2606040"/>
            <a:ext cx="230886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Variable</a:t>
            </a:r>
          </a:p>
        </p:txBody>
      </p:sp>
      <p:sp>
        <p:nvSpPr>
          <p:cNvPr id="12" name="">
            <a:extLst xmlns:a="http://schemas.openxmlformats.org/drawingml/2006/main">
              <a:ext uri="{FF2B5EF4-FFF2-40B4-BE49-F238E27FC236}">
                <a16:creationId xmlns:a16="http://schemas.microsoft.com/office/drawing/2014/main" id="{D8F011ED-7146-4A2F-9762-81D07369BBC0}"/>
              </a:ext>
            </a:extLst>
          </p:cNvPr>
          <p:cNvSpPr>
            <a:spLocks xmlns:a="http://schemas.openxmlformats.org/drawingml/2006/main" noGrp="1"/>
          </p:cNvSpPr>
          <p:nvPr/>
        </p:nvSpPr>
        <p:spPr>
          <a:xfrm xmlns:a="http://schemas.openxmlformats.org/drawingml/2006/main">
            <a:off x="3337560" y="2510790"/>
            <a:ext cx="3277553" cy="7010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9D64BB42-043B-4540-A413-1BBAFD128AC3}"/>
              </a:ext>
            </a:extLst>
          </p:cNvPr>
          <p:cNvSpPr>
            <a:spLocks xmlns:a="http://schemas.openxmlformats.org/drawingml/2006/main" noGrp="1"/>
          </p:cNvSpPr>
          <p:nvPr/>
        </p:nvSpPr>
        <p:spPr>
          <a:xfrm xmlns:a="http://schemas.openxmlformats.org/drawingml/2006/main">
            <a:off x="3451860" y="2606040"/>
            <a:ext cx="3048953"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A forced route choice</a:t>
            </a:r>
          </a:p>
        </p:txBody>
      </p:sp>
      <p:sp>
        <p:nvSpPr>
          <p:cNvPr id="14" name="">
            <a:extLst xmlns:a="http://schemas.openxmlformats.org/drawingml/2006/main">
              <a:ext uri="{FF2B5EF4-FFF2-40B4-BE49-F238E27FC236}">
                <a16:creationId xmlns:a16="http://schemas.microsoft.com/office/drawing/2014/main" id="{CE7391E7-0618-40DB-BCD7-20945456A906}"/>
              </a:ext>
            </a:extLst>
          </p:cNvPr>
          <p:cNvSpPr>
            <a:spLocks xmlns:a="http://schemas.openxmlformats.org/drawingml/2006/main" noGrp="1"/>
          </p:cNvSpPr>
          <p:nvPr/>
        </p:nvSpPr>
        <p:spPr>
          <a:xfrm xmlns:a="http://schemas.openxmlformats.org/drawingml/2006/main">
            <a:off x="6615113" y="2510790"/>
            <a:ext cx="4757738" cy="7010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3D075B06-D117-4143-BF5C-0E2F7830333D}"/>
              </a:ext>
            </a:extLst>
          </p:cNvPr>
          <p:cNvSpPr>
            <a:spLocks xmlns:a="http://schemas.openxmlformats.org/drawingml/2006/main" noGrp="1"/>
          </p:cNvSpPr>
          <p:nvPr/>
        </p:nvSpPr>
        <p:spPr>
          <a:xfrm xmlns:a="http://schemas.openxmlformats.org/drawingml/2006/main">
            <a:off x="6729413" y="2606040"/>
            <a:ext cx="4529138"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The player commits to one truth value</a:t>
            </a:r>
          </a:p>
        </p:txBody>
      </p:sp>
      <p:sp>
        <p:nvSpPr>
          <p:cNvPr id="16" name="">
            <a:extLst xmlns:a="http://schemas.openxmlformats.org/drawingml/2006/main">
              <a:ext uri="{FF2B5EF4-FFF2-40B4-BE49-F238E27FC236}">
                <a16:creationId xmlns:a16="http://schemas.microsoft.com/office/drawing/2014/main" id="{371965DD-136A-4BD3-ACA6-5FFF270FF04F}"/>
              </a:ext>
            </a:extLst>
          </p:cNvPr>
          <p:cNvSpPr>
            <a:spLocks xmlns:a="http://schemas.openxmlformats.org/drawingml/2006/main" noGrp="1"/>
          </p:cNvSpPr>
          <p:nvPr/>
        </p:nvSpPr>
        <p:spPr>
          <a:xfrm xmlns:a="http://schemas.openxmlformats.org/drawingml/2006/main">
            <a:off x="800100" y="3211830"/>
            <a:ext cx="2537460" cy="7010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E1162A4E-084A-463C-A4F5-7A8A6C150B08}"/>
              </a:ext>
            </a:extLst>
          </p:cNvPr>
          <p:cNvSpPr>
            <a:spLocks xmlns:a="http://schemas.openxmlformats.org/drawingml/2006/main" noGrp="1"/>
          </p:cNvSpPr>
          <p:nvPr/>
        </p:nvSpPr>
        <p:spPr>
          <a:xfrm xmlns:a="http://schemas.openxmlformats.org/drawingml/2006/main">
            <a:off x="914400" y="3307080"/>
            <a:ext cx="230886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Literal</a:t>
            </a:r>
          </a:p>
        </p:txBody>
      </p:sp>
      <p:sp>
        <p:nvSpPr>
          <p:cNvPr id="18" name="">
            <a:extLst xmlns:a="http://schemas.openxmlformats.org/drawingml/2006/main">
              <a:ext uri="{FF2B5EF4-FFF2-40B4-BE49-F238E27FC236}">
                <a16:creationId xmlns:a16="http://schemas.microsoft.com/office/drawing/2014/main" id="{5910172A-1986-4BBC-9670-D74D7A5C6154}"/>
              </a:ext>
            </a:extLst>
          </p:cNvPr>
          <p:cNvSpPr>
            <a:spLocks xmlns:a="http://schemas.openxmlformats.org/drawingml/2006/main" noGrp="1"/>
          </p:cNvSpPr>
          <p:nvPr/>
        </p:nvSpPr>
        <p:spPr>
          <a:xfrm xmlns:a="http://schemas.openxmlformats.org/drawingml/2006/main">
            <a:off x="3337560" y="3211830"/>
            <a:ext cx="3277553" cy="7010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CD2AD1E9-31C2-450D-A8B9-AC6FAB75DA73}"/>
              </a:ext>
            </a:extLst>
          </p:cNvPr>
          <p:cNvSpPr>
            <a:spLocks xmlns:a="http://schemas.openxmlformats.org/drawingml/2006/main" noGrp="1"/>
          </p:cNvSpPr>
          <p:nvPr/>
        </p:nvSpPr>
        <p:spPr>
          <a:xfrm xmlns:a="http://schemas.openxmlformats.org/drawingml/2006/main">
            <a:off x="3451860" y="3307080"/>
            <a:ext cx="3048953"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A condition tied to a route</a:t>
            </a:r>
          </a:p>
        </p:txBody>
      </p:sp>
      <p:sp>
        <p:nvSpPr>
          <p:cNvPr id="20" name="">
            <a:extLst xmlns:a="http://schemas.openxmlformats.org/drawingml/2006/main">
              <a:ext uri="{FF2B5EF4-FFF2-40B4-BE49-F238E27FC236}">
                <a16:creationId xmlns:a16="http://schemas.microsoft.com/office/drawing/2014/main" id="{9334792E-FE5F-46CB-B085-65BF02881C6A}"/>
              </a:ext>
            </a:extLst>
          </p:cNvPr>
          <p:cNvSpPr>
            <a:spLocks xmlns:a="http://schemas.openxmlformats.org/drawingml/2006/main" noGrp="1"/>
          </p:cNvSpPr>
          <p:nvPr/>
        </p:nvSpPr>
        <p:spPr>
          <a:xfrm xmlns:a="http://schemas.openxmlformats.org/drawingml/2006/main">
            <a:off x="6615113" y="3211830"/>
            <a:ext cx="4757738" cy="7010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E8D1C4A6-6A03-4243-B30B-94FF95662319}"/>
              </a:ext>
            </a:extLst>
          </p:cNvPr>
          <p:cNvSpPr>
            <a:spLocks xmlns:a="http://schemas.openxmlformats.org/drawingml/2006/main" noGrp="1"/>
          </p:cNvSpPr>
          <p:nvPr/>
        </p:nvSpPr>
        <p:spPr>
          <a:xfrm xmlns:a="http://schemas.openxmlformats.org/drawingml/2006/main">
            <a:off x="6729413" y="3307080"/>
            <a:ext cx="4529138"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Positive and negated choices can be distinguished</a:t>
            </a:r>
          </a:p>
        </p:txBody>
      </p:sp>
      <p:sp>
        <p:nvSpPr>
          <p:cNvPr id="22" name="">
            <a:extLst xmlns:a="http://schemas.openxmlformats.org/drawingml/2006/main">
              <a:ext uri="{FF2B5EF4-FFF2-40B4-BE49-F238E27FC236}">
                <a16:creationId xmlns:a16="http://schemas.microsoft.com/office/drawing/2014/main" id="{7611182D-B3E5-4BEB-AB7B-E371FA5475EB}"/>
              </a:ext>
            </a:extLst>
          </p:cNvPr>
          <p:cNvSpPr>
            <a:spLocks xmlns:a="http://schemas.openxmlformats.org/drawingml/2006/main" noGrp="1"/>
          </p:cNvSpPr>
          <p:nvPr/>
        </p:nvSpPr>
        <p:spPr>
          <a:xfrm xmlns:a="http://schemas.openxmlformats.org/drawingml/2006/main">
            <a:off x="800100" y="3912870"/>
            <a:ext cx="2537460" cy="7010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C31853C8-BF2A-4622-92FD-8C5BC7D071C2}"/>
              </a:ext>
            </a:extLst>
          </p:cNvPr>
          <p:cNvSpPr>
            <a:spLocks xmlns:a="http://schemas.openxmlformats.org/drawingml/2006/main" noGrp="1"/>
          </p:cNvSpPr>
          <p:nvPr/>
        </p:nvSpPr>
        <p:spPr>
          <a:xfrm xmlns:a="http://schemas.openxmlformats.org/drawingml/2006/main">
            <a:off x="914400" y="4008120"/>
            <a:ext cx="230886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Clause</a:t>
            </a:r>
          </a:p>
        </p:txBody>
      </p:sp>
      <p:sp>
        <p:nvSpPr>
          <p:cNvPr id="24" name="">
            <a:extLst xmlns:a="http://schemas.openxmlformats.org/drawingml/2006/main">
              <a:ext uri="{FF2B5EF4-FFF2-40B4-BE49-F238E27FC236}">
                <a16:creationId xmlns:a16="http://schemas.microsoft.com/office/drawing/2014/main" id="{E2BAEF1F-A0BF-4CAB-8233-A247EF2EF9DD}"/>
              </a:ext>
            </a:extLst>
          </p:cNvPr>
          <p:cNvSpPr>
            <a:spLocks xmlns:a="http://schemas.openxmlformats.org/drawingml/2006/main" noGrp="1"/>
          </p:cNvSpPr>
          <p:nvPr/>
        </p:nvSpPr>
        <p:spPr>
          <a:xfrm xmlns:a="http://schemas.openxmlformats.org/drawingml/2006/main">
            <a:off x="3337560" y="3912870"/>
            <a:ext cx="3277553" cy="7010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5" name="">
            <a:extLst xmlns:a="http://schemas.openxmlformats.org/drawingml/2006/main">
              <a:ext uri="{FF2B5EF4-FFF2-40B4-BE49-F238E27FC236}">
                <a16:creationId xmlns:a16="http://schemas.microsoft.com/office/drawing/2014/main" id="{14EEF490-6572-4908-A289-1BA3E7C878A4}"/>
              </a:ext>
            </a:extLst>
          </p:cNvPr>
          <p:cNvSpPr>
            <a:spLocks xmlns:a="http://schemas.openxmlformats.org/drawingml/2006/main" noGrp="1"/>
          </p:cNvSpPr>
          <p:nvPr/>
        </p:nvSpPr>
        <p:spPr>
          <a:xfrm xmlns:a="http://schemas.openxmlformats.org/drawingml/2006/main">
            <a:off x="3451860" y="4008120"/>
            <a:ext cx="3048953"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A pass/fail gate</a:t>
            </a:r>
          </a:p>
        </p:txBody>
      </p:sp>
      <p:sp>
        <p:nvSpPr>
          <p:cNvPr id="26" name="">
            <a:extLst xmlns:a="http://schemas.openxmlformats.org/drawingml/2006/main">
              <a:ext uri="{FF2B5EF4-FFF2-40B4-BE49-F238E27FC236}">
                <a16:creationId xmlns:a16="http://schemas.microsoft.com/office/drawing/2014/main" id="{8211F4A0-C561-44A6-AA5F-FA1BF74EF2AE}"/>
              </a:ext>
            </a:extLst>
          </p:cNvPr>
          <p:cNvSpPr>
            <a:spLocks xmlns:a="http://schemas.openxmlformats.org/drawingml/2006/main" noGrp="1"/>
          </p:cNvSpPr>
          <p:nvPr/>
        </p:nvSpPr>
        <p:spPr>
          <a:xfrm xmlns:a="http://schemas.openxmlformats.org/drawingml/2006/main">
            <a:off x="6615113" y="3912870"/>
            <a:ext cx="4757738" cy="7010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EADA6CD4-9EB1-461C-8DB6-75747CE9EAAC}"/>
              </a:ext>
            </a:extLst>
          </p:cNvPr>
          <p:cNvSpPr>
            <a:spLocks xmlns:a="http://schemas.openxmlformats.org/drawingml/2006/main" noGrp="1"/>
          </p:cNvSpPr>
          <p:nvPr/>
        </p:nvSpPr>
        <p:spPr>
          <a:xfrm xmlns:a="http://schemas.openxmlformats.org/drawingml/2006/main">
            <a:off x="6729413" y="4008120"/>
            <a:ext cx="4529138"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At least one satisfied literal opens progression</a:t>
            </a:r>
          </a:p>
        </p:txBody>
      </p:sp>
      <p:sp>
        <p:nvSpPr>
          <p:cNvPr id="28" name="">
            <a:extLst xmlns:a="http://schemas.openxmlformats.org/drawingml/2006/main">
              <a:ext uri="{FF2B5EF4-FFF2-40B4-BE49-F238E27FC236}">
                <a16:creationId xmlns:a16="http://schemas.microsoft.com/office/drawing/2014/main" id="{CF20B8C3-A31F-4BDE-801F-BCE7312DE2F2}"/>
              </a:ext>
            </a:extLst>
          </p:cNvPr>
          <p:cNvSpPr>
            <a:spLocks xmlns:a="http://schemas.openxmlformats.org/drawingml/2006/main" noGrp="1"/>
          </p:cNvSpPr>
          <p:nvPr/>
        </p:nvSpPr>
        <p:spPr>
          <a:xfrm xmlns:a="http://schemas.openxmlformats.org/drawingml/2006/main">
            <a:off x="800100" y="4613910"/>
            <a:ext cx="2537460" cy="7010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9" name="">
            <a:extLst xmlns:a="http://schemas.openxmlformats.org/drawingml/2006/main">
              <a:ext uri="{FF2B5EF4-FFF2-40B4-BE49-F238E27FC236}">
                <a16:creationId xmlns:a16="http://schemas.microsoft.com/office/drawing/2014/main" id="{4BFDD0DE-8F2A-46BB-86B4-9EFB82B25135}"/>
              </a:ext>
            </a:extLst>
          </p:cNvPr>
          <p:cNvSpPr>
            <a:spLocks xmlns:a="http://schemas.openxmlformats.org/drawingml/2006/main" noGrp="1"/>
          </p:cNvSpPr>
          <p:nvPr/>
        </p:nvSpPr>
        <p:spPr>
          <a:xfrm xmlns:a="http://schemas.openxmlformats.org/drawingml/2006/main">
            <a:off x="914400" y="4709160"/>
            <a:ext cx="230886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Satisfying assignment</a:t>
            </a:r>
          </a:p>
        </p:txBody>
      </p:sp>
      <p:sp>
        <p:nvSpPr>
          <p:cNvPr id="30" name="">
            <a:extLst xmlns:a="http://schemas.openxmlformats.org/drawingml/2006/main">
              <a:ext uri="{FF2B5EF4-FFF2-40B4-BE49-F238E27FC236}">
                <a16:creationId xmlns:a16="http://schemas.microsoft.com/office/drawing/2014/main" id="{92B1B1F1-79F5-4E38-BAC9-EEA8A157D569}"/>
              </a:ext>
            </a:extLst>
          </p:cNvPr>
          <p:cNvSpPr>
            <a:spLocks xmlns:a="http://schemas.openxmlformats.org/drawingml/2006/main" noGrp="1"/>
          </p:cNvSpPr>
          <p:nvPr/>
        </p:nvSpPr>
        <p:spPr>
          <a:xfrm xmlns:a="http://schemas.openxmlformats.org/drawingml/2006/main">
            <a:off x="3337560" y="4613910"/>
            <a:ext cx="3277553" cy="7010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1" name="">
            <a:extLst xmlns:a="http://schemas.openxmlformats.org/drawingml/2006/main">
              <a:ext uri="{FF2B5EF4-FFF2-40B4-BE49-F238E27FC236}">
                <a16:creationId xmlns:a16="http://schemas.microsoft.com/office/drawing/2014/main" id="{90F8442B-D2F4-43E1-804C-E6DD88F805BC}"/>
              </a:ext>
            </a:extLst>
          </p:cNvPr>
          <p:cNvSpPr>
            <a:spLocks xmlns:a="http://schemas.openxmlformats.org/drawingml/2006/main" noGrp="1"/>
          </p:cNvSpPr>
          <p:nvPr/>
        </p:nvSpPr>
        <p:spPr>
          <a:xfrm xmlns:a="http://schemas.openxmlformats.org/drawingml/2006/main">
            <a:off x="3451860" y="4709160"/>
            <a:ext cx="3048953"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A complete clear route</a:t>
            </a:r>
          </a:p>
        </p:txBody>
      </p:sp>
      <p:sp>
        <p:nvSpPr>
          <p:cNvPr id="32" name="">
            <a:extLst xmlns:a="http://schemas.openxmlformats.org/drawingml/2006/main">
              <a:ext uri="{FF2B5EF4-FFF2-40B4-BE49-F238E27FC236}">
                <a16:creationId xmlns:a16="http://schemas.microsoft.com/office/drawing/2014/main" id="{82BF9C42-4B58-4F08-A498-3C68B092D4A9}"/>
              </a:ext>
            </a:extLst>
          </p:cNvPr>
          <p:cNvSpPr>
            <a:spLocks xmlns:a="http://schemas.openxmlformats.org/drawingml/2006/main" noGrp="1"/>
          </p:cNvSpPr>
          <p:nvPr/>
        </p:nvSpPr>
        <p:spPr>
          <a:xfrm xmlns:a="http://schemas.openxmlformats.org/drawingml/2006/main">
            <a:off x="6615113" y="4613910"/>
            <a:ext cx="4757738" cy="7010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3" name="">
            <a:extLst xmlns:a="http://schemas.openxmlformats.org/drawingml/2006/main">
              <a:ext uri="{FF2B5EF4-FFF2-40B4-BE49-F238E27FC236}">
                <a16:creationId xmlns:a16="http://schemas.microsoft.com/office/drawing/2014/main" id="{8B1725BC-300B-4EDE-AC0C-04209F7EB88F}"/>
              </a:ext>
            </a:extLst>
          </p:cNvPr>
          <p:cNvSpPr>
            <a:spLocks xmlns:a="http://schemas.openxmlformats.org/drawingml/2006/main" noGrp="1"/>
          </p:cNvSpPr>
          <p:nvPr/>
        </p:nvSpPr>
        <p:spPr>
          <a:xfrm xmlns:a="http://schemas.openxmlformats.org/drawingml/2006/main">
            <a:off x="6729413" y="4709160"/>
            <a:ext cx="4529138"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Clearability mirrors satisfiability</a:t>
            </a:r>
          </a:p>
        </p:txBody>
      </p:sp>
    </p:spTree>
    <p:extLst>
      <p:ext uri="{BB962C8B-B14F-4D97-AF65-F5344CB8AC3E}">
        <p14:creationId xmlns:p14="http://schemas.microsoft.com/office/powerpoint/2010/main" val="15033725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A6692C-83C7-45FD-8874-4479321D6738}"/>
              </a:ext>
            </a:extLst>
          </p:cNvPr>
          <p:cNvSpPr>
            <a:spLocks xmlns:a="http://schemas.openxmlformats.org/drawingml/2006/main" noGrp="1"/>
          </p:cNvSpPr>
          <p:nvPr/>
        </p:nvSpPr>
        <p:spPr>
          <a:xfrm xmlns:a="http://schemas.openxmlformats.org/drawingml/2006/main">
            <a:off x="609600" y="400050"/>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The existing 3SAT use case turns the prototype into evidence</a:t>
            </a:r>
          </a:p>
        </p:txBody>
      </p:sp>
      <p:sp>
        <p:nvSpPr>
          <p:cNvPr id="2" name="">
            <a:extLst xmlns:a="http://schemas.openxmlformats.org/drawingml/2006/main">
              <a:ext uri="{FF2B5EF4-FFF2-40B4-BE49-F238E27FC236}">
                <a16:creationId xmlns:a16="http://schemas.microsoft.com/office/drawing/2014/main" id="{AEF92E26-6D5E-4EA0-A1AD-BEB2FBC99D67}"/>
              </a:ext>
            </a:extLst>
          </p:cNvPr>
          <p:cNvSpPr>
            <a:spLocks xmlns:a="http://schemas.openxmlformats.org/drawingml/2006/main" noGrp="1"/>
          </p:cNvSpPr>
          <p:nvPr/>
        </p:nvSpPr>
        <p:spPr>
          <a:xfrm xmlns:a="http://schemas.openxmlformats.org/drawingml/2006/main">
            <a:off x="628650" y="142875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A practical stage example lets the study discuss playability, not just construction.</a:t>
            </a:r>
          </a:p>
        </p:txBody>
      </p:sp>
      <p:sp>
        <p:nvSpPr>
          <p:cNvPr id="3" name="">
            <a:extLst xmlns:a="http://schemas.openxmlformats.org/drawingml/2006/main">
              <a:ext uri="{FF2B5EF4-FFF2-40B4-BE49-F238E27FC236}">
                <a16:creationId xmlns:a16="http://schemas.microsoft.com/office/drawing/2014/main" id="{34D91403-1064-4FA5-938C-1DA2D72DD40B}"/>
              </a:ext>
            </a:extLst>
          </p:cNvPr>
          <p:cNvSpPr>
            <a:spLocks xmlns:a="http://schemas.openxmlformats.org/drawingml/2006/main" noGrp="1"/>
          </p:cNvSpPr>
          <p:nvPr/>
        </p:nvSpPr>
        <p:spPr>
          <a:xfrm xmlns:a="http://schemas.openxmlformats.org/drawingml/2006/main">
            <a:off x="11296650" y="621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06</a:t>
            </a:r>
          </a:p>
        </p:txBody>
      </p:sp>
      <p:sp>
        <p:nvSpPr>
          <p:cNvPr id="4" name="">
            <a:extLst xmlns:a="http://schemas.openxmlformats.org/drawingml/2006/main">
              <a:ext uri="{FF2B5EF4-FFF2-40B4-BE49-F238E27FC236}">
                <a16:creationId xmlns:a16="http://schemas.microsoft.com/office/drawing/2014/main" id="{758AD0A9-B4F7-4C74-AD30-82B81028E1BD}"/>
              </a:ext>
            </a:extLst>
          </p:cNvPr>
          <p:cNvSpPr>
            <a:spLocks xmlns:a="http://schemas.openxmlformats.org/drawingml/2006/main" noGrp="1"/>
          </p:cNvSpPr>
          <p:nvPr/>
        </p:nvSpPr>
        <p:spPr>
          <a:xfrm xmlns:a="http://schemas.openxmlformats.org/drawingml/2006/main">
            <a:off x="781050" y="1943100"/>
            <a:ext cx="4857750" cy="3067050"/>
          </a:xfrm>
          <a:prstGeom xmlns:a="http://schemas.openxmlformats.org/drawingml/2006/main" prst="rect">
            <a:avLst/>
          </a:prstGeom>
          <a:solidFill xmlns:a="http://schemas.openxmlformats.org/drawingml/2006/main">
            <a:srgbClr val="F7F8FA"/>
          </a:solidFill>
          <a:ln xmlns:a="http://schemas.openxmlformats.org/drawingml/2006/main" w="9525">
            <a:solidFill>
              <a:srgbClr val="D4D7DC"/>
            </a:solidFill>
            <a:prstDash val="solid"/>
          </a:ln>
        </p:spPr>
      </p:sp>
      <p:sp>
        <p:nvSpPr>
          <p:cNvPr id="5" name="">
            <a:extLst xmlns:a="http://schemas.openxmlformats.org/drawingml/2006/main">
              <a:ext uri="{FF2B5EF4-FFF2-40B4-BE49-F238E27FC236}">
                <a16:creationId xmlns:a16="http://schemas.microsoft.com/office/drawing/2014/main" id="{B5D3F0AE-9081-4C03-8B61-8749EF0842FA}"/>
              </a:ext>
            </a:extLst>
          </p:cNvPr>
          <p:cNvSpPr>
            <a:spLocks xmlns:a="http://schemas.openxmlformats.org/drawingml/2006/main" noGrp="1"/>
          </p:cNvSpPr>
          <p:nvPr/>
        </p:nvSpPr>
        <p:spPr>
          <a:xfrm xmlns:a="http://schemas.openxmlformats.org/drawingml/2006/main">
            <a:off x="1143000" y="23050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75" b="1">
                <a:solidFill>
                  <a:srgbClr val="111111"/>
                </a:solidFill>
              </a:defRPr>
            </a:pPr>
            <a:r>
              <a:rPr sz="2175" b="1">
                <a:solidFill>
                  <a:srgbClr val="111111"/>
                </a:solidFill>
              </a:rPr>
              <a:t>What the example can show</a:t>
            </a:r>
          </a:p>
        </p:txBody>
      </p:sp>
      <p:sp>
        <p:nvSpPr>
          <p:cNvPr id="6" name="">
            <a:extLst xmlns:a="http://schemas.openxmlformats.org/drawingml/2006/main">
              <a:ext uri="{FF2B5EF4-FFF2-40B4-BE49-F238E27FC236}">
                <a16:creationId xmlns:a16="http://schemas.microsoft.com/office/drawing/2014/main" id="{ADC8F21C-6FE4-4929-B65D-87D6988FC93C}"/>
              </a:ext>
            </a:extLst>
          </p:cNvPr>
          <p:cNvSpPr>
            <a:spLocks xmlns:a="http://schemas.openxmlformats.org/drawingml/2006/main" noGrp="1"/>
          </p:cNvSpPr>
          <p:nvPr/>
        </p:nvSpPr>
        <p:spPr>
          <a:xfrm xmlns:a="http://schemas.openxmlformats.org/drawingml/2006/main">
            <a:off x="1162050" y="31242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1E87FB20-0653-4090-A6EF-665C0B06DA25}"/>
              </a:ext>
            </a:extLst>
          </p:cNvPr>
          <p:cNvSpPr>
            <a:spLocks xmlns:a="http://schemas.openxmlformats.org/drawingml/2006/main" noGrp="1"/>
          </p:cNvSpPr>
          <p:nvPr/>
        </p:nvSpPr>
        <p:spPr>
          <a:xfrm xmlns:a="http://schemas.openxmlformats.org/drawingml/2006/main">
            <a:off x="1390650" y="3028950"/>
            <a:ext cx="358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111111"/>
                </a:solidFill>
              </a:defRPr>
            </a:pPr>
            <a:r>
              <a:rPr sz="1575" b="0">
                <a:solidFill>
                  <a:srgbClr val="111111"/>
                </a:solidFill>
              </a:rPr>
              <a:t>Players can read the choice structure during play</a:t>
            </a:r>
          </a:p>
        </p:txBody>
      </p:sp>
      <p:sp>
        <p:nvSpPr>
          <p:cNvPr id="8" name="">
            <a:extLst xmlns:a="http://schemas.openxmlformats.org/drawingml/2006/main">
              <a:ext uri="{FF2B5EF4-FFF2-40B4-BE49-F238E27FC236}">
                <a16:creationId xmlns:a16="http://schemas.microsoft.com/office/drawing/2014/main" id="{676A9221-8011-42DE-982E-9003AAE7EB31}"/>
              </a:ext>
            </a:extLst>
          </p:cNvPr>
          <p:cNvSpPr>
            <a:spLocks xmlns:a="http://schemas.openxmlformats.org/drawingml/2006/main" noGrp="1"/>
          </p:cNvSpPr>
          <p:nvPr/>
        </p:nvSpPr>
        <p:spPr>
          <a:xfrm xmlns:a="http://schemas.openxmlformats.org/drawingml/2006/main">
            <a:off x="1162050" y="37147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E2E18E54-D4C6-40AE-ACEA-BF5636F68BA5}"/>
              </a:ext>
            </a:extLst>
          </p:cNvPr>
          <p:cNvSpPr>
            <a:spLocks xmlns:a="http://schemas.openxmlformats.org/drawingml/2006/main" noGrp="1"/>
          </p:cNvSpPr>
          <p:nvPr/>
        </p:nvSpPr>
        <p:spPr>
          <a:xfrm xmlns:a="http://schemas.openxmlformats.org/drawingml/2006/main">
            <a:off x="1390650" y="3619500"/>
            <a:ext cx="358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111111"/>
                </a:solidFill>
              </a:defRPr>
            </a:pPr>
            <a:r>
              <a:rPr sz="1575" b="0">
                <a:solidFill>
                  <a:srgbClr val="111111"/>
                </a:solidFill>
              </a:rPr>
              <a:t>The constraint checks can be embedded into action timing</a:t>
            </a:r>
          </a:p>
        </p:txBody>
      </p:sp>
      <p:sp>
        <p:nvSpPr>
          <p:cNvPr id="10" name="">
            <a:extLst xmlns:a="http://schemas.openxmlformats.org/drawingml/2006/main">
              <a:ext uri="{FF2B5EF4-FFF2-40B4-BE49-F238E27FC236}">
                <a16:creationId xmlns:a16="http://schemas.microsoft.com/office/drawing/2014/main" id="{9ECBD119-B952-45EB-A88D-C903F5442AF8}"/>
              </a:ext>
            </a:extLst>
          </p:cNvPr>
          <p:cNvSpPr>
            <a:spLocks xmlns:a="http://schemas.openxmlformats.org/drawingml/2006/main" noGrp="1"/>
          </p:cNvSpPr>
          <p:nvPr/>
        </p:nvSpPr>
        <p:spPr>
          <a:xfrm xmlns:a="http://schemas.openxmlformats.org/drawingml/2006/main">
            <a:off x="1162050" y="43053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D3271032-BE74-48E0-A219-3373187C54F9}"/>
              </a:ext>
            </a:extLst>
          </p:cNvPr>
          <p:cNvSpPr>
            <a:spLocks xmlns:a="http://schemas.openxmlformats.org/drawingml/2006/main" noGrp="1"/>
          </p:cNvSpPr>
          <p:nvPr/>
        </p:nvSpPr>
        <p:spPr>
          <a:xfrm xmlns:a="http://schemas.openxmlformats.org/drawingml/2006/main">
            <a:off x="1390650" y="4210050"/>
            <a:ext cx="358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111111"/>
                </a:solidFill>
              </a:defRPr>
            </a:pPr>
            <a:r>
              <a:rPr sz="1575" b="0">
                <a:solidFill>
                  <a:srgbClr val="111111"/>
                </a:solidFill>
              </a:rPr>
              <a:t>The mechanism can coexist with ordinary I Wanna hazards</a:t>
            </a:r>
          </a:p>
        </p:txBody>
      </p:sp>
      <p:sp>
        <p:nvSpPr>
          <p:cNvPr id="12" name="">
            <a:extLst xmlns:a="http://schemas.openxmlformats.org/drawingml/2006/main">
              <a:ext uri="{FF2B5EF4-FFF2-40B4-BE49-F238E27FC236}">
                <a16:creationId xmlns:a16="http://schemas.microsoft.com/office/drawing/2014/main" id="{0929F146-4398-42B2-98FC-492683399630}"/>
              </a:ext>
            </a:extLst>
          </p:cNvPr>
          <p:cNvSpPr>
            <a:spLocks xmlns:a="http://schemas.openxmlformats.org/drawingml/2006/main" noGrp="1"/>
          </p:cNvSpPr>
          <p:nvPr/>
        </p:nvSpPr>
        <p:spPr>
          <a:xfrm xmlns:a="http://schemas.openxmlformats.org/drawingml/2006/main">
            <a:off x="6343650" y="1943100"/>
            <a:ext cx="4857750" cy="3067050"/>
          </a:xfrm>
          <a:prstGeom xmlns:a="http://schemas.openxmlformats.org/drawingml/2006/main" prst="rect">
            <a:avLst/>
          </a:prstGeom>
          <a:solidFill xmlns:a="http://schemas.openxmlformats.org/drawingml/2006/main">
            <a:srgbClr val="F7F8FA"/>
          </a:solidFill>
          <a:ln xmlns:a="http://schemas.openxmlformats.org/drawingml/2006/main" w="9525">
            <a:solidFill>
              <a:srgbClr val="D4D7DC"/>
            </a:solidFill>
            <a:prstDash val="solid"/>
          </a:ln>
        </p:spPr>
      </p:sp>
      <p:sp>
        <p:nvSpPr>
          <p:cNvPr id="13" name="">
            <a:extLst xmlns:a="http://schemas.openxmlformats.org/drawingml/2006/main">
              <a:ext uri="{FF2B5EF4-FFF2-40B4-BE49-F238E27FC236}">
                <a16:creationId xmlns:a16="http://schemas.microsoft.com/office/drawing/2014/main" id="{02386287-5E30-476E-B30B-7A2907969E2C}"/>
              </a:ext>
            </a:extLst>
          </p:cNvPr>
          <p:cNvSpPr>
            <a:spLocks xmlns:a="http://schemas.openxmlformats.org/drawingml/2006/main" noGrp="1"/>
          </p:cNvSpPr>
          <p:nvPr/>
        </p:nvSpPr>
        <p:spPr>
          <a:xfrm xmlns:a="http://schemas.openxmlformats.org/drawingml/2006/main">
            <a:off x="6705600" y="23050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75" b="1">
                <a:solidFill>
                  <a:srgbClr val="111111"/>
                </a:solidFill>
              </a:defRPr>
            </a:pPr>
            <a:r>
              <a:rPr sz="2175" b="1">
                <a:solidFill>
                  <a:srgbClr val="111111"/>
                </a:solidFill>
              </a:rPr>
              <a:t>What should be measured next</a:t>
            </a:r>
          </a:p>
        </p:txBody>
      </p:sp>
      <p:sp>
        <p:nvSpPr>
          <p:cNvPr id="14" name="">
            <a:extLst xmlns:a="http://schemas.openxmlformats.org/drawingml/2006/main">
              <a:ext uri="{FF2B5EF4-FFF2-40B4-BE49-F238E27FC236}">
                <a16:creationId xmlns:a16="http://schemas.microsoft.com/office/drawing/2014/main" id="{56DDF2C3-A364-46BC-9ECD-D8864D30C4AD}"/>
              </a:ext>
            </a:extLst>
          </p:cNvPr>
          <p:cNvSpPr>
            <a:spLocks xmlns:a="http://schemas.openxmlformats.org/drawingml/2006/main" noGrp="1"/>
          </p:cNvSpPr>
          <p:nvPr/>
        </p:nvSpPr>
        <p:spPr>
          <a:xfrm xmlns:a="http://schemas.openxmlformats.org/drawingml/2006/main">
            <a:off x="6724650" y="31242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5" name="">
            <a:extLst xmlns:a="http://schemas.openxmlformats.org/drawingml/2006/main">
              <a:ext uri="{FF2B5EF4-FFF2-40B4-BE49-F238E27FC236}">
                <a16:creationId xmlns:a16="http://schemas.microsoft.com/office/drawing/2014/main" id="{82A863CF-3876-43BB-BC20-68A6100E4F9E}"/>
              </a:ext>
            </a:extLst>
          </p:cNvPr>
          <p:cNvSpPr>
            <a:spLocks xmlns:a="http://schemas.openxmlformats.org/drawingml/2006/main" noGrp="1"/>
          </p:cNvSpPr>
          <p:nvPr/>
        </p:nvSpPr>
        <p:spPr>
          <a:xfrm xmlns:a="http://schemas.openxmlformats.org/drawingml/2006/main">
            <a:off x="6953250" y="3028950"/>
            <a:ext cx="358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111111"/>
                </a:solidFill>
              </a:defRPr>
            </a:pPr>
            <a:r>
              <a:rPr sz="1575" b="0">
                <a:solidFill>
                  <a:srgbClr val="111111"/>
                </a:solidFill>
              </a:rPr>
              <a:t>Time to infer the rule</a:t>
            </a:r>
          </a:p>
        </p:txBody>
      </p:sp>
      <p:sp>
        <p:nvSpPr>
          <p:cNvPr id="16" name="">
            <a:extLst xmlns:a="http://schemas.openxmlformats.org/drawingml/2006/main">
              <a:ext uri="{FF2B5EF4-FFF2-40B4-BE49-F238E27FC236}">
                <a16:creationId xmlns:a16="http://schemas.microsoft.com/office/drawing/2014/main" id="{E8D4CABA-6035-4979-9060-894A8E4B542F}"/>
              </a:ext>
            </a:extLst>
          </p:cNvPr>
          <p:cNvSpPr>
            <a:spLocks xmlns:a="http://schemas.openxmlformats.org/drawingml/2006/main" noGrp="1"/>
          </p:cNvSpPr>
          <p:nvPr/>
        </p:nvSpPr>
        <p:spPr>
          <a:xfrm xmlns:a="http://schemas.openxmlformats.org/drawingml/2006/main">
            <a:off x="6724650" y="37147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F47417B7-A5B5-46F8-A56B-2CBE8F757A82}"/>
              </a:ext>
            </a:extLst>
          </p:cNvPr>
          <p:cNvSpPr>
            <a:spLocks xmlns:a="http://schemas.openxmlformats.org/drawingml/2006/main" noGrp="1"/>
          </p:cNvSpPr>
          <p:nvPr/>
        </p:nvSpPr>
        <p:spPr>
          <a:xfrm xmlns:a="http://schemas.openxmlformats.org/drawingml/2006/main">
            <a:off x="6953250" y="3619500"/>
            <a:ext cx="358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111111"/>
                </a:solidFill>
              </a:defRPr>
            </a:pPr>
            <a:r>
              <a:rPr sz="1575" b="0">
                <a:solidFill>
                  <a:srgbClr val="111111"/>
                </a:solidFill>
              </a:rPr>
              <a:t>Failure patterns and backtracking behavior</a:t>
            </a:r>
          </a:p>
        </p:txBody>
      </p:sp>
      <p:sp>
        <p:nvSpPr>
          <p:cNvPr id="18" name="">
            <a:extLst xmlns:a="http://schemas.openxmlformats.org/drawingml/2006/main">
              <a:ext uri="{FF2B5EF4-FFF2-40B4-BE49-F238E27FC236}">
                <a16:creationId xmlns:a16="http://schemas.microsoft.com/office/drawing/2014/main" id="{B8C675DC-DAD7-4BCB-AEAB-669092760250}"/>
              </a:ext>
            </a:extLst>
          </p:cNvPr>
          <p:cNvSpPr>
            <a:spLocks xmlns:a="http://schemas.openxmlformats.org/drawingml/2006/main" noGrp="1"/>
          </p:cNvSpPr>
          <p:nvPr/>
        </p:nvSpPr>
        <p:spPr>
          <a:xfrm xmlns:a="http://schemas.openxmlformats.org/drawingml/2006/main">
            <a:off x="6724650" y="43053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9" name="">
            <a:extLst xmlns:a="http://schemas.openxmlformats.org/drawingml/2006/main">
              <a:ext uri="{FF2B5EF4-FFF2-40B4-BE49-F238E27FC236}">
                <a16:creationId xmlns:a16="http://schemas.microsoft.com/office/drawing/2014/main" id="{ABE55DCB-171D-41CC-895A-A92B5062648F}"/>
              </a:ext>
            </a:extLst>
          </p:cNvPr>
          <p:cNvSpPr>
            <a:spLocks xmlns:a="http://schemas.openxmlformats.org/drawingml/2006/main" noGrp="1"/>
          </p:cNvSpPr>
          <p:nvPr/>
        </p:nvSpPr>
        <p:spPr>
          <a:xfrm xmlns:a="http://schemas.openxmlformats.org/drawingml/2006/main">
            <a:off x="6953250" y="4210050"/>
            <a:ext cx="358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111111"/>
                </a:solidFill>
              </a:defRPr>
            </a:pPr>
            <a:r>
              <a:rPr sz="1575" b="0">
                <a:solidFill>
                  <a:srgbClr val="111111"/>
                </a:solidFill>
              </a:rPr>
              <a:t>Whether solving feels strategic or arbitrary</a:t>
            </a:r>
          </a:p>
        </p:txBody>
      </p:sp>
    </p:spTree>
    <p:extLst>
      <p:ext uri="{BB962C8B-B14F-4D97-AF65-F5344CB8AC3E}">
        <p14:creationId xmlns:p14="http://schemas.microsoft.com/office/powerpoint/2010/main" val="19703249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492D63-0690-40D7-989D-3691CE3688C2}"/>
              </a:ext>
            </a:extLst>
          </p:cNvPr>
          <p:cNvSpPr>
            <a:spLocks xmlns:a="http://schemas.openxmlformats.org/drawingml/2006/main" noGrp="1"/>
          </p:cNvSpPr>
          <p:nvPr/>
        </p:nvSpPr>
        <p:spPr>
          <a:xfrm xmlns:a="http://schemas.openxmlformats.org/drawingml/2006/main">
            <a:off x="609600" y="400050"/>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Hamilton Path maps graph traversal to route planning</a:t>
            </a:r>
          </a:p>
        </p:txBody>
      </p:sp>
      <p:sp>
        <p:nvSpPr>
          <p:cNvPr id="2" name="">
            <a:extLst xmlns:a="http://schemas.openxmlformats.org/drawingml/2006/main">
              <a:ext uri="{FF2B5EF4-FFF2-40B4-BE49-F238E27FC236}">
                <a16:creationId xmlns:a16="http://schemas.microsoft.com/office/drawing/2014/main" id="{CB40845D-F0CF-4914-B7E3-0C46C810EC15}"/>
              </a:ext>
            </a:extLst>
          </p:cNvPr>
          <p:cNvSpPr>
            <a:spLocks xmlns:a="http://schemas.openxmlformats.org/drawingml/2006/main" noGrp="1"/>
          </p:cNvSpPr>
          <p:nvPr/>
        </p:nvSpPr>
        <p:spPr>
          <a:xfrm xmlns:a="http://schemas.openxmlformats.org/drawingml/2006/main">
            <a:off x="628650" y="142875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The player must visit every vertex once while following only valid edges.</a:t>
            </a:r>
          </a:p>
        </p:txBody>
      </p:sp>
      <p:sp>
        <p:nvSpPr>
          <p:cNvPr id="3" name="">
            <a:extLst xmlns:a="http://schemas.openxmlformats.org/drawingml/2006/main">
              <a:ext uri="{FF2B5EF4-FFF2-40B4-BE49-F238E27FC236}">
                <a16:creationId xmlns:a16="http://schemas.microsoft.com/office/drawing/2014/main" id="{30C18949-7EF8-4176-8C04-50C27C036EC3}"/>
              </a:ext>
            </a:extLst>
          </p:cNvPr>
          <p:cNvSpPr>
            <a:spLocks xmlns:a="http://schemas.openxmlformats.org/drawingml/2006/main" noGrp="1"/>
          </p:cNvSpPr>
          <p:nvPr/>
        </p:nvSpPr>
        <p:spPr>
          <a:xfrm xmlns:a="http://schemas.openxmlformats.org/drawingml/2006/main">
            <a:off x="11296650" y="621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07</a:t>
            </a:r>
          </a:p>
        </p:txBody>
      </p:sp>
      <p:sp>
        <p:nvSpPr>
          <p:cNvPr id="4" name="">
            <a:extLst xmlns:a="http://schemas.openxmlformats.org/drawingml/2006/main">
              <a:ext uri="{FF2B5EF4-FFF2-40B4-BE49-F238E27FC236}">
                <a16:creationId xmlns:a16="http://schemas.microsoft.com/office/drawing/2014/main" id="{9390A363-0787-43B0-8574-AF547128FD66}"/>
              </a:ext>
            </a:extLst>
          </p:cNvPr>
          <p:cNvSpPr>
            <a:spLocks xmlns:a="http://schemas.openxmlformats.org/drawingml/2006/main" noGrp="1"/>
          </p:cNvSpPr>
          <p:nvPr/>
        </p:nvSpPr>
        <p:spPr>
          <a:xfrm xmlns:a="http://schemas.openxmlformats.org/drawingml/2006/main">
            <a:off x="2647950" y="2876550"/>
            <a:ext cx="1638300" cy="-781050"/>
          </a:xfrm>
          <a:prstGeom xmlns:a="http://schemas.openxmlformats.org/drawingml/2006/main" prst="line">
            <a:avLst/>
          </a:prstGeom>
          <a:noFill xmlns:a="http://schemas.openxmlformats.org/drawingml/2006/main"/>
          <a:ln xmlns:a="http://schemas.openxmlformats.org/drawingml/2006/main" w="28575">
            <a:solidFill>
              <a:srgbClr val="B8BCC4"/>
            </a:solidFill>
            <a:prstDash val="solid"/>
          </a:ln>
        </p:spPr>
      </p:sp>
      <p:sp>
        <p:nvSpPr>
          <p:cNvPr id="5" name="">
            <a:extLst xmlns:a="http://schemas.openxmlformats.org/drawingml/2006/main">
              <a:ext uri="{FF2B5EF4-FFF2-40B4-BE49-F238E27FC236}">
                <a16:creationId xmlns:a16="http://schemas.microsoft.com/office/drawing/2014/main" id="{CA5EEA92-391B-4164-9BF7-931024945CC5}"/>
              </a:ext>
            </a:extLst>
          </p:cNvPr>
          <p:cNvSpPr>
            <a:spLocks xmlns:a="http://schemas.openxmlformats.org/drawingml/2006/main" noGrp="1"/>
          </p:cNvSpPr>
          <p:nvPr/>
        </p:nvSpPr>
        <p:spPr>
          <a:xfrm xmlns:a="http://schemas.openxmlformats.org/drawingml/2006/main">
            <a:off x="2647950" y="2876550"/>
            <a:ext cx="1638300" cy="838200"/>
          </a:xfrm>
          <a:prstGeom xmlns:a="http://schemas.openxmlformats.org/drawingml/2006/main" prst="line">
            <a:avLst/>
          </a:prstGeom>
          <a:noFill xmlns:a="http://schemas.openxmlformats.org/drawingml/2006/main"/>
          <a:ln xmlns:a="http://schemas.openxmlformats.org/drawingml/2006/main" w="28575">
            <a:solidFill>
              <a:srgbClr val="B8BCC4"/>
            </a:solidFill>
            <a:prstDash val="solid"/>
          </a:ln>
        </p:spPr>
      </p:sp>
      <p:sp>
        <p:nvSpPr>
          <p:cNvPr id="6" name="">
            <a:extLst xmlns:a="http://schemas.openxmlformats.org/drawingml/2006/main">
              <a:ext uri="{FF2B5EF4-FFF2-40B4-BE49-F238E27FC236}">
                <a16:creationId xmlns:a16="http://schemas.microsoft.com/office/drawing/2014/main" id="{18B76DE2-AA92-44FF-8143-10C66039C218}"/>
              </a:ext>
            </a:extLst>
          </p:cNvPr>
          <p:cNvSpPr>
            <a:spLocks xmlns:a="http://schemas.openxmlformats.org/drawingml/2006/main" noGrp="1"/>
          </p:cNvSpPr>
          <p:nvPr/>
        </p:nvSpPr>
        <p:spPr>
          <a:xfrm xmlns:a="http://schemas.openxmlformats.org/drawingml/2006/main">
            <a:off x="4819650" y="2095500"/>
            <a:ext cx="1809750" cy="762000"/>
          </a:xfrm>
          <a:prstGeom xmlns:a="http://schemas.openxmlformats.org/drawingml/2006/main" prst="line">
            <a:avLst/>
          </a:prstGeom>
          <a:noFill xmlns:a="http://schemas.openxmlformats.org/drawingml/2006/main"/>
          <a:ln xmlns:a="http://schemas.openxmlformats.org/drawingml/2006/main" w="28575">
            <a:solidFill>
              <a:srgbClr val="B8BCC4"/>
            </a:solidFill>
            <a:prstDash val="solid"/>
          </a:ln>
        </p:spPr>
      </p:sp>
      <p:sp>
        <p:nvSpPr>
          <p:cNvPr id="7" name="">
            <a:extLst xmlns:a="http://schemas.openxmlformats.org/drawingml/2006/main">
              <a:ext uri="{FF2B5EF4-FFF2-40B4-BE49-F238E27FC236}">
                <a16:creationId xmlns:a16="http://schemas.microsoft.com/office/drawing/2014/main" id="{86C74BC9-9448-47F0-B36B-62D4E9D12F94}"/>
              </a:ext>
            </a:extLst>
          </p:cNvPr>
          <p:cNvSpPr>
            <a:spLocks xmlns:a="http://schemas.openxmlformats.org/drawingml/2006/main" noGrp="1"/>
          </p:cNvSpPr>
          <p:nvPr/>
        </p:nvSpPr>
        <p:spPr>
          <a:xfrm xmlns:a="http://schemas.openxmlformats.org/drawingml/2006/main">
            <a:off x="4819650" y="3714750"/>
            <a:ext cx="1809750" cy="-857250"/>
          </a:xfrm>
          <a:prstGeom xmlns:a="http://schemas.openxmlformats.org/drawingml/2006/main" prst="line">
            <a:avLst/>
          </a:prstGeom>
          <a:noFill xmlns:a="http://schemas.openxmlformats.org/drawingml/2006/main"/>
          <a:ln xmlns:a="http://schemas.openxmlformats.org/drawingml/2006/main" w="28575">
            <a:solidFill>
              <a:srgbClr val="B8BCC4"/>
            </a:solidFill>
            <a:prstDash val="solid"/>
          </a:ln>
        </p:spPr>
      </p:sp>
      <p:sp>
        <p:nvSpPr>
          <p:cNvPr id="8" name="">
            <a:extLst xmlns:a="http://schemas.openxmlformats.org/drawingml/2006/main">
              <a:ext uri="{FF2B5EF4-FFF2-40B4-BE49-F238E27FC236}">
                <a16:creationId xmlns:a16="http://schemas.microsoft.com/office/drawing/2014/main" id="{E133D50C-933A-4C94-A1C5-F2893F0BF129}"/>
              </a:ext>
            </a:extLst>
          </p:cNvPr>
          <p:cNvSpPr>
            <a:spLocks xmlns:a="http://schemas.openxmlformats.org/drawingml/2006/main" noGrp="1"/>
          </p:cNvSpPr>
          <p:nvPr/>
        </p:nvSpPr>
        <p:spPr>
          <a:xfrm xmlns:a="http://schemas.openxmlformats.org/drawingml/2006/main">
            <a:off x="7162800" y="2857500"/>
            <a:ext cx="1638300" cy="-476250"/>
          </a:xfrm>
          <a:prstGeom xmlns:a="http://schemas.openxmlformats.org/drawingml/2006/main" prst="line">
            <a:avLst/>
          </a:prstGeom>
          <a:noFill xmlns:a="http://schemas.openxmlformats.org/drawingml/2006/main"/>
          <a:ln xmlns:a="http://schemas.openxmlformats.org/drawingml/2006/main" w="28575">
            <a:solidFill>
              <a:srgbClr val="B8BCC4"/>
            </a:solidFill>
            <a:prstDash val="solid"/>
          </a:ln>
        </p:spPr>
      </p:sp>
      <p:sp>
        <p:nvSpPr>
          <p:cNvPr id="9" name="">
            <a:extLst xmlns:a="http://schemas.openxmlformats.org/drawingml/2006/main">
              <a:ext uri="{FF2B5EF4-FFF2-40B4-BE49-F238E27FC236}">
                <a16:creationId xmlns:a16="http://schemas.microsoft.com/office/drawing/2014/main" id="{85E18DCE-18B9-41F0-A598-6A1FCA6A3800}"/>
              </a:ext>
            </a:extLst>
          </p:cNvPr>
          <p:cNvSpPr>
            <a:spLocks xmlns:a="http://schemas.openxmlformats.org/drawingml/2006/main" noGrp="1"/>
          </p:cNvSpPr>
          <p:nvPr/>
        </p:nvSpPr>
        <p:spPr>
          <a:xfrm xmlns:a="http://schemas.openxmlformats.org/drawingml/2006/main">
            <a:off x="7162800" y="2857500"/>
            <a:ext cx="1638300" cy="990600"/>
          </a:xfrm>
          <a:prstGeom xmlns:a="http://schemas.openxmlformats.org/drawingml/2006/main" prst="line">
            <a:avLst/>
          </a:prstGeom>
          <a:noFill xmlns:a="http://schemas.openxmlformats.org/drawingml/2006/main"/>
          <a:ln xmlns:a="http://schemas.openxmlformats.org/drawingml/2006/main" w="28575">
            <a:solidFill>
              <a:srgbClr val="B8BCC4"/>
            </a:solidFill>
            <a:prstDash val="solid"/>
          </a:ln>
        </p:spPr>
      </p:sp>
      <p:sp>
        <p:nvSpPr>
          <p:cNvPr id="10" name="">
            <a:extLst xmlns:a="http://schemas.openxmlformats.org/drawingml/2006/main">
              <a:ext uri="{FF2B5EF4-FFF2-40B4-BE49-F238E27FC236}">
                <a16:creationId xmlns:a16="http://schemas.microsoft.com/office/drawing/2014/main" id="{CDAB093A-B1C3-427E-BD7F-BADC099133A8}"/>
              </a:ext>
            </a:extLst>
          </p:cNvPr>
          <p:cNvSpPr>
            <a:spLocks xmlns:a="http://schemas.openxmlformats.org/drawingml/2006/main" noGrp="1"/>
          </p:cNvSpPr>
          <p:nvPr/>
        </p:nvSpPr>
        <p:spPr>
          <a:xfrm xmlns:a="http://schemas.openxmlformats.org/drawingml/2006/main">
            <a:off x="2114550" y="2609850"/>
            <a:ext cx="533400" cy="533400"/>
          </a:xfrm>
          <a:prstGeom xmlns:a="http://schemas.openxmlformats.org/drawingml/2006/main" prst="ellipse">
            <a:avLst/>
          </a:prstGeom>
          <a:solidFill xmlns:a="http://schemas.openxmlformats.org/drawingml/2006/main">
            <a:srgbClr val="3D8DFF"/>
          </a:solidFill>
          <a:ln xmlns:a="http://schemas.openxmlformats.org/drawingml/2006/main" w="9525">
            <a:solidFill>
              <a:srgbClr val="222222"/>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A</a:t>
            </a:r>
          </a:p>
        </p:txBody>
      </p:sp>
      <p:sp>
        <p:nvSpPr>
          <p:cNvPr id="11" name="">
            <a:extLst xmlns:a="http://schemas.openxmlformats.org/drawingml/2006/main">
              <a:ext uri="{FF2B5EF4-FFF2-40B4-BE49-F238E27FC236}">
                <a16:creationId xmlns:a16="http://schemas.microsoft.com/office/drawing/2014/main" id="{E946F0E6-C8A3-4821-AD8E-67237BD5D390}"/>
              </a:ext>
            </a:extLst>
          </p:cNvPr>
          <p:cNvSpPr>
            <a:spLocks xmlns:a="http://schemas.openxmlformats.org/drawingml/2006/main" noGrp="1"/>
          </p:cNvSpPr>
          <p:nvPr/>
        </p:nvSpPr>
        <p:spPr>
          <a:xfrm xmlns:a="http://schemas.openxmlformats.org/drawingml/2006/main">
            <a:off x="4286250" y="1828800"/>
            <a:ext cx="533400" cy="533400"/>
          </a:xfrm>
          <a:prstGeom xmlns:a="http://schemas.openxmlformats.org/drawingml/2006/main" prst="ellipse">
            <a:avLst/>
          </a:prstGeom>
          <a:solidFill xmlns:a="http://schemas.openxmlformats.org/drawingml/2006/main">
            <a:srgbClr val="34A853"/>
          </a:solidFill>
          <a:ln xmlns:a="http://schemas.openxmlformats.org/drawingml/2006/main" w="9525">
            <a:solidFill>
              <a:srgbClr val="222222"/>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B</a:t>
            </a:r>
          </a:p>
        </p:txBody>
      </p:sp>
      <p:sp>
        <p:nvSpPr>
          <p:cNvPr id="12" name="">
            <a:extLst xmlns:a="http://schemas.openxmlformats.org/drawingml/2006/main">
              <a:ext uri="{FF2B5EF4-FFF2-40B4-BE49-F238E27FC236}">
                <a16:creationId xmlns:a16="http://schemas.microsoft.com/office/drawing/2014/main" id="{D927533E-A79C-42D2-B1E3-C0143A200D78}"/>
              </a:ext>
            </a:extLst>
          </p:cNvPr>
          <p:cNvSpPr>
            <a:spLocks xmlns:a="http://schemas.openxmlformats.org/drawingml/2006/main" noGrp="1"/>
          </p:cNvSpPr>
          <p:nvPr/>
        </p:nvSpPr>
        <p:spPr>
          <a:xfrm xmlns:a="http://schemas.openxmlformats.org/drawingml/2006/main">
            <a:off x="4286250" y="3448050"/>
            <a:ext cx="533400" cy="533400"/>
          </a:xfrm>
          <a:prstGeom xmlns:a="http://schemas.openxmlformats.org/drawingml/2006/main" prst="ellipse">
            <a:avLst/>
          </a:prstGeom>
          <a:solidFill xmlns:a="http://schemas.openxmlformats.org/drawingml/2006/main">
            <a:srgbClr val="34A853"/>
          </a:solidFill>
          <a:ln xmlns:a="http://schemas.openxmlformats.org/drawingml/2006/main" w="9525">
            <a:solidFill>
              <a:srgbClr val="222222"/>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C</a:t>
            </a:r>
          </a:p>
        </p:txBody>
      </p:sp>
      <p:sp>
        <p:nvSpPr>
          <p:cNvPr id="13" name="">
            <a:extLst xmlns:a="http://schemas.openxmlformats.org/drawingml/2006/main">
              <a:ext uri="{FF2B5EF4-FFF2-40B4-BE49-F238E27FC236}">
                <a16:creationId xmlns:a16="http://schemas.microsoft.com/office/drawing/2014/main" id="{4E891BD7-5159-4274-8BCE-20A552FCC28C}"/>
              </a:ext>
            </a:extLst>
          </p:cNvPr>
          <p:cNvSpPr>
            <a:spLocks xmlns:a="http://schemas.openxmlformats.org/drawingml/2006/main" noGrp="1"/>
          </p:cNvSpPr>
          <p:nvPr/>
        </p:nvSpPr>
        <p:spPr>
          <a:xfrm xmlns:a="http://schemas.openxmlformats.org/drawingml/2006/main">
            <a:off x="6629400" y="2590800"/>
            <a:ext cx="533400" cy="533400"/>
          </a:xfrm>
          <a:prstGeom xmlns:a="http://schemas.openxmlformats.org/drawingml/2006/main" prst="ellipse">
            <a:avLst/>
          </a:prstGeom>
          <a:solidFill xmlns:a="http://schemas.openxmlformats.org/drawingml/2006/main">
            <a:srgbClr val="F6B73C"/>
          </a:solidFill>
          <a:ln xmlns:a="http://schemas.openxmlformats.org/drawingml/2006/main" w="9525">
            <a:solidFill>
              <a:srgbClr val="222222"/>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D</a:t>
            </a:r>
          </a:p>
        </p:txBody>
      </p:sp>
      <p:sp>
        <p:nvSpPr>
          <p:cNvPr id="14" name="">
            <a:extLst xmlns:a="http://schemas.openxmlformats.org/drawingml/2006/main">
              <a:ext uri="{FF2B5EF4-FFF2-40B4-BE49-F238E27FC236}">
                <a16:creationId xmlns:a16="http://schemas.microsoft.com/office/drawing/2014/main" id="{40D34270-7E54-47AE-88F5-1FDD6FDE6B00}"/>
              </a:ext>
            </a:extLst>
          </p:cNvPr>
          <p:cNvSpPr>
            <a:spLocks xmlns:a="http://schemas.openxmlformats.org/drawingml/2006/main" noGrp="1"/>
          </p:cNvSpPr>
          <p:nvPr/>
        </p:nvSpPr>
        <p:spPr>
          <a:xfrm xmlns:a="http://schemas.openxmlformats.org/drawingml/2006/main">
            <a:off x="8801100" y="2114550"/>
            <a:ext cx="533400" cy="533400"/>
          </a:xfrm>
          <a:prstGeom xmlns:a="http://schemas.openxmlformats.org/drawingml/2006/main" prst="ellipse">
            <a:avLst/>
          </a:prstGeom>
          <a:solidFill xmlns:a="http://schemas.openxmlformats.org/drawingml/2006/main">
            <a:srgbClr val="EA4335"/>
          </a:solidFill>
          <a:ln xmlns:a="http://schemas.openxmlformats.org/drawingml/2006/main" w="9525">
            <a:solidFill>
              <a:srgbClr val="222222"/>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E</a:t>
            </a:r>
          </a:p>
        </p:txBody>
      </p:sp>
      <p:sp>
        <p:nvSpPr>
          <p:cNvPr id="15" name="">
            <a:extLst xmlns:a="http://schemas.openxmlformats.org/drawingml/2006/main">
              <a:ext uri="{FF2B5EF4-FFF2-40B4-BE49-F238E27FC236}">
                <a16:creationId xmlns:a16="http://schemas.microsoft.com/office/drawing/2014/main" id="{ED57FB88-A56C-4D47-9416-7C862C5A0751}"/>
              </a:ext>
            </a:extLst>
          </p:cNvPr>
          <p:cNvSpPr>
            <a:spLocks xmlns:a="http://schemas.openxmlformats.org/drawingml/2006/main" noGrp="1"/>
          </p:cNvSpPr>
          <p:nvPr/>
        </p:nvSpPr>
        <p:spPr>
          <a:xfrm xmlns:a="http://schemas.openxmlformats.org/drawingml/2006/main">
            <a:off x="8801100" y="3581400"/>
            <a:ext cx="533400" cy="533400"/>
          </a:xfrm>
          <a:prstGeom xmlns:a="http://schemas.openxmlformats.org/drawingml/2006/main" prst="ellipse">
            <a:avLst/>
          </a:prstGeom>
          <a:solidFill xmlns:a="http://schemas.openxmlformats.org/drawingml/2006/main">
            <a:srgbClr val="EA4335"/>
          </a:solidFill>
          <a:ln xmlns:a="http://schemas.openxmlformats.org/drawingml/2006/main" w="9525">
            <a:solidFill>
              <a:srgbClr val="222222"/>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F</a:t>
            </a:r>
          </a:p>
        </p:txBody>
      </p:sp>
      <p:sp>
        <p:nvSpPr>
          <p:cNvPr id="16" name="">
            <a:extLst xmlns:a="http://schemas.openxmlformats.org/drawingml/2006/main">
              <a:ext uri="{FF2B5EF4-FFF2-40B4-BE49-F238E27FC236}">
                <a16:creationId xmlns:a16="http://schemas.microsoft.com/office/drawing/2014/main" id="{EAAEFA3E-B284-447E-ABCD-F03A1EE8D1B3}"/>
              </a:ext>
            </a:extLst>
          </p:cNvPr>
          <p:cNvSpPr>
            <a:spLocks xmlns:a="http://schemas.openxmlformats.org/drawingml/2006/main" noGrp="1"/>
          </p:cNvSpPr>
          <p:nvPr/>
        </p:nvSpPr>
        <p:spPr>
          <a:xfrm xmlns:a="http://schemas.openxmlformats.org/drawingml/2006/main">
            <a:off x="1562100" y="52959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11111"/>
                </a:solidFill>
              </a:defRPr>
            </a:pPr>
            <a:r>
              <a:rPr sz="1875" b="1">
                <a:solidFill>
                  <a:srgbClr val="111111"/>
                </a:solidFill>
              </a:rPr>
              <a:t>A valid clear route is a Hamilton path: each vertex appears exactly once.</a:t>
            </a:r>
          </a:p>
        </p:txBody>
      </p:sp>
    </p:spTree>
    <p:extLst>
      <p:ext uri="{BB962C8B-B14F-4D97-AF65-F5344CB8AC3E}">
        <p14:creationId xmlns:p14="http://schemas.microsoft.com/office/powerpoint/2010/main" val="9773906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2D39DE-4ADE-41E4-B671-BEF86C2A3EC4}"/>
              </a:ext>
            </a:extLst>
          </p:cNvPr>
          <p:cNvSpPr>
            <a:spLocks xmlns:a="http://schemas.openxmlformats.org/drawingml/2006/main" noGrp="1"/>
          </p:cNvSpPr>
          <p:nvPr/>
        </p:nvSpPr>
        <p:spPr>
          <a:xfrm xmlns:a="http://schemas.openxmlformats.org/drawingml/2006/main">
            <a:off x="609600" y="400050"/>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The Hamilton Path gimmick has two core enforcement problems</a:t>
            </a:r>
          </a:p>
        </p:txBody>
      </p:sp>
      <p:sp>
        <p:nvSpPr>
          <p:cNvPr id="2" name="">
            <a:extLst xmlns:a="http://schemas.openxmlformats.org/drawingml/2006/main">
              <a:ext uri="{FF2B5EF4-FFF2-40B4-BE49-F238E27FC236}">
                <a16:creationId xmlns:a16="http://schemas.microsoft.com/office/drawing/2014/main" id="{5433B64D-9040-4440-ACC3-50E0125AE7EE}"/>
              </a:ext>
            </a:extLst>
          </p:cNvPr>
          <p:cNvSpPr>
            <a:spLocks xmlns:a="http://schemas.openxmlformats.org/drawingml/2006/main" noGrp="1"/>
          </p:cNvSpPr>
          <p:nvPr/>
        </p:nvSpPr>
        <p:spPr>
          <a:xfrm xmlns:a="http://schemas.openxmlformats.org/drawingml/2006/main">
            <a:off x="628650" y="142875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The stage must prevent illegal edges and repeated vertex visits.</a:t>
            </a:r>
          </a:p>
        </p:txBody>
      </p:sp>
      <p:sp>
        <p:nvSpPr>
          <p:cNvPr id="3" name="">
            <a:extLst xmlns:a="http://schemas.openxmlformats.org/drawingml/2006/main">
              <a:ext uri="{FF2B5EF4-FFF2-40B4-BE49-F238E27FC236}">
                <a16:creationId xmlns:a16="http://schemas.microsoft.com/office/drawing/2014/main" id="{B3CA7061-0DB0-401E-B87A-6E074F5FA8C8}"/>
              </a:ext>
            </a:extLst>
          </p:cNvPr>
          <p:cNvSpPr>
            <a:spLocks xmlns:a="http://schemas.openxmlformats.org/drawingml/2006/main" noGrp="1"/>
          </p:cNvSpPr>
          <p:nvPr/>
        </p:nvSpPr>
        <p:spPr>
          <a:xfrm xmlns:a="http://schemas.openxmlformats.org/drawingml/2006/main">
            <a:off x="11296650" y="621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08</a:t>
            </a:r>
          </a:p>
        </p:txBody>
      </p:sp>
      <p:sp>
        <p:nvSpPr>
          <p:cNvPr id="4" name="">
            <a:extLst xmlns:a="http://schemas.openxmlformats.org/drawingml/2006/main">
              <a:ext uri="{FF2B5EF4-FFF2-40B4-BE49-F238E27FC236}">
                <a16:creationId xmlns:a16="http://schemas.microsoft.com/office/drawing/2014/main" id="{46FA7F54-B590-4BFF-B10F-F5081C8D6AB8}"/>
              </a:ext>
            </a:extLst>
          </p:cNvPr>
          <p:cNvSpPr>
            <a:spLocks xmlns:a="http://schemas.openxmlformats.org/drawingml/2006/main" noGrp="1"/>
          </p:cNvSpPr>
          <p:nvPr/>
        </p:nvSpPr>
        <p:spPr>
          <a:xfrm xmlns:a="http://schemas.openxmlformats.org/drawingml/2006/main">
            <a:off x="857250" y="2038350"/>
            <a:ext cx="4762500" cy="2571750"/>
          </a:xfrm>
          <a:prstGeom xmlns:a="http://schemas.openxmlformats.org/drawingml/2006/main" prst="rect">
            <a:avLst/>
          </a:prstGeom>
          <a:solidFill xmlns:a="http://schemas.openxmlformats.org/drawingml/2006/main">
            <a:srgbClr val="F7F8FA"/>
          </a:solidFill>
          <a:ln xmlns:a="http://schemas.openxmlformats.org/drawingml/2006/main" w="9525">
            <a:solidFill>
              <a:srgbClr val="D4D7DC"/>
            </a:solidFill>
            <a:prstDash val="solid"/>
          </a:ln>
        </p:spPr>
      </p:sp>
      <p:sp>
        <p:nvSpPr>
          <p:cNvPr id="5" name="">
            <a:extLst xmlns:a="http://schemas.openxmlformats.org/drawingml/2006/main">
              <a:ext uri="{FF2B5EF4-FFF2-40B4-BE49-F238E27FC236}">
                <a16:creationId xmlns:a16="http://schemas.microsoft.com/office/drawing/2014/main" id="{C2C0E38F-7287-41F3-98D3-54AC10876739}"/>
              </a:ext>
            </a:extLst>
          </p:cNvPr>
          <p:cNvSpPr>
            <a:spLocks xmlns:a="http://schemas.openxmlformats.org/drawingml/2006/main" noGrp="1"/>
          </p:cNvSpPr>
          <p:nvPr/>
        </p:nvSpPr>
        <p:spPr>
          <a:xfrm xmlns:a="http://schemas.openxmlformats.org/drawingml/2006/main">
            <a:off x="6572250" y="2038350"/>
            <a:ext cx="4762500" cy="2571750"/>
          </a:xfrm>
          <a:prstGeom xmlns:a="http://schemas.openxmlformats.org/drawingml/2006/main" prst="rect">
            <a:avLst/>
          </a:prstGeom>
          <a:solidFill xmlns:a="http://schemas.openxmlformats.org/drawingml/2006/main">
            <a:srgbClr val="F7F8FA"/>
          </a:solidFill>
          <a:ln xmlns:a="http://schemas.openxmlformats.org/drawingml/2006/main" w="9525">
            <a:solidFill>
              <a:srgbClr val="D4D7DC"/>
            </a:solidFill>
            <a:prstDash val="solid"/>
          </a:ln>
        </p:spPr>
      </p:sp>
      <p:sp>
        <p:nvSpPr>
          <p:cNvPr id="6" name="">
            <a:extLst xmlns:a="http://schemas.openxmlformats.org/drawingml/2006/main">
              <a:ext uri="{FF2B5EF4-FFF2-40B4-BE49-F238E27FC236}">
                <a16:creationId xmlns:a16="http://schemas.microsoft.com/office/drawing/2014/main" id="{5E42A657-56A8-4BA2-9AB1-996A90556681}"/>
              </a:ext>
            </a:extLst>
          </p:cNvPr>
          <p:cNvSpPr>
            <a:spLocks xmlns:a="http://schemas.openxmlformats.org/drawingml/2006/main" noGrp="1"/>
          </p:cNvSpPr>
          <p:nvPr/>
        </p:nvSpPr>
        <p:spPr>
          <a:xfrm xmlns:a="http://schemas.openxmlformats.org/drawingml/2006/main">
            <a:off x="1238250" y="24003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111"/>
                </a:solidFill>
              </a:defRPr>
            </a:pPr>
            <a:r>
              <a:rPr sz="2325" b="1">
                <a:solidFill>
                  <a:srgbClr val="111111"/>
                </a:solidFill>
              </a:rPr>
              <a:t>Edge validity</a:t>
            </a:r>
          </a:p>
        </p:txBody>
      </p:sp>
      <p:sp>
        <p:nvSpPr>
          <p:cNvPr id="7" name="">
            <a:extLst xmlns:a="http://schemas.openxmlformats.org/drawingml/2006/main">
              <a:ext uri="{FF2B5EF4-FFF2-40B4-BE49-F238E27FC236}">
                <a16:creationId xmlns:a16="http://schemas.microsoft.com/office/drawing/2014/main" id="{1183F18D-B1DE-4344-9EDF-7486F5CA68F3}"/>
              </a:ext>
            </a:extLst>
          </p:cNvPr>
          <p:cNvSpPr>
            <a:spLocks xmlns:a="http://schemas.openxmlformats.org/drawingml/2006/main" noGrp="1"/>
          </p:cNvSpPr>
          <p:nvPr/>
        </p:nvSpPr>
        <p:spPr>
          <a:xfrm xmlns:a="http://schemas.openxmlformats.org/drawingml/2006/main">
            <a:off x="1238250" y="3048000"/>
            <a:ext cx="3714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A61"/>
                </a:solidFill>
              </a:defRPr>
            </a:pPr>
            <a:r>
              <a:rPr sz="1650" b="0">
                <a:solidFill>
                  <a:srgbClr val="555A61"/>
                </a:solidFill>
              </a:rPr>
              <a:t>Movement options should exist only where the original graph has an edge. Non-edges must be blocked by geometry, hazards, or state.</a:t>
            </a:r>
          </a:p>
        </p:txBody>
      </p:sp>
      <p:sp>
        <p:nvSpPr>
          <p:cNvPr id="8" name="">
            <a:extLst xmlns:a="http://schemas.openxmlformats.org/drawingml/2006/main">
              <a:ext uri="{FF2B5EF4-FFF2-40B4-BE49-F238E27FC236}">
                <a16:creationId xmlns:a16="http://schemas.microsoft.com/office/drawing/2014/main" id="{6DC88475-4F42-4DE6-8C23-73EBE977F1DA}"/>
              </a:ext>
            </a:extLst>
          </p:cNvPr>
          <p:cNvSpPr>
            <a:spLocks xmlns:a="http://schemas.openxmlformats.org/drawingml/2006/main" noGrp="1"/>
          </p:cNvSpPr>
          <p:nvPr/>
        </p:nvSpPr>
        <p:spPr>
          <a:xfrm xmlns:a="http://schemas.openxmlformats.org/drawingml/2006/main">
            <a:off x="6953250" y="24003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11111"/>
                </a:solidFill>
              </a:defRPr>
            </a:pPr>
            <a:r>
              <a:rPr sz="2325" b="1">
                <a:solidFill>
                  <a:srgbClr val="111111"/>
                </a:solidFill>
              </a:rPr>
              <a:t>Visit uniqueness</a:t>
            </a:r>
          </a:p>
        </p:txBody>
      </p:sp>
      <p:sp>
        <p:nvSpPr>
          <p:cNvPr id="9" name="">
            <a:extLst xmlns:a="http://schemas.openxmlformats.org/drawingml/2006/main">
              <a:ext uri="{FF2B5EF4-FFF2-40B4-BE49-F238E27FC236}">
                <a16:creationId xmlns:a16="http://schemas.microsoft.com/office/drawing/2014/main" id="{0C8C884A-76CE-4913-9CA3-8C35CAA9805F}"/>
              </a:ext>
            </a:extLst>
          </p:cNvPr>
          <p:cNvSpPr>
            <a:spLocks xmlns:a="http://schemas.openxmlformats.org/drawingml/2006/main" noGrp="1"/>
          </p:cNvSpPr>
          <p:nvPr/>
        </p:nvSpPr>
        <p:spPr>
          <a:xfrm xmlns:a="http://schemas.openxmlformats.org/drawingml/2006/main">
            <a:off x="6953250" y="3048000"/>
            <a:ext cx="3714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A61"/>
                </a:solidFill>
              </a:defRPr>
            </a:pPr>
            <a:r>
              <a:rPr sz="1650" b="0">
                <a:solidFill>
                  <a:srgbClr val="555A61"/>
                </a:solidFill>
              </a:rPr>
              <a:t>After a vertex is used, the corresponding route should become unavailable or fatal, forcing a one-time visit constraint.</a:t>
            </a:r>
          </a:p>
        </p:txBody>
      </p:sp>
    </p:spTree>
    <p:extLst>
      <p:ext uri="{BB962C8B-B14F-4D97-AF65-F5344CB8AC3E}">
        <p14:creationId xmlns:p14="http://schemas.microsoft.com/office/powerpoint/2010/main" val="3949347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7B97D9B-8CC2-4BBD-99AD-8446F61C428F}"/>
              </a:ext>
            </a:extLst>
          </p:cNvPr>
          <p:cNvSpPr>
            <a:spLocks xmlns:a="http://schemas.openxmlformats.org/drawingml/2006/main" noGrp="1"/>
          </p:cNvSpPr>
          <p:nvPr/>
        </p:nvSpPr>
        <p:spPr>
          <a:xfrm xmlns:a="http://schemas.openxmlformats.org/drawingml/2006/main">
            <a:off x="609600" y="400050"/>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Both gimmicks express search through player movement</a:t>
            </a:r>
          </a:p>
        </p:txBody>
      </p:sp>
      <p:sp>
        <p:nvSpPr>
          <p:cNvPr id="2" name="">
            <a:extLst xmlns:a="http://schemas.openxmlformats.org/drawingml/2006/main">
              <a:ext uri="{FF2B5EF4-FFF2-40B4-BE49-F238E27FC236}">
                <a16:creationId xmlns:a16="http://schemas.microsoft.com/office/drawing/2014/main" id="{4C7E68CE-2550-4CDD-8DAC-63EA689B948F}"/>
              </a:ext>
            </a:extLst>
          </p:cNvPr>
          <p:cNvSpPr>
            <a:spLocks xmlns:a="http://schemas.openxmlformats.org/drawingml/2006/main" noGrp="1"/>
          </p:cNvSpPr>
          <p:nvPr/>
        </p:nvSpPr>
        <p:spPr>
          <a:xfrm xmlns:a="http://schemas.openxmlformats.org/drawingml/2006/main">
            <a:off x="628650" y="142875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This shared structure is the basis for comparing them as research objects.</a:t>
            </a:r>
          </a:p>
        </p:txBody>
      </p:sp>
      <p:sp>
        <p:nvSpPr>
          <p:cNvPr id="3" name="">
            <a:extLst xmlns:a="http://schemas.openxmlformats.org/drawingml/2006/main">
              <a:ext uri="{FF2B5EF4-FFF2-40B4-BE49-F238E27FC236}">
                <a16:creationId xmlns:a16="http://schemas.microsoft.com/office/drawing/2014/main" id="{DA3B49E2-F98E-4D24-BC96-BE6974F362ED}"/>
              </a:ext>
            </a:extLst>
          </p:cNvPr>
          <p:cNvSpPr>
            <a:spLocks xmlns:a="http://schemas.openxmlformats.org/drawingml/2006/main" noGrp="1"/>
          </p:cNvSpPr>
          <p:nvPr/>
        </p:nvSpPr>
        <p:spPr>
          <a:xfrm xmlns:a="http://schemas.openxmlformats.org/drawingml/2006/main">
            <a:off x="11296650" y="621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09</a:t>
            </a:r>
          </a:p>
        </p:txBody>
      </p:sp>
      <p:sp>
        <p:nvSpPr>
          <p:cNvPr id="4" name="">
            <a:extLst xmlns:a="http://schemas.openxmlformats.org/drawingml/2006/main">
              <a:ext uri="{FF2B5EF4-FFF2-40B4-BE49-F238E27FC236}">
                <a16:creationId xmlns:a16="http://schemas.microsoft.com/office/drawing/2014/main" id="{5FE273F0-79E5-4733-89E9-991572A3D7AA}"/>
              </a:ext>
            </a:extLst>
          </p:cNvPr>
          <p:cNvSpPr>
            <a:spLocks xmlns:a="http://schemas.openxmlformats.org/drawingml/2006/main" noGrp="1"/>
          </p:cNvSpPr>
          <p:nvPr/>
        </p:nvSpPr>
        <p:spPr>
          <a:xfrm xmlns:a="http://schemas.openxmlformats.org/drawingml/2006/main">
            <a:off x="723900" y="1752600"/>
            <a:ext cx="2148840" cy="739140"/>
          </a:xfrm>
          <a:prstGeom xmlns:a="http://schemas.openxmlformats.org/drawingml/2006/main" prst="rect">
            <a:avLst/>
          </a:prstGeom>
          <a:solidFill xmlns:a="http://schemas.openxmlformats.org/drawingml/2006/main">
            <a:srgbClr val="111111"/>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6709CFC6-D6A9-4F98-8229-35710EBE855C}"/>
              </a:ext>
            </a:extLst>
          </p:cNvPr>
          <p:cNvSpPr>
            <a:spLocks xmlns:a="http://schemas.openxmlformats.org/drawingml/2006/main" noGrp="1"/>
          </p:cNvSpPr>
          <p:nvPr/>
        </p:nvSpPr>
        <p:spPr>
          <a:xfrm xmlns:a="http://schemas.openxmlformats.org/drawingml/2006/main">
            <a:off x="838200" y="1847850"/>
            <a:ext cx="1920240"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FFFFF"/>
                </a:solidFill>
              </a:defRPr>
            </a:pPr>
            <a:r>
              <a:rPr sz="1500" b="1">
                <a:solidFill>
                  <a:srgbClr val="FFFFFF"/>
                </a:solidFill>
              </a:rPr>
              <a:t>Aspect</a:t>
            </a:r>
          </a:p>
        </p:txBody>
      </p:sp>
      <p:sp>
        <p:nvSpPr>
          <p:cNvPr id="6" name="">
            <a:extLst xmlns:a="http://schemas.openxmlformats.org/drawingml/2006/main">
              <a:ext uri="{FF2B5EF4-FFF2-40B4-BE49-F238E27FC236}">
                <a16:creationId xmlns:a16="http://schemas.microsoft.com/office/drawing/2014/main" id="{ED64FC87-F3AA-4000-AD52-336E75453AED}"/>
              </a:ext>
            </a:extLst>
          </p:cNvPr>
          <p:cNvSpPr>
            <a:spLocks xmlns:a="http://schemas.openxmlformats.org/drawingml/2006/main" noGrp="1"/>
          </p:cNvSpPr>
          <p:nvPr/>
        </p:nvSpPr>
        <p:spPr>
          <a:xfrm xmlns:a="http://schemas.openxmlformats.org/drawingml/2006/main">
            <a:off x="2872740" y="1752600"/>
            <a:ext cx="4082796" cy="739140"/>
          </a:xfrm>
          <a:prstGeom xmlns:a="http://schemas.openxmlformats.org/drawingml/2006/main" prst="rect">
            <a:avLst/>
          </a:prstGeom>
          <a:solidFill xmlns:a="http://schemas.openxmlformats.org/drawingml/2006/main">
            <a:srgbClr val="111111"/>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8E15C5EE-CAED-4C1B-910A-29FAAED3C1DD}"/>
              </a:ext>
            </a:extLst>
          </p:cNvPr>
          <p:cNvSpPr>
            <a:spLocks xmlns:a="http://schemas.openxmlformats.org/drawingml/2006/main" noGrp="1"/>
          </p:cNvSpPr>
          <p:nvPr/>
        </p:nvSpPr>
        <p:spPr>
          <a:xfrm xmlns:a="http://schemas.openxmlformats.org/drawingml/2006/main">
            <a:off x="2987040" y="1847850"/>
            <a:ext cx="3854196"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FFFFF"/>
                </a:solidFill>
              </a:defRPr>
            </a:pPr>
            <a:r>
              <a:rPr sz="1500" b="1">
                <a:solidFill>
                  <a:srgbClr val="FFFFFF"/>
                </a:solidFill>
              </a:rPr>
              <a:t>3SAT</a:t>
            </a:r>
          </a:p>
        </p:txBody>
      </p:sp>
      <p:sp>
        <p:nvSpPr>
          <p:cNvPr id="8" name="">
            <a:extLst xmlns:a="http://schemas.openxmlformats.org/drawingml/2006/main">
              <a:ext uri="{FF2B5EF4-FFF2-40B4-BE49-F238E27FC236}">
                <a16:creationId xmlns:a16="http://schemas.microsoft.com/office/drawing/2014/main" id="{317BE931-D092-4C63-A0F6-562B4B1FF1F1}"/>
              </a:ext>
            </a:extLst>
          </p:cNvPr>
          <p:cNvSpPr>
            <a:spLocks xmlns:a="http://schemas.openxmlformats.org/drawingml/2006/main" noGrp="1"/>
          </p:cNvSpPr>
          <p:nvPr/>
        </p:nvSpPr>
        <p:spPr>
          <a:xfrm xmlns:a="http://schemas.openxmlformats.org/drawingml/2006/main">
            <a:off x="6955536" y="1752600"/>
            <a:ext cx="4512564" cy="739140"/>
          </a:xfrm>
          <a:prstGeom xmlns:a="http://schemas.openxmlformats.org/drawingml/2006/main" prst="rect">
            <a:avLst/>
          </a:prstGeom>
          <a:solidFill xmlns:a="http://schemas.openxmlformats.org/drawingml/2006/main">
            <a:srgbClr val="111111"/>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F9D1EA35-F14B-4B8F-943C-E79AA6BA7785}"/>
              </a:ext>
            </a:extLst>
          </p:cNvPr>
          <p:cNvSpPr>
            <a:spLocks xmlns:a="http://schemas.openxmlformats.org/drawingml/2006/main" noGrp="1"/>
          </p:cNvSpPr>
          <p:nvPr/>
        </p:nvSpPr>
        <p:spPr>
          <a:xfrm xmlns:a="http://schemas.openxmlformats.org/drawingml/2006/main">
            <a:off x="7069836" y="1847850"/>
            <a:ext cx="4283964"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FFFFF"/>
                </a:solidFill>
              </a:defRPr>
            </a:pPr>
            <a:r>
              <a:rPr sz="1500" b="1">
                <a:solidFill>
                  <a:srgbClr val="FFFFFF"/>
                </a:solidFill>
              </a:rPr>
              <a:t>Hamilton Path</a:t>
            </a:r>
          </a:p>
        </p:txBody>
      </p:sp>
      <p:sp>
        <p:nvSpPr>
          <p:cNvPr id="10" name="">
            <a:extLst xmlns:a="http://schemas.openxmlformats.org/drawingml/2006/main">
              <a:ext uri="{FF2B5EF4-FFF2-40B4-BE49-F238E27FC236}">
                <a16:creationId xmlns:a16="http://schemas.microsoft.com/office/drawing/2014/main" id="{DF5E04F1-ADF9-41E4-9E82-677215D583D8}"/>
              </a:ext>
            </a:extLst>
          </p:cNvPr>
          <p:cNvSpPr>
            <a:spLocks xmlns:a="http://schemas.openxmlformats.org/drawingml/2006/main" noGrp="1"/>
          </p:cNvSpPr>
          <p:nvPr/>
        </p:nvSpPr>
        <p:spPr>
          <a:xfrm xmlns:a="http://schemas.openxmlformats.org/drawingml/2006/main">
            <a:off x="723900" y="2491740"/>
            <a:ext cx="2148840" cy="7391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0AE3FD8F-A4ED-4C04-AE23-B6B03ACF19C2}"/>
              </a:ext>
            </a:extLst>
          </p:cNvPr>
          <p:cNvSpPr>
            <a:spLocks xmlns:a="http://schemas.openxmlformats.org/drawingml/2006/main" noGrp="1"/>
          </p:cNvSpPr>
          <p:nvPr/>
        </p:nvSpPr>
        <p:spPr>
          <a:xfrm xmlns:a="http://schemas.openxmlformats.org/drawingml/2006/main">
            <a:off x="838200" y="2586990"/>
            <a:ext cx="1920240"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Choice unit</a:t>
            </a:r>
          </a:p>
        </p:txBody>
      </p:sp>
      <p:sp>
        <p:nvSpPr>
          <p:cNvPr id="12" name="">
            <a:extLst xmlns:a="http://schemas.openxmlformats.org/drawingml/2006/main">
              <a:ext uri="{FF2B5EF4-FFF2-40B4-BE49-F238E27FC236}">
                <a16:creationId xmlns:a16="http://schemas.microsoft.com/office/drawing/2014/main" id="{5BE18BA5-5F91-4C94-ACFC-B629ADF5F680}"/>
              </a:ext>
            </a:extLst>
          </p:cNvPr>
          <p:cNvSpPr>
            <a:spLocks xmlns:a="http://schemas.openxmlformats.org/drawingml/2006/main" noGrp="1"/>
          </p:cNvSpPr>
          <p:nvPr/>
        </p:nvSpPr>
        <p:spPr>
          <a:xfrm xmlns:a="http://schemas.openxmlformats.org/drawingml/2006/main">
            <a:off x="2872740" y="2491740"/>
            <a:ext cx="4082796" cy="7391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F824EE84-2E34-448F-8479-900AB4A8FD55}"/>
              </a:ext>
            </a:extLst>
          </p:cNvPr>
          <p:cNvSpPr>
            <a:spLocks xmlns:a="http://schemas.openxmlformats.org/drawingml/2006/main" noGrp="1"/>
          </p:cNvSpPr>
          <p:nvPr/>
        </p:nvSpPr>
        <p:spPr>
          <a:xfrm xmlns:a="http://schemas.openxmlformats.org/drawingml/2006/main">
            <a:off x="2987040" y="2586990"/>
            <a:ext cx="3854196"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Truth assignment</a:t>
            </a:r>
          </a:p>
        </p:txBody>
      </p:sp>
      <p:sp>
        <p:nvSpPr>
          <p:cNvPr id="14" name="">
            <a:extLst xmlns:a="http://schemas.openxmlformats.org/drawingml/2006/main">
              <a:ext uri="{FF2B5EF4-FFF2-40B4-BE49-F238E27FC236}">
                <a16:creationId xmlns:a16="http://schemas.microsoft.com/office/drawing/2014/main" id="{B3330C98-A132-4F04-94B8-25F0BA22607C}"/>
              </a:ext>
            </a:extLst>
          </p:cNvPr>
          <p:cNvSpPr>
            <a:spLocks xmlns:a="http://schemas.openxmlformats.org/drawingml/2006/main" noGrp="1"/>
          </p:cNvSpPr>
          <p:nvPr/>
        </p:nvSpPr>
        <p:spPr>
          <a:xfrm xmlns:a="http://schemas.openxmlformats.org/drawingml/2006/main">
            <a:off x="6955536" y="2491740"/>
            <a:ext cx="4512564" cy="7391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CF3AE70D-07D1-4DAD-BF00-514D987C78BD}"/>
              </a:ext>
            </a:extLst>
          </p:cNvPr>
          <p:cNvSpPr>
            <a:spLocks xmlns:a="http://schemas.openxmlformats.org/drawingml/2006/main" noGrp="1"/>
          </p:cNvSpPr>
          <p:nvPr/>
        </p:nvSpPr>
        <p:spPr>
          <a:xfrm xmlns:a="http://schemas.openxmlformats.org/drawingml/2006/main">
            <a:off x="7069836" y="2586990"/>
            <a:ext cx="4283964"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Next vertex</a:t>
            </a:r>
          </a:p>
        </p:txBody>
      </p:sp>
      <p:sp>
        <p:nvSpPr>
          <p:cNvPr id="16" name="">
            <a:extLst xmlns:a="http://schemas.openxmlformats.org/drawingml/2006/main">
              <a:ext uri="{FF2B5EF4-FFF2-40B4-BE49-F238E27FC236}">
                <a16:creationId xmlns:a16="http://schemas.microsoft.com/office/drawing/2014/main" id="{1F672CB7-FEC4-4BBA-B0D4-D7EE90A27FD7}"/>
              </a:ext>
            </a:extLst>
          </p:cNvPr>
          <p:cNvSpPr>
            <a:spLocks xmlns:a="http://schemas.openxmlformats.org/drawingml/2006/main" noGrp="1"/>
          </p:cNvSpPr>
          <p:nvPr/>
        </p:nvSpPr>
        <p:spPr>
          <a:xfrm xmlns:a="http://schemas.openxmlformats.org/drawingml/2006/main">
            <a:off x="723900" y="3230880"/>
            <a:ext cx="2148840" cy="7391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D53AA1C4-9E19-4B9B-86DD-1B45805907CE}"/>
              </a:ext>
            </a:extLst>
          </p:cNvPr>
          <p:cNvSpPr>
            <a:spLocks xmlns:a="http://schemas.openxmlformats.org/drawingml/2006/main" noGrp="1"/>
          </p:cNvSpPr>
          <p:nvPr/>
        </p:nvSpPr>
        <p:spPr>
          <a:xfrm xmlns:a="http://schemas.openxmlformats.org/drawingml/2006/main">
            <a:off x="838200" y="3326130"/>
            <a:ext cx="1920240"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Constraint</a:t>
            </a:r>
          </a:p>
        </p:txBody>
      </p:sp>
      <p:sp>
        <p:nvSpPr>
          <p:cNvPr id="18" name="">
            <a:extLst xmlns:a="http://schemas.openxmlformats.org/drawingml/2006/main">
              <a:ext uri="{FF2B5EF4-FFF2-40B4-BE49-F238E27FC236}">
                <a16:creationId xmlns:a16="http://schemas.microsoft.com/office/drawing/2014/main" id="{85D5994D-3AA8-4260-AFF1-F654FAA30B90}"/>
              </a:ext>
            </a:extLst>
          </p:cNvPr>
          <p:cNvSpPr>
            <a:spLocks xmlns:a="http://schemas.openxmlformats.org/drawingml/2006/main" noGrp="1"/>
          </p:cNvSpPr>
          <p:nvPr/>
        </p:nvSpPr>
        <p:spPr>
          <a:xfrm xmlns:a="http://schemas.openxmlformats.org/drawingml/2006/main">
            <a:off x="2872740" y="3230880"/>
            <a:ext cx="4082796" cy="7391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4450EF98-89DC-4833-B67B-A975299C7447}"/>
              </a:ext>
            </a:extLst>
          </p:cNvPr>
          <p:cNvSpPr>
            <a:spLocks xmlns:a="http://schemas.openxmlformats.org/drawingml/2006/main" noGrp="1"/>
          </p:cNvSpPr>
          <p:nvPr/>
        </p:nvSpPr>
        <p:spPr>
          <a:xfrm xmlns:a="http://schemas.openxmlformats.org/drawingml/2006/main">
            <a:off x="2987040" y="3326130"/>
            <a:ext cx="3854196"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Every clause must be satisfied</a:t>
            </a:r>
          </a:p>
        </p:txBody>
      </p:sp>
      <p:sp>
        <p:nvSpPr>
          <p:cNvPr id="20" name="">
            <a:extLst xmlns:a="http://schemas.openxmlformats.org/drawingml/2006/main">
              <a:ext uri="{FF2B5EF4-FFF2-40B4-BE49-F238E27FC236}">
                <a16:creationId xmlns:a16="http://schemas.microsoft.com/office/drawing/2014/main" id="{011C6814-D65A-4CB9-B166-1C689D81BFB9}"/>
              </a:ext>
            </a:extLst>
          </p:cNvPr>
          <p:cNvSpPr>
            <a:spLocks xmlns:a="http://schemas.openxmlformats.org/drawingml/2006/main" noGrp="1"/>
          </p:cNvSpPr>
          <p:nvPr/>
        </p:nvSpPr>
        <p:spPr>
          <a:xfrm xmlns:a="http://schemas.openxmlformats.org/drawingml/2006/main">
            <a:off x="6955536" y="3230880"/>
            <a:ext cx="4512564" cy="7391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84ACE5F8-9E77-4326-94A8-D43F7BD9A1D2}"/>
              </a:ext>
            </a:extLst>
          </p:cNvPr>
          <p:cNvSpPr>
            <a:spLocks xmlns:a="http://schemas.openxmlformats.org/drawingml/2006/main" noGrp="1"/>
          </p:cNvSpPr>
          <p:nvPr/>
        </p:nvSpPr>
        <p:spPr>
          <a:xfrm xmlns:a="http://schemas.openxmlformats.org/drawingml/2006/main">
            <a:off x="7069836" y="3326130"/>
            <a:ext cx="4283964"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Every vertex must be visited once</a:t>
            </a:r>
          </a:p>
        </p:txBody>
      </p:sp>
      <p:sp>
        <p:nvSpPr>
          <p:cNvPr id="22" name="">
            <a:extLst xmlns:a="http://schemas.openxmlformats.org/drawingml/2006/main">
              <a:ext uri="{FF2B5EF4-FFF2-40B4-BE49-F238E27FC236}">
                <a16:creationId xmlns:a16="http://schemas.microsoft.com/office/drawing/2014/main" id="{507262BE-41E6-414C-AF9A-9EDC1A62A30F}"/>
              </a:ext>
            </a:extLst>
          </p:cNvPr>
          <p:cNvSpPr>
            <a:spLocks xmlns:a="http://schemas.openxmlformats.org/drawingml/2006/main" noGrp="1"/>
          </p:cNvSpPr>
          <p:nvPr/>
        </p:nvSpPr>
        <p:spPr>
          <a:xfrm xmlns:a="http://schemas.openxmlformats.org/drawingml/2006/main">
            <a:off x="723900" y="3970020"/>
            <a:ext cx="2148840" cy="7391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D91DBF83-884C-43E0-9028-97D35E48632A}"/>
              </a:ext>
            </a:extLst>
          </p:cNvPr>
          <p:cNvSpPr>
            <a:spLocks xmlns:a="http://schemas.openxmlformats.org/drawingml/2006/main" noGrp="1"/>
          </p:cNvSpPr>
          <p:nvPr/>
        </p:nvSpPr>
        <p:spPr>
          <a:xfrm xmlns:a="http://schemas.openxmlformats.org/drawingml/2006/main">
            <a:off x="838200" y="4065270"/>
            <a:ext cx="1920240"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Failure mode</a:t>
            </a:r>
          </a:p>
        </p:txBody>
      </p:sp>
      <p:sp>
        <p:nvSpPr>
          <p:cNvPr id="24" name="">
            <a:extLst xmlns:a="http://schemas.openxmlformats.org/drawingml/2006/main">
              <a:ext uri="{FF2B5EF4-FFF2-40B4-BE49-F238E27FC236}">
                <a16:creationId xmlns:a16="http://schemas.microsoft.com/office/drawing/2014/main" id="{94A6B51D-7C73-4440-A7DC-77C648B22C26}"/>
              </a:ext>
            </a:extLst>
          </p:cNvPr>
          <p:cNvSpPr>
            <a:spLocks xmlns:a="http://schemas.openxmlformats.org/drawingml/2006/main" noGrp="1"/>
          </p:cNvSpPr>
          <p:nvPr/>
        </p:nvSpPr>
        <p:spPr>
          <a:xfrm xmlns:a="http://schemas.openxmlformats.org/drawingml/2006/main">
            <a:off x="2872740" y="3970020"/>
            <a:ext cx="4082796" cy="7391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5" name="">
            <a:extLst xmlns:a="http://schemas.openxmlformats.org/drawingml/2006/main">
              <a:ext uri="{FF2B5EF4-FFF2-40B4-BE49-F238E27FC236}">
                <a16:creationId xmlns:a16="http://schemas.microsoft.com/office/drawing/2014/main" id="{F4ED4966-77BF-48C0-B27E-BA387538F54B}"/>
              </a:ext>
            </a:extLst>
          </p:cNvPr>
          <p:cNvSpPr>
            <a:spLocks xmlns:a="http://schemas.openxmlformats.org/drawingml/2006/main" noGrp="1"/>
          </p:cNvSpPr>
          <p:nvPr/>
        </p:nvSpPr>
        <p:spPr>
          <a:xfrm xmlns:a="http://schemas.openxmlformats.org/drawingml/2006/main">
            <a:off x="2987040" y="4065270"/>
            <a:ext cx="3854196"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An unsatisfied clause blocks progress</a:t>
            </a:r>
          </a:p>
        </p:txBody>
      </p:sp>
      <p:sp>
        <p:nvSpPr>
          <p:cNvPr id="26" name="">
            <a:extLst xmlns:a="http://schemas.openxmlformats.org/drawingml/2006/main">
              <a:ext uri="{FF2B5EF4-FFF2-40B4-BE49-F238E27FC236}">
                <a16:creationId xmlns:a16="http://schemas.microsoft.com/office/drawing/2014/main" id="{0C0A0673-102E-4D90-9B07-DF13EB7EE8D4}"/>
              </a:ext>
            </a:extLst>
          </p:cNvPr>
          <p:cNvSpPr>
            <a:spLocks xmlns:a="http://schemas.openxmlformats.org/drawingml/2006/main" noGrp="1"/>
          </p:cNvSpPr>
          <p:nvPr/>
        </p:nvSpPr>
        <p:spPr>
          <a:xfrm xmlns:a="http://schemas.openxmlformats.org/drawingml/2006/main">
            <a:off x="6955536" y="3970020"/>
            <a:ext cx="4512564" cy="7391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1EAF777F-B7FF-487E-96FF-1E4EC2AF356D}"/>
              </a:ext>
            </a:extLst>
          </p:cNvPr>
          <p:cNvSpPr>
            <a:spLocks xmlns:a="http://schemas.openxmlformats.org/drawingml/2006/main" noGrp="1"/>
          </p:cNvSpPr>
          <p:nvPr/>
        </p:nvSpPr>
        <p:spPr>
          <a:xfrm xmlns:a="http://schemas.openxmlformats.org/drawingml/2006/main">
            <a:off x="7069836" y="4065270"/>
            <a:ext cx="4283964"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A repeated vertex or missing edge blocks progress</a:t>
            </a:r>
          </a:p>
        </p:txBody>
      </p:sp>
      <p:sp>
        <p:nvSpPr>
          <p:cNvPr id="28" name="">
            <a:extLst xmlns:a="http://schemas.openxmlformats.org/drawingml/2006/main">
              <a:ext uri="{FF2B5EF4-FFF2-40B4-BE49-F238E27FC236}">
                <a16:creationId xmlns:a16="http://schemas.microsoft.com/office/drawing/2014/main" id="{F6902E69-3417-4755-9846-2A30E058B161}"/>
              </a:ext>
            </a:extLst>
          </p:cNvPr>
          <p:cNvSpPr>
            <a:spLocks xmlns:a="http://schemas.openxmlformats.org/drawingml/2006/main" noGrp="1"/>
          </p:cNvSpPr>
          <p:nvPr/>
        </p:nvSpPr>
        <p:spPr>
          <a:xfrm xmlns:a="http://schemas.openxmlformats.org/drawingml/2006/main">
            <a:off x="723900" y="4709160"/>
            <a:ext cx="2148840" cy="7391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9" name="">
            <a:extLst xmlns:a="http://schemas.openxmlformats.org/drawingml/2006/main">
              <a:ext uri="{FF2B5EF4-FFF2-40B4-BE49-F238E27FC236}">
                <a16:creationId xmlns:a16="http://schemas.microsoft.com/office/drawing/2014/main" id="{A9E037F5-DBE4-4E19-8CEC-5A68A5CCE7E3}"/>
              </a:ext>
            </a:extLst>
          </p:cNvPr>
          <p:cNvSpPr>
            <a:spLocks xmlns:a="http://schemas.openxmlformats.org/drawingml/2006/main" noGrp="1"/>
          </p:cNvSpPr>
          <p:nvPr/>
        </p:nvSpPr>
        <p:spPr>
          <a:xfrm xmlns:a="http://schemas.openxmlformats.org/drawingml/2006/main">
            <a:off x="838200" y="4804410"/>
            <a:ext cx="1920240"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Player experience</a:t>
            </a:r>
          </a:p>
        </p:txBody>
      </p:sp>
      <p:sp>
        <p:nvSpPr>
          <p:cNvPr id="30" name="">
            <a:extLst xmlns:a="http://schemas.openxmlformats.org/drawingml/2006/main">
              <a:ext uri="{FF2B5EF4-FFF2-40B4-BE49-F238E27FC236}">
                <a16:creationId xmlns:a16="http://schemas.microsoft.com/office/drawing/2014/main" id="{C8B30995-513C-4400-AD8E-7C0A63D31F37}"/>
              </a:ext>
            </a:extLst>
          </p:cNvPr>
          <p:cNvSpPr>
            <a:spLocks xmlns:a="http://schemas.openxmlformats.org/drawingml/2006/main" noGrp="1"/>
          </p:cNvSpPr>
          <p:nvPr/>
        </p:nvSpPr>
        <p:spPr>
          <a:xfrm xmlns:a="http://schemas.openxmlformats.org/drawingml/2006/main">
            <a:off x="2872740" y="4709160"/>
            <a:ext cx="4082796" cy="7391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1" name="">
            <a:extLst xmlns:a="http://schemas.openxmlformats.org/drawingml/2006/main">
              <a:ext uri="{FF2B5EF4-FFF2-40B4-BE49-F238E27FC236}">
                <a16:creationId xmlns:a16="http://schemas.microsoft.com/office/drawing/2014/main" id="{B17E540E-46CB-4CE3-8845-D2B9209A3C11}"/>
              </a:ext>
            </a:extLst>
          </p:cNvPr>
          <p:cNvSpPr>
            <a:spLocks xmlns:a="http://schemas.openxmlformats.org/drawingml/2006/main" noGrp="1"/>
          </p:cNvSpPr>
          <p:nvPr/>
        </p:nvSpPr>
        <p:spPr>
          <a:xfrm xmlns:a="http://schemas.openxmlformats.org/drawingml/2006/main">
            <a:off x="2987040" y="4804410"/>
            <a:ext cx="3854196"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Commit, test, revise</a:t>
            </a:r>
          </a:p>
        </p:txBody>
      </p:sp>
      <p:sp>
        <p:nvSpPr>
          <p:cNvPr id="32" name="">
            <a:extLst xmlns:a="http://schemas.openxmlformats.org/drawingml/2006/main">
              <a:ext uri="{FF2B5EF4-FFF2-40B4-BE49-F238E27FC236}">
                <a16:creationId xmlns:a16="http://schemas.microsoft.com/office/drawing/2014/main" id="{3ED7874B-28DE-4604-AADC-54266442FD34}"/>
              </a:ext>
            </a:extLst>
          </p:cNvPr>
          <p:cNvSpPr>
            <a:spLocks xmlns:a="http://schemas.openxmlformats.org/drawingml/2006/main" noGrp="1"/>
          </p:cNvSpPr>
          <p:nvPr/>
        </p:nvSpPr>
        <p:spPr>
          <a:xfrm xmlns:a="http://schemas.openxmlformats.org/drawingml/2006/main">
            <a:off x="6955536" y="4709160"/>
            <a:ext cx="4512564" cy="73914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3" name="">
            <a:extLst xmlns:a="http://schemas.openxmlformats.org/drawingml/2006/main">
              <a:ext uri="{FF2B5EF4-FFF2-40B4-BE49-F238E27FC236}">
                <a16:creationId xmlns:a16="http://schemas.microsoft.com/office/drawing/2014/main" id="{67D1D77F-6150-4EE1-864E-C65F93931981}"/>
              </a:ext>
            </a:extLst>
          </p:cNvPr>
          <p:cNvSpPr>
            <a:spLocks xmlns:a="http://schemas.openxmlformats.org/drawingml/2006/main" noGrp="1"/>
          </p:cNvSpPr>
          <p:nvPr/>
        </p:nvSpPr>
        <p:spPr>
          <a:xfrm xmlns:a="http://schemas.openxmlformats.org/drawingml/2006/main">
            <a:off x="7069836" y="4804410"/>
            <a:ext cx="4283964"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Plan, traverse, avoid reuse</a:t>
            </a:r>
          </a:p>
        </p:txBody>
      </p:sp>
    </p:spTree>
    <p:extLst>
      <p:ext uri="{BB962C8B-B14F-4D97-AF65-F5344CB8AC3E}">
        <p14:creationId xmlns:p14="http://schemas.microsoft.com/office/powerpoint/2010/main" val="9858637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6DEDBE-6F58-42B5-BED3-04D4FD268307}"/>
              </a:ext>
            </a:extLst>
          </p:cNvPr>
          <p:cNvSpPr>
            <a:spLocks xmlns:a="http://schemas.openxmlformats.org/drawingml/2006/main" noGrp="1"/>
          </p:cNvSpPr>
          <p:nvPr/>
        </p:nvSpPr>
        <p:spPr>
          <a:xfrm xmlns:a="http://schemas.openxmlformats.org/drawingml/2006/main">
            <a:off x="609600" y="400050"/>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The research contribution can be framed at three levels</a:t>
            </a:r>
          </a:p>
        </p:txBody>
      </p:sp>
      <p:sp>
        <p:nvSpPr>
          <p:cNvPr id="2" name="">
            <a:extLst xmlns:a="http://schemas.openxmlformats.org/drawingml/2006/main">
              <a:ext uri="{FF2B5EF4-FFF2-40B4-BE49-F238E27FC236}">
                <a16:creationId xmlns:a16="http://schemas.microsoft.com/office/drawing/2014/main" id="{1A8EDBAA-7970-42C7-BF7E-5CA710CF8A65}"/>
              </a:ext>
            </a:extLst>
          </p:cNvPr>
          <p:cNvSpPr>
            <a:spLocks xmlns:a="http://schemas.openxmlformats.org/drawingml/2006/main" noGrp="1"/>
          </p:cNvSpPr>
          <p:nvPr/>
        </p:nvSpPr>
        <p:spPr>
          <a:xfrm xmlns:a="http://schemas.openxmlformats.org/drawingml/2006/main">
            <a:off x="628650" y="142875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This keeps the talk balanced between theory, implementation, and game design.</a:t>
            </a:r>
          </a:p>
        </p:txBody>
      </p:sp>
      <p:sp>
        <p:nvSpPr>
          <p:cNvPr id="3" name="">
            <a:extLst xmlns:a="http://schemas.openxmlformats.org/drawingml/2006/main">
              <a:ext uri="{FF2B5EF4-FFF2-40B4-BE49-F238E27FC236}">
                <a16:creationId xmlns:a16="http://schemas.microsoft.com/office/drawing/2014/main" id="{1674766E-041B-44AF-B4BA-6CC6CB1A48AB}"/>
              </a:ext>
            </a:extLst>
          </p:cNvPr>
          <p:cNvSpPr>
            <a:spLocks xmlns:a="http://schemas.openxmlformats.org/drawingml/2006/main" noGrp="1"/>
          </p:cNvSpPr>
          <p:nvPr/>
        </p:nvSpPr>
        <p:spPr>
          <a:xfrm xmlns:a="http://schemas.openxmlformats.org/drawingml/2006/main">
            <a:off x="11296650" y="621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10</a:t>
            </a:r>
          </a:p>
        </p:txBody>
      </p:sp>
      <p:sp>
        <p:nvSpPr>
          <p:cNvPr id="4" name="">
            <a:extLst xmlns:a="http://schemas.openxmlformats.org/drawingml/2006/main">
              <a:ext uri="{FF2B5EF4-FFF2-40B4-BE49-F238E27FC236}">
                <a16:creationId xmlns:a16="http://schemas.microsoft.com/office/drawing/2014/main" id="{04A340B7-6B4C-4401-9047-48A85B3B5DAE}"/>
              </a:ext>
            </a:extLst>
          </p:cNvPr>
          <p:cNvSpPr>
            <a:spLocks xmlns:a="http://schemas.openxmlformats.org/drawingml/2006/main" noGrp="1"/>
          </p:cNvSpPr>
          <p:nvPr/>
        </p:nvSpPr>
        <p:spPr>
          <a:xfrm xmlns:a="http://schemas.openxmlformats.org/drawingml/2006/main">
            <a:off x="685800" y="2152650"/>
            <a:ext cx="3143250" cy="2381250"/>
          </a:xfrm>
          <a:prstGeom xmlns:a="http://schemas.openxmlformats.org/drawingml/2006/main" prst="rect">
            <a:avLst/>
          </a:prstGeom>
          <a:solidFill xmlns:a="http://schemas.openxmlformats.org/drawingml/2006/main">
            <a:srgbClr val="F7F8FA"/>
          </a:solidFill>
          <a:ln xmlns:a="http://schemas.openxmlformats.org/drawingml/2006/main" w="9525">
            <a:solidFill>
              <a:srgbClr val="D4D7DC"/>
            </a:solidFill>
            <a:prstDash val="solid"/>
          </a:ln>
        </p:spPr>
      </p:sp>
      <p:sp>
        <p:nvSpPr>
          <p:cNvPr id="5" name="">
            <a:extLst xmlns:a="http://schemas.openxmlformats.org/drawingml/2006/main">
              <a:ext uri="{FF2B5EF4-FFF2-40B4-BE49-F238E27FC236}">
                <a16:creationId xmlns:a16="http://schemas.microsoft.com/office/drawing/2014/main" id="{A05C0850-0E2C-4643-9C61-CAC1E3CBE9C0}"/>
              </a:ext>
            </a:extLst>
          </p:cNvPr>
          <p:cNvSpPr>
            <a:spLocks xmlns:a="http://schemas.openxmlformats.org/drawingml/2006/main" noGrp="1"/>
          </p:cNvSpPr>
          <p:nvPr/>
        </p:nvSpPr>
        <p:spPr>
          <a:xfrm xmlns:a="http://schemas.openxmlformats.org/drawingml/2006/main">
            <a:off x="4514850" y="2152650"/>
            <a:ext cx="3143250" cy="2381250"/>
          </a:xfrm>
          <a:prstGeom xmlns:a="http://schemas.openxmlformats.org/drawingml/2006/main" prst="rect">
            <a:avLst/>
          </a:prstGeom>
          <a:solidFill xmlns:a="http://schemas.openxmlformats.org/drawingml/2006/main">
            <a:srgbClr val="F7F8FA"/>
          </a:solidFill>
          <a:ln xmlns:a="http://schemas.openxmlformats.org/drawingml/2006/main" w="9525">
            <a:solidFill>
              <a:srgbClr val="D4D7DC"/>
            </a:solidFill>
            <a:prstDash val="solid"/>
          </a:ln>
        </p:spPr>
      </p:sp>
      <p:sp>
        <p:nvSpPr>
          <p:cNvPr id="6" name="">
            <a:extLst xmlns:a="http://schemas.openxmlformats.org/drawingml/2006/main">
              <a:ext uri="{FF2B5EF4-FFF2-40B4-BE49-F238E27FC236}">
                <a16:creationId xmlns:a16="http://schemas.microsoft.com/office/drawing/2014/main" id="{879E5774-63D4-4C95-9A32-995CBD9198EB}"/>
              </a:ext>
            </a:extLst>
          </p:cNvPr>
          <p:cNvSpPr>
            <a:spLocks xmlns:a="http://schemas.openxmlformats.org/drawingml/2006/main" noGrp="1"/>
          </p:cNvSpPr>
          <p:nvPr/>
        </p:nvSpPr>
        <p:spPr>
          <a:xfrm xmlns:a="http://schemas.openxmlformats.org/drawingml/2006/main">
            <a:off x="8343900" y="2152650"/>
            <a:ext cx="3143250" cy="2381250"/>
          </a:xfrm>
          <a:prstGeom xmlns:a="http://schemas.openxmlformats.org/drawingml/2006/main" prst="rect">
            <a:avLst/>
          </a:prstGeom>
          <a:solidFill xmlns:a="http://schemas.openxmlformats.org/drawingml/2006/main">
            <a:srgbClr val="F7F8FA"/>
          </a:solidFill>
          <a:ln xmlns:a="http://schemas.openxmlformats.org/drawingml/2006/main" w="9525">
            <a:solidFill>
              <a:srgbClr val="D4D7DC"/>
            </a:solidFill>
            <a:prstDash val="solid"/>
          </a:ln>
        </p:spPr>
      </p:sp>
      <p:sp>
        <p:nvSpPr>
          <p:cNvPr id="7" name="">
            <a:extLst xmlns:a="http://schemas.openxmlformats.org/drawingml/2006/main">
              <a:ext uri="{FF2B5EF4-FFF2-40B4-BE49-F238E27FC236}">
                <a16:creationId xmlns:a16="http://schemas.microsoft.com/office/drawing/2014/main" id="{F27C09B4-92BE-43DF-8CAE-9DA8AF7780DC}"/>
              </a:ext>
            </a:extLst>
          </p:cNvPr>
          <p:cNvSpPr>
            <a:spLocks xmlns:a="http://schemas.openxmlformats.org/drawingml/2006/main" noGrp="1"/>
          </p:cNvSpPr>
          <p:nvPr/>
        </p:nvSpPr>
        <p:spPr>
          <a:xfrm xmlns:a="http://schemas.openxmlformats.org/drawingml/2006/main">
            <a:off x="990600" y="24765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3D8DFF"/>
                </a:solidFill>
              </a:defRPr>
            </a:pPr>
            <a:r>
              <a:rPr sz="2025" b="1">
                <a:solidFill>
                  <a:srgbClr val="3D8DFF"/>
                </a:solidFill>
              </a:rPr>
              <a:t>Computational</a:t>
            </a:r>
          </a:p>
        </p:txBody>
      </p:sp>
      <p:sp>
        <p:nvSpPr>
          <p:cNvPr id="8" name="">
            <a:extLst xmlns:a="http://schemas.openxmlformats.org/drawingml/2006/main">
              <a:ext uri="{FF2B5EF4-FFF2-40B4-BE49-F238E27FC236}">
                <a16:creationId xmlns:a16="http://schemas.microsoft.com/office/drawing/2014/main" id="{72406A10-FA9D-47D7-BF51-3AC2AD8DD3E2}"/>
              </a:ext>
            </a:extLst>
          </p:cNvPr>
          <p:cNvSpPr>
            <a:spLocks xmlns:a="http://schemas.openxmlformats.org/drawingml/2006/main" noGrp="1"/>
          </p:cNvSpPr>
          <p:nvPr/>
        </p:nvSpPr>
        <p:spPr>
          <a:xfrm xmlns:a="http://schemas.openxmlformats.org/drawingml/2006/main">
            <a:off x="990600" y="3181350"/>
            <a:ext cx="2362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A61"/>
                </a:solidFill>
              </a:defRPr>
            </a:pPr>
            <a:r>
              <a:rPr sz="1650" b="0">
                <a:solidFill>
                  <a:srgbClr val="555A61"/>
                </a:solidFill>
              </a:rPr>
              <a:t>Clearability can be related to satisfiability or path existence.</a:t>
            </a:r>
          </a:p>
        </p:txBody>
      </p:sp>
      <p:sp>
        <p:nvSpPr>
          <p:cNvPr id="9" name="">
            <a:extLst xmlns:a="http://schemas.openxmlformats.org/drawingml/2006/main">
              <a:ext uri="{FF2B5EF4-FFF2-40B4-BE49-F238E27FC236}">
                <a16:creationId xmlns:a16="http://schemas.microsoft.com/office/drawing/2014/main" id="{D7B0A00E-A281-46BA-B89C-83C9DD6AE524}"/>
              </a:ext>
            </a:extLst>
          </p:cNvPr>
          <p:cNvSpPr>
            <a:spLocks xmlns:a="http://schemas.openxmlformats.org/drawingml/2006/main" noGrp="1"/>
          </p:cNvSpPr>
          <p:nvPr/>
        </p:nvSpPr>
        <p:spPr>
          <a:xfrm xmlns:a="http://schemas.openxmlformats.org/drawingml/2006/main">
            <a:off x="4819650" y="24765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34A853"/>
                </a:solidFill>
              </a:defRPr>
            </a:pPr>
            <a:r>
              <a:rPr sz="2025" b="1">
                <a:solidFill>
                  <a:srgbClr val="34A853"/>
                </a:solidFill>
              </a:rPr>
              <a:t>Educational</a:t>
            </a:r>
          </a:p>
        </p:txBody>
      </p:sp>
      <p:sp>
        <p:nvSpPr>
          <p:cNvPr id="10" name="">
            <a:extLst xmlns:a="http://schemas.openxmlformats.org/drawingml/2006/main">
              <a:ext uri="{FF2B5EF4-FFF2-40B4-BE49-F238E27FC236}">
                <a16:creationId xmlns:a16="http://schemas.microsoft.com/office/drawing/2014/main" id="{54943EBA-8506-4A03-BE37-1A771BFCF58C}"/>
              </a:ext>
            </a:extLst>
          </p:cNvPr>
          <p:cNvSpPr>
            <a:spLocks xmlns:a="http://schemas.openxmlformats.org/drawingml/2006/main" noGrp="1"/>
          </p:cNvSpPr>
          <p:nvPr/>
        </p:nvSpPr>
        <p:spPr>
          <a:xfrm xmlns:a="http://schemas.openxmlformats.org/drawingml/2006/main">
            <a:off x="4819650" y="3181350"/>
            <a:ext cx="2362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A61"/>
                </a:solidFill>
              </a:defRPr>
            </a:pPr>
            <a:r>
              <a:rPr sz="1650" b="0">
                <a:solidFill>
                  <a:srgbClr val="555A61"/>
                </a:solidFill>
              </a:rPr>
              <a:t>Abstract NP-complete problems become visible and playable.</a:t>
            </a:r>
          </a:p>
        </p:txBody>
      </p:sp>
      <p:sp>
        <p:nvSpPr>
          <p:cNvPr id="11" name="">
            <a:extLst xmlns:a="http://schemas.openxmlformats.org/drawingml/2006/main">
              <a:ext uri="{FF2B5EF4-FFF2-40B4-BE49-F238E27FC236}">
                <a16:creationId xmlns:a16="http://schemas.microsoft.com/office/drawing/2014/main" id="{3D79D2E8-3F74-49D3-A415-BB56D9A773D8}"/>
              </a:ext>
            </a:extLst>
          </p:cNvPr>
          <p:cNvSpPr>
            <a:spLocks xmlns:a="http://schemas.openxmlformats.org/drawingml/2006/main" noGrp="1"/>
          </p:cNvSpPr>
          <p:nvPr/>
        </p:nvSpPr>
        <p:spPr>
          <a:xfrm xmlns:a="http://schemas.openxmlformats.org/drawingml/2006/main">
            <a:off x="8648700" y="24765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EA4335"/>
                </a:solidFill>
              </a:defRPr>
            </a:pPr>
            <a:r>
              <a:rPr sz="2025" b="1">
                <a:solidFill>
                  <a:srgbClr val="EA4335"/>
                </a:solidFill>
              </a:rPr>
              <a:t>Design</a:t>
            </a:r>
          </a:p>
        </p:txBody>
      </p:sp>
      <p:sp>
        <p:nvSpPr>
          <p:cNvPr id="12" name="">
            <a:extLst xmlns:a="http://schemas.openxmlformats.org/drawingml/2006/main">
              <a:ext uri="{FF2B5EF4-FFF2-40B4-BE49-F238E27FC236}">
                <a16:creationId xmlns:a16="http://schemas.microsoft.com/office/drawing/2014/main" id="{FFD6998A-B990-4641-9F7E-29DCB81EA080}"/>
              </a:ext>
            </a:extLst>
          </p:cNvPr>
          <p:cNvSpPr>
            <a:spLocks xmlns:a="http://schemas.openxmlformats.org/drawingml/2006/main" noGrp="1"/>
          </p:cNvSpPr>
          <p:nvPr/>
        </p:nvSpPr>
        <p:spPr>
          <a:xfrm xmlns:a="http://schemas.openxmlformats.org/drawingml/2006/main">
            <a:off x="8648700" y="3181350"/>
            <a:ext cx="2362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A61"/>
                </a:solidFill>
              </a:defRPr>
            </a:pPr>
            <a:r>
              <a:rPr sz="1650" b="0">
                <a:solidFill>
                  <a:srgbClr val="555A61"/>
                </a:solidFill>
              </a:rPr>
              <a:t>Problem instances can inspire systematic stage-generation rules.</a:t>
            </a:r>
          </a:p>
        </p:txBody>
      </p:sp>
    </p:spTree>
    <p:extLst>
      <p:ext uri="{BB962C8B-B14F-4D97-AF65-F5344CB8AC3E}">
        <p14:creationId xmlns:p14="http://schemas.microsoft.com/office/powerpoint/2010/main" val="1691536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C0C8D5-CFED-45DA-8CA7-BE5FFCB0D7C4}"/>
              </a:ext>
            </a:extLst>
          </p:cNvPr>
          <p:cNvSpPr>
            <a:spLocks xmlns:a="http://schemas.openxmlformats.org/drawingml/2006/main" noGrp="1"/>
          </p:cNvSpPr>
          <p:nvPr/>
        </p:nvSpPr>
        <p:spPr>
          <a:xfrm xmlns:a="http://schemas.openxmlformats.org/drawingml/2006/main">
            <a:off x="609600" y="400050"/>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Evaluation should separate correctness from playability</a:t>
            </a:r>
          </a:p>
        </p:txBody>
      </p:sp>
      <p:sp>
        <p:nvSpPr>
          <p:cNvPr id="2" name="">
            <a:extLst xmlns:a="http://schemas.openxmlformats.org/drawingml/2006/main">
              <a:ext uri="{FF2B5EF4-FFF2-40B4-BE49-F238E27FC236}">
                <a16:creationId xmlns:a16="http://schemas.microsoft.com/office/drawing/2014/main" id="{B7582ACB-9D2C-4A24-A81D-227FEF1B24C2}"/>
              </a:ext>
            </a:extLst>
          </p:cNvPr>
          <p:cNvSpPr>
            <a:spLocks xmlns:a="http://schemas.openxmlformats.org/drawingml/2006/main" noGrp="1"/>
          </p:cNvSpPr>
          <p:nvPr/>
        </p:nvSpPr>
        <p:spPr>
          <a:xfrm xmlns:a="http://schemas.openxmlformats.org/drawingml/2006/main">
            <a:off x="628650" y="142875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A stage can be logically faithful and still fail as a game experience.</a:t>
            </a:r>
          </a:p>
        </p:txBody>
      </p:sp>
      <p:sp>
        <p:nvSpPr>
          <p:cNvPr id="3" name="">
            <a:extLst xmlns:a="http://schemas.openxmlformats.org/drawingml/2006/main">
              <a:ext uri="{FF2B5EF4-FFF2-40B4-BE49-F238E27FC236}">
                <a16:creationId xmlns:a16="http://schemas.microsoft.com/office/drawing/2014/main" id="{A7861B8E-61B2-48A6-90CD-50CCC62F4079}"/>
              </a:ext>
            </a:extLst>
          </p:cNvPr>
          <p:cNvSpPr>
            <a:spLocks xmlns:a="http://schemas.openxmlformats.org/drawingml/2006/main" noGrp="1"/>
          </p:cNvSpPr>
          <p:nvPr/>
        </p:nvSpPr>
        <p:spPr>
          <a:xfrm xmlns:a="http://schemas.openxmlformats.org/drawingml/2006/main">
            <a:off x="11296650" y="621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11</a:t>
            </a:r>
          </a:p>
        </p:txBody>
      </p:sp>
      <p:sp>
        <p:nvSpPr>
          <p:cNvPr id="4" name="">
            <a:extLst xmlns:a="http://schemas.openxmlformats.org/drawingml/2006/main">
              <a:ext uri="{FF2B5EF4-FFF2-40B4-BE49-F238E27FC236}">
                <a16:creationId xmlns:a16="http://schemas.microsoft.com/office/drawing/2014/main" id="{2CAAB0E1-A72C-4C74-9B3C-5CB15A158F06}"/>
              </a:ext>
            </a:extLst>
          </p:cNvPr>
          <p:cNvSpPr>
            <a:spLocks xmlns:a="http://schemas.openxmlformats.org/drawingml/2006/main" noGrp="1"/>
          </p:cNvSpPr>
          <p:nvPr/>
        </p:nvSpPr>
        <p:spPr>
          <a:xfrm xmlns:a="http://schemas.openxmlformats.org/drawingml/2006/main">
            <a:off x="628650" y="1790700"/>
            <a:ext cx="2405634" cy="742950"/>
          </a:xfrm>
          <a:prstGeom xmlns:a="http://schemas.openxmlformats.org/drawingml/2006/main" prst="rect">
            <a:avLst/>
          </a:prstGeom>
          <a:solidFill xmlns:a="http://schemas.openxmlformats.org/drawingml/2006/main">
            <a:srgbClr val="111111"/>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F28A21E2-FFDA-4A58-B9C3-C8EC9C626362}"/>
              </a:ext>
            </a:extLst>
          </p:cNvPr>
          <p:cNvSpPr>
            <a:spLocks xmlns:a="http://schemas.openxmlformats.org/drawingml/2006/main" noGrp="1"/>
          </p:cNvSpPr>
          <p:nvPr/>
        </p:nvSpPr>
        <p:spPr>
          <a:xfrm xmlns:a="http://schemas.openxmlformats.org/drawingml/2006/main">
            <a:off x="742950" y="1885950"/>
            <a:ext cx="2177034"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FFFFFF"/>
                </a:solidFill>
              </a:defRPr>
            </a:pPr>
            <a:r>
              <a:rPr sz="1425" b="1">
                <a:solidFill>
                  <a:srgbClr val="FFFFFF"/>
                </a:solidFill>
              </a:rPr>
              <a:t>Criterion</a:t>
            </a:r>
          </a:p>
        </p:txBody>
      </p:sp>
      <p:sp>
        <p:nvSpPr>
          <p:cNvPr id="6" name="">
            <a:extLst xmlns:a="http://schemas.openxmlformats.org/drawingml/2006/main">
              <a:ext uri="{FF2B5EF4-FFF2-40B4-BE49-F238E27FC236}">
                <a16:creationId xmlns:a16="http://schemas.microsoft.com/office/drawing/2014/main" id="{5590AFCF-33A5-45B7-ABE8-0672B9C72A32}"/>
              </a:ext>
            </a:extLst>
          </p:cNvPr>
          <p:cNvSpPr>
            <a:spLocks xmlns:a="http://schemas.openxmlformats.org/drawingml/2006/main" noGrp="1"/>
          </p:cNvSpPr>
          <p:nvPr/>
        </p:nvSpPr>
        <p:spPr>
          <a:xfrm xmlns:a="http://schemas.openxmlformats.org/drawingml/2006/main">
            <a:off x="3034284" y="1790700"/>
            <a:ext cx="3936492" cy="742950"/>
          </a:xfrm>
          <a:prstGeom xmlns:a="http://schemas.openxmlformats.org/drawingml/2006/main" prst="rect">
            <a:avLst/>
          </a:prstGeom>
          <a:solidFill xmlns:a="http://schemas.openxmlformats.org/drawingml/2006/main">
            <a:srgbClr val="111111"/>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D196DFAB-5ADF-4AF7-9B92-DF29E51A483D}"/>
              </a:ext>
            </a:extLst>
          </p:cNvPr>
          <p:cNvSpPr>
            <a:spLocks xmlns:a="http://schemas.openxmlformats.org/drawingml/2006/main" noGrp="1"/>
          </p:cNvSpPr>
          <p:nvPr/>
        </p:nvSpPr>
        <p:spPr>
          <a:xfrm xmlns:a="http://schemas.openxmlformats.org/drawingml/2006/main">
            <a:off x="3148584" y="1885950"/>
            <a:ext cx="3707892"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FFFFFF"/>
                </a:solidFill>
              </a:defRPr>
            </a:pPr>
            <a:r>
              <a:rPr sz="1425" b="1">
                <a:solidFill>
                  <a:srgbClr val="FFFFFF"/>
                </a:solidFill>
              </a:rPr>
              <a:t>Question to answer</a:t>
            </a:r>
          </a:p>
        </p:txBody>
      </p:sp>
      <p:sp>
        <p:nvSpPr>
          <p:cNvPr id="8" name="">
            <a:extLst xmlns:a="http://schemas.openxmlformats.org/drawingml/2006/main">
              <a:ext uri="{FF2B5EF4-FFF2-40B4-BE49-F238E27FC236}">
                <a16:creationId xmlns:a16="http://schemas.microsoft.com/office/drawing/2014/main" id="{1BA83EBE-ACC1-4A3A-BF52-877402D9D0B5}"/>
              </a:ext>
            </a:extLst>
          </p:cNvPr>
          <p:cNvSpPr>
            <a:spLocks xmlns:a="http://schemas.openxmlformats.org/drawingml/2006/main" noGrp="1"/>
          </p:cNvSpPr>
          <p:nvPr/>
        </p:nvSpPr>
        <p:spPr>
          <a:xfrm xmlns:a="http://schemas.openxmlformats.org/drawingml/2006/main">
            <a:off x="6970776" y="1790700"/>
            <a:ext cx="4592574" cy="742950"/>
          </a:xfrm>
          <a:prstGeom xmlns:a="http://schemas.openxmlformats.org/drawingml/2006/main" prst="rect">
            <a:avLst/>
          </a:prstGeom>
          <a:solidFill xmlns:a="http://schemas.openxmlformats.org/drawingml/2006/main">
            <a:srgbClr val="111111"/>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C447FE9F-C43C-4A86-81A1-362B51219EB7}"/>
              </a:ext>
            </a:extLst>
          </p:cNvPr>
          <p:cNvSpPr>
            <a:spLocks xmlns:a="http://schemas.openxmlformats.org/drawingml/2006/main" noGrp="1"/>
          </p:cNvSpPr>
          <p:nvPr/>
        </p:nvSpPr>
        <p:spPr>
          <a:xfrm xmlns:a="http://schemas.openxmlformats.org/drawingml/2006/main">
            <a:off x="7085076" y="1885950"/>
            <a:ext cx="4363974"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FFFFFF"/>
                </a:solidFill>
              </a:defRPr>
            </a:pPr>
            <a:r>
              <a:rPr sz="1425" b="1">
                <a:solidFill>
                  <a:srgbClr val="FFFFFF"/>
                </a:solidFill>
              </a:rPr>
              <a:t>Possible evidence</a:t>
            </a:r>
          </a:p>
        </p:txBody>
      </p:sp>
      <p:sp>
        <p:nvSpPr>
          <p:cNvPr id="10" name="">
            <a:extLst xmlns:a="http://schemas.openxmlformats.org/drawingml/2006/main">
              <a:ext uri="{FF2B5EF4-FFF2-40B4-BE49-F238E27FC236}">
                <a16:creationId xmlns:a16="http://schemas.microsoft.com/office/drawing/2014/main" id="{6D82969D-CD51-4C5E-AF8E-A657C02E8D15}"/>
              </a:ext>
            </a:extLst>
          </p:cNvPr>
          <p:cNvSpPr>
            <a:spLocks xmlns:a="http://schemas.openxmlformats.org/drawingml/2006/main" noGrp="1"/>
          </p:cNvSpPr>
          <p:nvPr/>
        </p:nvSpPr>
        <p:spPr>
          <a:xfrm xmlns:a="http://schemas.openxmlformats.org/drawingml/2006/main">
            <a:off x="628650" y="2533650"/>
            <a:ext cx="2405634"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9E9FA764-7E28-4D07-B872-62CF7E087CFE}"/>
              </a:ext>
            </a:extLst>
          </p:cNvPr>
          <p:cNvSpPr>
            <a:spLocks xmlns:a="http://schemas.openxmlformats.org/drawingml/2006/main" noGrp="1"/>
          </p:cNvSpPr>
          <p:nvPr/>
        </p:nvSpPr>
        <p:spPr>
          <a:xfrm xmlns:a="http://schemas.openxmlformats.org/drawingml/2006/main">
            <a:off x="742950" y="2628900"/>
            <a:ext cx="2177034"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11111"/>
                </a:solidFill>
              </a:defRPr>
            </a:pPr>
            <a:r>
              <a:rPr sz="1350" b="0">
                <a:solidFill>
                  <a:srgbClr val="111111"/>
                </a:solidFill>
              </a:rPr>
              <a:t>Formal correspondence</a:t>
            </a:r>
          </a:p>
        </p:txBody>
      </p:sp>
      <p:sp>
        <p:nvSpPr>
          <p:cNvPr id="12" name="">
            <a:extLst xmlns:a="http://schemas.openxmlformats.org/drawingml/2006/main">
              <a:ext uri="{FF2B5EF4-FFF2-40B4-BE49-F238E27FC236}">
                <a16:creationId xmlns:a16="http://schemas.microsoft.com/office/drawing/2014/main" id="{668D616C-4E98-4758-82F3-6E61A8ADA730}"/>
              </a:ext>
            </a:extLst>
          </p:cNvPr>
          <p:cNvSpPr>
            <a:spLocks xmlns:a="http://schemas.openxmlformats.org/drawingml/2006/main" noGrp="1"/>
          </p:cNvSpPr>
          <p:nvPr/>
        </p:nvSpPr>
        <p:spPr>
          <a:xfrm xmlns:a="http://schemas.openxmlformats.org/drawingml/2006/main">
            <a:off x="3034284" y="2533650"/>
            <a:ext cx="3936492"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89ACCBC0-CFA4-424E-B600-47ADEEA254A6}"/>
              </a:ext>
            </a:extLst>
          </p:cNvPr>
          <p:cNvSpPr>
            <a:spLocks xmlns:a="http://schemas.openxmlformats.org/drawingml/2006/main" noGrp="1"/>
          </p:cNvSpPr>
          <p:nvPr/>
        </p:nvSpPr>
        <p:spPr>
          <a:xfrm xmlns:a="http://schemas.openxmlformats.org/drawingml/2006/main">
            <a:off x="3148584" y="2628900"/>
            <a:ext cx="3707892"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11111"/>
                </a:solidFill>
              </a:defRPr>
            </a:pPr>
            <a:r>
              <a:rPr sz="1350" b="0">
                <a:solidFill>
                  <a:srgbClr val="111111"/>
                </a:solidFill>
              </a:rPr>
              <a:t>Does a solution exist iff the stage is clearable?</a:t>
            </a:r>
          </a:p>
        </p:txBody>
      </p:sp>
      <p:sp>
        <p:nvSpPr>
          <p:cNvPr id="14" name="">
            <a:extLst xmlns:a="http://schemas.openxmlformats.org/drawingml/2006/main">
              <a:ext uri="{FF2B5EF4-FFF2-40B4-BE49-F238E27FC236}">
                <a16:creationId xmlns:a16="http://schemas.microsoft.com/office/drawing/2014/main" id="{092F8C3C-C5B6-4740-87F9-7CD34AEF9E10}"/>
              </a:ext>
            </a:extLst>
          </p:cNvPr>
          <p:cNvSpPr>
            <a:spLocks xmlns:a="http://schemas.openxmlformats.org/drawingml/2006/main" noGrp="1"/>
          </p:cNvSpPr>
          <p:nvPr/>
        </p:nvSpPr>
        <p:spPr>
          <a:xfrm xmlns:a="http://schemas.openxmlformats.org/drawingml/2006/main">
            <a:off x="6970776" y="2533650"/>
            <a:ext cx="4592574"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7EA417A9-C040-48B7-9AE6-3AB3FD306B46}"/>
              </a:ext>
            </a:extLst>
          </p:cNvPr>
          <p:cNvSpPr>
            <a:spLocks xmlns:a="http://schemas.openxmlformats.org/drawingml/2006/main" noGrp="1"/>
          </p:cNvSpPr>
          <p:nvPr/>
        </p:nvSpPr>
        <p:spPr>
          <a:xfrm xmlns:a="http://schemas.openxmlformats.org/drawingml/2006/main">
            <a:off x="7085076" y="2628900"/>
            <a:ext cx="4363974"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11111"/>
                </a:solidFill>
              </a:defRPr>
            </a:pPr>
            <a:r>
              <a:rPr sz="1350" b="0">
                <a:solidFill>
                  <a:srgbClr val="111111"/>
                </a:solidFill>
              </a:rPr>
              <a:t>Small proofs and generated test cases</a:t>
            </a:r>
          </a:p>
        </p:txBody>
      </p:sp>
      <p:sp>
        <p:nvSpPr>
          <p:cNvPr id="16" name="">
            <a:extLst xmlns:a="http://schemas.openxmlformats.org/drawingml/2006/main">
              <a:ext uri="{FF2B5EF4-FFF2-40B4-BE49-F238E27FC236}">
                <a16:creationId xmlns:a16="http://schemas.microsoft.com/office/drawing/2014/main" id="{83F75631-D47F-43DA-86A4-3E91A608F787}"/>
              </a:ext>
            </a:extLst>
          </p:cNvPr>
          <p:cNvSpPr>
            <a:spLocks xmlns:a="http://schemas.openxmlformats.org/drawingml/2006/main" noGrp="1"/>
          </p:cNvSpPr>
          <p:nvPr/>
        </p:nvSpPr>
        <p:spPr>
          <a:xfrm xmlns:a="http://schemas.openxmlformats.org/drawingml/2006/main">
            <a:off x="628650" y="3276600"/>
            <a:ext cx="2405634"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F07CBCF9-01EB-4B73-A24C-86848C0D3A8A}"/>
              </a:ext>
            </a:extLst>
          </p:cNvPr>
          <p:cNvSpPr>
            <a:spLocks xmlns:a="http://schemas.openxmlformats.org/drawingml/2006/main" noGrp="1"/>
          </p:cNvSpPr>
          <p:nvPr/>
        </p:nvSpPr>
        <p:spPr>
          <a:xfrm xmlns:a="http://schemas.openxmlformats.org/drawingml/2006/main">
            <a:off x="742950" y="3371850"/>
            <a:ext cx="2177034"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11111"/>
                </a:solidFill>
              </a:defRPr>
            </a:pPr>
            <a:r>
              <a:rPr sz="1350" b="0">
                <a:solidFill>
                  <a:srgbClr val="111111"/>
                </a:solidFill>
              </a:rPr>
              <a:t>Readability</a:t>
            </a:r>
          </a:p>
        </p:txBody>
      </p:sp>
      <p:sp>
        <p:nvSpPr>
          <p:cNvPr id="18" name="">
            <a:extLst xmlns:a="http://schemas.openxmlformats.org/drawingml/2006/main">
              <a:ext uri="{FF2B5EF4-FFF2-40B4-BE49-F238E27FC236}">
                <a16:creationId xmlns:a16="http://schemas.microsoft.com/office/drawing/2014/main" id="{58F9BE9B-6467-4BD4-8396-032D5925549E}"/>
              </a:ext>
            </a:extLst>
          </p:cNvPr>
          <p:cNvSpPr>
            <a:spLocks xmlns:a="http://schemas.openxmlformats.org/drawingml/2006/main" noGrp="1"/>
          </p:cNvSpPr>
          <p:nvPr/>
        </p:nvSpPr>
        <p:spPr>
          <a:xfrm xmlns:a="http://schemas.openxmlformats.org/drawingml/2006/main">
            <a:off x="3034284" y="3276600"/>
            <a:ext cx="3936492"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1769DEAF-1010-4C34-B42D-16E3E5D7C0CA}"/>
              </a:ext>
            </a:extLst>
          </p:cNvPr>
          <p:cNvSpPr>
            <a:spLocks xmlns:a="http://schemas.openxmlformats.org/drawingml/2006/main" noGrp="1"/>
          </p:cNvSpPr>
          <p:nvPr/>
        </p:nvSpPr>
        <p:spPr>
          <a:xfrm xmlns:a="http://schemas.openxmlformats.org/drawingml/2006/main">
            <a:off x="3148584" y="3371850"/>
            <a:ext cx="3707892"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11111"/>
                </a:solidFill>
              </a:defRPr>
            </a:pPr>
            <a:r>
              <a:rPr sz="1350" b="0">
                <a:solidFill>
                  <a:srgbClr val="111111"/>
                </a:solidFill>
              </a:rPr>
              <a:t>Can players infer what each route means?</a:t>
            </a:r>
          </a:p>
        </p:txBody>
      </p:sp>
      <p:sp>
        <p:nvSpPr>
          <p:cNvPr id="20" name="">
            <a:extLst xmlns:a="http://schemas.openxmlformats.org/drawingml/2006/main">
              <a:ext uri="{FF2B5EF4-FFF2-40B4-BE49-F238E27FC236}">
                <a16:creationId xmlns:a16="http://schemas.microsoft.com/office/drawing/2014/main" id="{D4BAB46B-7B54-468B-B6AA-05070ECA32F5}"/>
              </a:ext>
            </a:extLst>
          </p:cNvPr>
          <p:cNvSpPr>
            <a:spLocks xmlns:a="http://schemas.openxmlformats.org/drawingml/2006/main" noGrp="1"/>
          </p:cNvSpPr>
          <p:nvPr/>
        </p:nvSpPr>
        <p:spPr>
          <a:xfrm xmlns:a="http://schemas.openxmlformats.org/drawingml/2006/main">
            <a:off x="6970776" y="3276600"/>
            <a:ext cx="4592574"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DF12BD9C-E42B-4202-B629-0D3F6248CDFC}"/>
              </a:ext>
            </a:extLst>
          </p:cNvPr>
          <p:cNvSpPr>
            <a:spLocks xmlns:a="http://schemas.openxmlformats.org/drawingml/2006/main" noGrp="1"/>
          </p:cNvSpPr>
          <p:nvPr/>
        </p:nvSpPr>
        <p:spPr>
          <a:xfrm xmlns:a="http://schemas.openxmlformats.org/drawingml/2006/main">
            <a:off x="7085076" y="3371850"/>
            <a:ext cx="4363974"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11111"/>
                </a:solidFill>
              </a:defRPr>
            </a:pPr>
            <a:r>
              <a:rPr sz="1350" b="0">
                <a:solidFill>
                  <a:srgbClr val="111111"/>
                </a:solidFill>
              </a:rPr>
              <a:t>Observation and post-play explanation</a:t>
            </a:r>
          </a:p>
        </p:txBody>
      </p:sp>
      <p:sp>
        <p:nvSpPr>
          <p:cNvPr id="22" name="">
            <a:extLst xmlns:a="http://schemas.openxmlformats.org/drawingml/2006/main">
              <a:ext uri="{FF2B5EF4-FFF2-40B4-BE49-F238E27FC236}">
                <a16:creationId xmlns:a16="http://schemas.microsoft.com/office/drawing/2014/main" id="{2847553C-86AB-43F4-99D3-D202F994C4FA}"/>
              </a:ext>
            </a:extLst>
          </p:cNvPr>
          <p:cNvSpPr>
            <a:spLocks xmlns:a="http://schemas.openxmlformats.org/drawingml/2006/main" noGrp="1"/>
          </p:cNvSpPr>
          <p:nvPr/>
        </p:nvSpPr>
        <p:spPr>
          <a:xfrm xmlns:a="http://schemas.openxmlformats.org/drawingml/2006/main">
            <a:off x="628650" y="4019550"/>
            <a:ext cx="2405634"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048AC19A-F57D-4804-B4BD-B34F7D386FBB}"/>
              </a:ext>
            </a:extLst>
          </p:cNvPr>
          <p:cNvSpPr>
            <a:spLocks xmlns:a="http://schemas.openxmlformats.org/drawingml/2006/main" noGrp="1"/>
          </p:cNvSpPr>
          <p:nvPr/>
        </p:nvSpPr>
        <p:spPr>
          <a:xfrm xmlns:a="http://schemas.openxmlformats.org/drawingml/2006/main">
            <a:off x="742950" y="4114800"/>
            <a:ext cx="2177034"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11111"/>
                </a:solidFill>
              </a:defRPr>
            </a:pPr>
            <a:r>
              <a:rPr sz="1350" b="0">
                <a:solidFill>
                  <a:srgbClr val="111111"/>
                </a:solidFill>
              </a:rPr>
              <a:t>Difficulty quality</a:t>
            </a:r>
          </a:p>
        </p:txBody>
      </p:sp>
      <p:sp>
        <p:nvSpPr>
          <p:cNvPr id="24" name="">
            <a:extLst xmlns:a="http://schemas.openxmlformats.org/drawingml/2006/main">
              <a:ext uri="{FF2B5EF4-FFF2-40B4-BE49-F238E27FC236}">
                <a16:creationId xmlns:a16="http://schemas.microsoft.com/office/drawing/2014/main" id="{0C2F6558-6509-4454-A985-40EF542D29FB}"/>
              </a:ext>
            </a:extLst>
          </p:cNvPr>
          <p:cNvSpPr>
            <a:spLocks xmlns:a="http://schemas.openxmlformats.org/drawingml/2006/main" noGrp="1"/>
          </p:cNvSpPr>
          <p:nvPr/>
        </p:nvSpPr>
        <p:spPr>
          <a:xfrm xmlns:a="http://schemas.openxmlformats.org/drawingml/2006/main">
            <a:off x="3034284" y="4019550"/>
            <a:ext cx="3936492"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5" name="">
            <a:extLst xmlns:a="http://schemas.openxmlformats.org/drawingml/2006/main">
              <a:ext uri="{FF2B5EF4-FFF2-40B4-BE49-F238E27FC236}">
                <a16:creationId xmlns:a16="http://schemas.microsoft.com/office/drawing/2014/main" id="{59B75BC5-5BAC-454A-914D-9E10461C0E4B}"/>
              </a:ext>
            </a:extLst>
          </p:cNvPr>
          <p:cNvSpPr>
            <a:spLocks xmlns:a="http://schemas.openxmlformats.org/drawingml/2006/main" noGrp="1"/>
          </p:cNvSpPr>
          <p:nvPr/>
        </p:nvSpPr>
        <p:spPr>
          <a:xfrm xmlns:a="http://schemas.openxmlformats.org/drawingml/2006/main">
            <a:off x="3148584" y="4114800"/>
            <a:ext cx="3707892"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11111"/>
                </a:solidFill>
              </a:defRPr>
            </a:pPr>
            <a:r>
              <a:rPr sz="1350" b="0">
                <a:solidFill>
                  <a:srgbClr val="111111"/>
                </a:solidFill>
              </a:rPr>
              <a:t>Is the challenge strategic rather than obscure?</a:t>
            </a:r>
          </a:p>
        </p:txBody>
      </p:sp>
      <p:sp>
        <p:nvSpPr>
          <p:cNvPr id="26" name="">
            <a:extLst xmlns:a="http://schemas.openxmlformats.org/drawingml/2006/main">
              <a:ext uri="{FF2B5EF4-FFF2-40B4-BE49-F238E27FC236}">
                <a16:creationId xmlns:a16="http://schemas.microsoft.com/office/drawing/2014/main" id="{BCE378D3-8A6A-4989-BA3C-F543D83D97D7}"/>
              </a:ext>
            </a:extLst>
          </p:cNvPr>
          <p:cNvSpPr>
            <a:spLocks xmlns:a="http://schemas.openxmlformats.org/drawingml/2006/main" noGrp="1"/>
          </p:cNvSpPr>
          <p:nvPr/>
        </p:nvSpPr>
        <p:spPr>
          <a:xfrm xmlns:a="http://schemas.openxmlformats.org/drawingml/2006/main">
            <a:off x="6970776" y="4019550"/>
            <a:ext cx="4592574"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3934E8E5-1221-49E4-8F36-0BF25C4E32D7}"/>
              </a:ext>
            </a:extLst>
          </p:cNvPr>
          <p:cNvSpPr>
            <a:spLocks xmlns:a="http://schemas.openxmlformats.org/drawingml/2006/main" noGrp="1"/>
          </p:cNvSpPr>
          <p:nvPr/>
        </p:nvSpPr>
        <p:spPr>
          <a:xfrm xmlns:a="http://schemas.openxmlformats.org/drawingml/2006/main">
            <a:off x="7085076" y="4114800"/>
            <a:ext cx="4363974"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11111"/>
                </a:solidFill>
              </a:defRPr>
            </a:pPr>
            <a:r>
              <a:rPr sz="1350" b="0">
                <a:solidFill>
                  <a:srgbClr val="111111"/>
                </a:solidFill>
              </a:rPr>
              <a:t>Failure logs and retry behavior</a:t>
            </a:r>
          </a:p>
        </p:txBody>
      </p:sp>
      <p:sp>
        <p:nvSpPr>
          <p:cNvPr id="28" name="">
            <a:extLst xmlns:a="http://schemas.openxmlformats.org/drawingml/2006/main">
              <a:ext uri="{FF2B5EF4-FFF2-40B4-BE49-F238E27FC236}">
                <a16:creationId xmlns:a16="http://schemas.microsoft.com/office/drawing/2014/main" id="{EBDA73D8-61AE-45CC-8DF0-B9A8076DD266}"/>
              </a:ext>
            </a:extLst>
          </p:cNvPr>
          <p:cNvSpPr>
            <a:spLocks xmlns:a="http://schemas.openxmlformats.org/drawingml/2006/main" noGrp="1"/>
          </p:cNvSpPr>
          <p:nvPr/>
        </p:nvSpPr>
        <p:spPr>
          <a:xfrm xmlns:a="http://schemas.openxmlformats.org/drawingml/2006/main">
            <a:off x="628650" y="4762500"/>
            <a:ext cx="2405634"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9" name="">
            <a:extLst xmlns:a="http://schemas.openxmlformats.org/drawingml/2006/main">
              <a:ext uri="{FF2B5EF4-FFF2-40B4-BE49-F238E27FC236}">
                <a16:creationId xmlns:a16="http://schemas.microsoft.com/office/drawing/2014/main" id="{594E00BF-EB34-470E-9F9F-84507097FEAA}"/>
              </a:ext>
            </a:extLst>
          </p:cNvPr>
          <p:cNvSpPr>
            <a:spLocks xmlns:a="http://schemas.openxmlformats.org/drawingml/2006/main" noGrp="1"/>
          </p:cNvSpPr>
          <p:nvPr/>
        </p:nvSpPr>
        <p:spPr>
          <a:xfrm xmlns:a="http://schemas.openxmlformats.org/drawingml/2006/main">
            <a:off x="742950" y="4857750"/>
            <a:ext cx="2177034"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11111"/>
                </a:solidFill>
              </a:defRPr>
            </a:pPr>
            <a:r>
              <a:rPr sz="1350" b="0">
                <a:solidFill>
                  <a:srgbClr val="111111"/>
                </a:solidFill>
              </a:rPr>
              <a:t>Scalability</a:t>
            </a:r>
          </a:p>
        </p:txBody>
      </p:sp>
      <p:sp>
        <p:nvSpPr>
          <p:cNvPr id="30" name="">
            <a:extLst xmlns:a="http://schemas.openxmlformats.org/drawingml/2006/main">
              <a:ext uri="{FF2B5EF4-FFF2-40B4-BE49-F238E27FC236}">
                <a16:creationId xmlns:a16="http://schemas.microsoft.com/office/drawing/2014/main" id="{C4C3B1D1-663E-4974-96B7-ADC18B7BDB58}"/>
              </a:ext>
            </a:extLst>
          </p:cNvPr>
          <p:cNvSpPr>
            <a:spLocks xmlns:a="http://schemas.openxmlformats.org/drawingml/2006/main" noGrp="1"/>
          </p:cNvSpPr>
          <p:nvPr/>
        </p:nvSpPr>
        <p:spPr>
          <a:xfrm xmlns:a="http://schemas.openxmlformats.org/drawingml/2006/main">
            <a:off x="3034284" y="4762500"/>
            <a:ext cx="3936492"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1" name="">
            <a:extLst xmlns:a="http://schemas.openxmlformats.org/drawingml/2006/main">
              <a:ext uri="{FF2B5EF4-FFF2-40B4-BE49-F238E27FC236}">
                <a16:creationId xmlns:a16="http://schemas.microsoft.com/office/drawing/2014/main" id="{69A465AA-CFD8-4F73-BCF1-56E48B2CA15C}"/>
              </a:ext>
            </a:extLst>
          </p:cNvPr>
          <p:cNvSpPr>
            <a:spLocks xmlns:a="http://schemas.openxmlformats.org/drawingml/2006/main" noGrp="1"/>
          </p:cNvSpPr>
          <p:nvPr/>
        </p:nvSpPr>
        <p:spPr>
          <a:xfrm xmlns:a="http://schemas.openxmlformats.org/drawingml/2006/main">
            <a:off x="3148584" y="4857750"/>
            <a:ext cx="3707892"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11111"/>
                </a:solidFill>
              </a:defRPr>
            </a:pPr>
            <a:r>
              <a:rPr sz="1350" b="0">
                <a:solidFill>
                  <a:srgbClr val="111111"/>
                </a:solidFill>
              </a:rPr>
              <a:t>What instance sizes remain playable?</a:t>
            </a:r>
          </a:p>
        </p:txBody>
      </p:sp>
      <p:sp>
        <p:nvSpPr>
          <p:cNvPr id="32" name="">
            <a:extLst xmlns:a="http://schemas.openxmlformats.org/drawingml/2006/main">
              <a:ext uri="{FF2B5EF4-FFF2-40B4-BE49-F238E27FC236}">
                <a16:creationId xmlns:a16="http://schemas.microsoft.com/office/drawing/2014/main" id="{F88DF362-8655-4247-81EF-C5B603AA3449}"/>
              </a:ext>
            </a:extLst>
          </p:cNvPr>
          <p:cNvSpPr>
            <a:spLocks xmlns:a="http://schemas.openxmlformats.org/drawingml/2006/main" noGrp="1"/>
          </p:cNvSpPr>
          <p:nvPr/>
        </p:nvSpPr>
        <p:spPr>
          <a:xfrm xmlns:a="http://schemas.openxmlformats.org/drawingml/2006/main">
            <a:off x="6970776" y="4762500"/>
            <a:ext cx="4592574"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3" name="">
            <a:extLst xmlns:a="http://schemas.openxmlformats.org/drawingml/2006/main">
              <a:ext uri="{FF2B5EF4-FFF2-40B4-BE49-F238E27FC236}">
                <a16:creationId xmlns:a16="http://schemas.microsoft.com/office/drawing/2014/main" id="{CE88213D-F4BD-4238-9B48-5675874433C5}"/>
              </a:ext>
            </a:extLst>
          </p:cNvPr>
          <p:cNvSpPr>
            <a:spLocks xmlns:a="http://schemas.openxmlformats.org/drawingml/2006/main" noGrp="1"/>
          </p:cNvSpPr>
          <p:nvPr/>
        </p:nvSpPr>
        <p:spPr>
          <a:xfrm xmlns:a="http://schemas.openxmlformats.org/drawingml/2006/main">
            <a:off x="7085076" y="4857750"/>
            <a:ext cx="4363974"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11111"/>
                </a:solidFill>
              </a:defRPr>
            </a:pPr>
            <a:r>
              <a:rPr sz="1350" b="0">
                <a:solidFill>
                  <a:srgbClr val="111111"/>
                </a:solidFill>
              </a:rPr>
              <a:t>Stage size, object count, completion time</a:t>
            </a:r>
          </a:p>
        </p:txBody>
      </p:sp>
    </p:spTree>
    <p:extLst>
      <p:ext uri="{BB962C8B-B14F-4D97-AF65-F5344CB8AC3E}">
        <p14:creationId xmlns:p14="http://schemas.microsoft.com/office/powerpoint/2010/main" val="10817625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4C669F-6252-44EB-9EA0-715AE94F6C86}"/>
              </a:ext>
            </a:extLst>
          </p:cNvPr>
          <p:cNvSpPr>
            <a:spLocks xmlns:a="http://schemas.openxmlformats.org/drawingml/2006/main" noGrp="1"/>
          </p:cNvSpPr>
          <p:nvPr/>
        </p:nvSpPr>
        <p:spPr>
          <a:xfrm xmlns:a="http://schemas.openxmlformats.org/drawingml/2006/main">
            <a:off x="609600" y="400050"/>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Next: turn examples into a repeatable method</a:t>
            </a:r>
          </a:p>
        </p:txBody>
      </p:sp>
      <p:sp>
        <p:nvSpPr>
          <p:cNvPr id="2" name="">
            <a:extLst xmlns:a="http://schemas.openxmlformats.org/drawingml/2006/main">
              <a:ext uri="{FF2B5EF4-FFF2-40B4-BE49-F238E27FC236}">
                <a16:creationId xmlns:a16="http://schemas.microsoft.com/office/drawing/2014/main" id="{4E90B927-60D9-4522-B7C1-2329E8C3C64E}"/>
              </a:ext>
            </a:extLst>
          </p:cNvPr>
          <p:cNvSpPr>
            <a:spLocks xmlns:a="http://schemas.openxmlformats.org/drawingml/2006/main" noGrp="1"/>
          </p:cNvSpPr>
          <p:nvPr/>
        </p:nvSpPr>
        <p:spPr>
          <a:xfrm xmlns:a="http://schemas.openxmlformats.org/drawingml/2006/main">
            <a:off x="628650" y="142875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The prototypes are ready enough to support a research plan.</a:t>
            </a:r>
          </a:p>
        </p:txBody>
      </p:sp>
      <p:sp>
        <p:nvSpPr>
          <p:cNvPr id="3" name="">
            <a:extLst xmlns:a="http://schemas.openxmlformats.org/drawingml/2006/main">
              <a:ext uri="{FF2B5EF4-FFF2-40B4-BE49-F238E27FC236}">
                <a16:creationId xmlns:a16="http://schemas.microsoft.com/office/drawing/2014/main" id="{548EA317-0AED-412D-AEB4-A15BE75D23F1}"/>
              </a:ext>
            </a:extLst>
          </p:cNvPr>
          <p:cNvSpPr>
            <a:spLocks xmlns:a="http://schemas.openxmlformats.org/drawingml/2006/main" noGrp="1"/>
          </p:cNvSpPr>
          <p:nvPr/>
        </p:nvSpPr>
        <p:spPr>
          <a:xfrm xmlns:a="http://schemas.openxmlformats.org/drawingml/2006/main">
            <a:off x="11296650" y="621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12</a:t>
            </a:r>
          </a:p>
        </p:txBody>
      </p:sp>
      <p:sp>
        <p:nvSpPr>
          <p:cNvPr id="4" name="">
            <a:extLst xmlns:a="http://schemas.openxmlformats.org/drawingml/2006/main">
              <a:ext uri="{FF2B5EF4-FFF2-40B4-BE49-F238E27FC236}">
                <a16:creationId xmlns:a16="http://schemas.microsoft.com/office/drawing/2014/main" id="{1AA98AE9-CAF5-4604-A368-4B34BB33B799}"/>
              </a:ext>
            </a:extLst>
          </p:cNvPr>
          <p:cNvSpPr>
            <a:spLocks xmlns:a="http://schemas.openxmlformats.org/drawingml/2006/main" noGrp="1"/>
          </p:cNvSpPr>
          <p:nvPr/>
        </p:nvSpPr>
        <p:spPr>
          <a:xfrm xmlns:a="http://schemas.openxmlformats.org/drawingml/2006/main">
            <a:off x="2286000" y="3371850"/>
            <a:ext cx="13335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5" name="">
            <a:extLst xmlns:a="http://schemas.openxmlformats.org/drawingml/2006/main">
              <a:ext uri="{FF2B5EF4-FFF2-40B4-BE49-F238E27FC236}">
                <a16:creationId xmlns:a16="http://schemas.microsoft.com/office/drawing/2014/main" id="{045A09E7-BF26-44BE-A64A-02BE21626257}"/>
              </a:ext>
            </a:extLst>
          </p:cNvPr>
          <p:cNvSpPr>
            <a:spLocks xmlns:a="http://schemas.openxmlformats.org/drawingml/2006/main" noGrp="1"/>
          </p:cNvSpPr>
          <p:nvPr/>
        </p:nvSpPr>
        <p:spPr>
          <a:xfrm xmlns:a="http://schemas.openxmlformats.org/drawingml/2006/main">
            <a:off x="1181100" y="3105150"/>
            <a:ext cx="533400" cy="533400"/>
          </a:xfrm>
          <a:prstGeom xmlns:a="http://schemas.openxmlformats.org/drawingml/2006/main" prst="ellipse">
            <a:avLst/>
          </a:prstGeom>
          <a:solidFill xmlns:a="http://schemas.openxmlformats.org/drawingml/2006/main">
            <a:srgbClr val="3D8DFF"/>
          </a:solidFill>
          <a:ln xmlns:a="http://schemas.openxmlformats.org/drawingml/2006/main" w="9525">
            <a:solidFill>
              <a:srgbClr val="222222"/>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1</a:t>
            </a:r>
          </a:p>
        </p:txBody>
      </p:sp>
      <p:sp>
        <p:nvSpPr>
          <p:cNvPr id="6" name="">
            <a:extLst xmlns:a="http://schemas.openxmlformats.org/drawingml/2006/main">
              <a:ext uri="{FF2B5EF4-FFF2-40B4-BE49-F238E27FC236}">
                <a16:creationId xmlns:a16="http://schemas.microsoft.com/office/drawing/2014/main" id="{66DA058A-7D12-4418-97E8-C19567BBFFC0}"/>
              </a:ext>
            </a:extLst>
          </p:cNvPr>
          <p:cNvSpPr>
            <a:spLocks xmlns:a="http://schemas.openxmlformats.org/drawingml/2006/main" noGrp="1"/>
          </p:cNvSpPr>
          <p:nvPr/>
        </p:nvSpPr>
        <p:spPr>
          <a:xfrm xmlns:a="http://schemas.openxmlformats.org/drawingml/2006/main">
            <a:off x="819150" y="3981450"/>
            <a:ext cx="125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11111"/>
                </a:solidFill>
              </a:defRPr>
            </a:pPr>
            <a:r>
              <a:rPr sz="1875" b="1">
                <a:solidFill>
                  <a:srgbClr val="111111"/>
                </a:solidFill>
              </a:rPr>
              <a:t>Define</a:t>
            </a:r>
          </a:p>
        </p:txBody>
      </p:sp>
      <p:sp>
        <p:nvSpPr>
          <p:cNvPr id="7" name="">
            <a:extLst xmlns:a="http://schemas.openxmlformats.org/drawingml/2006/main">
              <a:ext uri="{FF2B5EF4-FFF2-40B4-BE49-F238E27FC236}">
                <a16:creationId xmlns:a16="http://schemas.microsoft.com/office/drawing/2014/main" id="{6ECDAC06-84F4-49E1-8AE8-2F65D7879517}"/>
              </a:ext>
            </a:extLst>
          </p:cNvPr>
          <p:cNvSpPr>
            <a:spLocks xmlns:a="http://schemas.openxmlformats.org/drawingml/2006/main" noGrp="1"/>
          </p:cNvSpPr>
          <p:nvPr/>
        </p:nvSpPr>
        <p:spPr>
          <a:xfrm xmlns:a="http://schemas.openxmlformats.org/drawingml/2006/main">
            <a:off x="361950" y="4419600"/>
            <a:ext cx="2171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0">
                <a:solidFill>
                  <a:srgbClr val="555A61"/>
                </a:solidFill>
              </a:defRPr>
            </a:pPr>
            <a:r>
              <a:rPr sz="1425" b="0">
                <a:solidFill>
                  <a:srgbClr val="555A61"/>
                </a:solidFill>
              </a:rPr>
              <a:t>Formalize the mapping from problem instances to stage components.</a:t>
            </a:r>
          </a:p>
        </p:txBody>
      </p:sp>
      <p:sp>
        <p:nvSpPr>
          <p:cNvPr id="8" name="">
            <a:extLst xmlns:a="http://schemas.openxmlformats.org/drawingml/2006/main">
              <a:ext uri="{FF2B5EF4-FFF2-40B4-BE49-F238E27FC236}">
                <a16:creationId xmlns:a16="http://schemas.microsoft.com/office/drawing/2014/main" id="{EC7F5FCE-3487-4754-9BFE-B987FAEC27D1}"/>
              </a:ext>
            </a:extLst>
          </p:cNvPr>
          <p:cNvSpPr>
            <a:spLocks xmlns:a="http://schemas.openxmlformats.org/drawingml/2006/main" noGrp="1"/>
          </p:cNvSpPr>
          <p:nvPr/>
        </p:nvSpPr>
        <p:spPr>
          <a:xfrm xmlns:a="http://schemas.openxmlformats.org/drawingml/2006/main">
            <a:off x="5048250" y="3371850"/>
            <a:ext cx="13335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9" name="">
            <a:extLst xmlns:a="http://schemas.openxmlformats.org/drawingml/2006/main">
              <a:ext uri="{FF2B5EF4-FFF2-40B4-BE49-F238E27FC236}">
                <a16:creationId xmlns:a16="http://schemas.microsoft.com/office/drawing/2014/main" id="{6069F578-57BA-459C-A066-FD221DA12EC4}"/>
              </a:ext>
            </a:extLst>
          </p:cNvPr>
          <p:cNvSpPr>
            <a:spLocks xmlns:a="http://schemas.openxmlformats.org/drawingml/2006/main" noGrp="1"/>
          </p:cNvSpPr>
          <p:nvPr/>
        </p:nvSpPr>
        <p:spPr>
          <a:xfrm xmlns:a="http://schemas.openxmlformats.org/drawingml/2006/main">
            <a:off x="3943350" y="3105150"/>
            <a:ext cx="533400" cy="533400"/>
          </a:xfrm>
          <a:prstGeom xmlns:a="http://schemas.openxmlformats.org/drawingml/2006/main" prst="ellipse">
            <a:avLst/>
          </a:prstGeom>
          <a:solidFill xmlns:a="http://schemas.openxmlformats.org/drawingml/2006/main">
            <a:srgbClr val="34A853"/>
          </a:solidFill>
          <a:ln xmlns:a="http://schemas.openxmlformats.org/drawingml/2006/main" w="9525">
            <a:solidFill>
              <a:srgbClr val="222222"/>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2</a:t>
            </a:r>
          </a:p>
        </p:txBody>
      </p:sp>
      <p:sp>
        <p:nvSpPr>
          <p:cNvPr id="10" name="">
            <a:extLst xmlns:a="http://schemas.openxmlformats.org/drawingml/2006/main">
              <a:ext uri="{FF2B5EF4-FFF2-40B4-BE49-F238E27FC236}">
                <a16:creationId xmlns:a16="http://schemas.microsoft.com/office/drawing/2014/main" id="{C4215874-6444-49E6-8C17-D7039839B332}"/>
              </a:ext>
            </a:extLst>
          </p:cNvPr>
          <p:cNvSpPr>
            <a:spLocks xmlns:a="http://schemas.openxmlformats.org/drawingml/2006/main" noGrp="1"/>
          </p:cNvSpPr>
          <p:nvPr/>
        </p:nvSpPr>
        <p:spPr>
          <a:xfrm xmlns:a="http://schemas.openxmlformats.org/drawingml/2006/main">
            <a:off x="3581400" y="3981450"/>
            <a:ext cx="125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11111"/>
                </a:solidFill>
              </a:defRPr>
            </a:pPr>
            <a:r>
              <a:rPr sz="1875" b="1">
                <a:solidFill>
                  <a:srgbClr val="111111"/>
                </a:solidFill>
              </a:rPr>
              <a:t>Generate</a:t>
            </a:r>
          </a:p>
        </p:txBody>
      </p:sp>
      <p:sp>
        <p:nvSpPr>
          <p:cNvPr id="11" name="">
            <a:extLst xmlns:a="http://schemas.openxmlformats.org/drawingml/2006/main">
              <a:ext uri="{FF2B5EF4-FFF2-40B4-BE49-F238E27FC236}">
                <a16:creationId xmlns:a16="http://schemas.microsoft.com/office/drawing/2014/main" id="{449D49FD-DC55-4A74-B43C-35561CD2919A}"/>
              </a:ext>
            </a:extLst>
          </p:cNvPr>
          <p:cNvSpPr>
            <a:spLocks xmlns:a="http://schemas.openxmlformats.org/drawingml/2006/main" noGrp="1"/>
          </p:cNvSpPr>
          <p:nvPr/>
        </p:nvSpPr>
        <p:spPr>
          <a:xfrm xmlns:a="http://schemas.openxmlformats.org/drawingml/2006/main">
            <a:off x="3124200" y="4419600"/>
            <a:ext cx="2171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0">
                <a:solidFill>
                  <a:srgbClr val="555A61"/>
                </a:solidFill>
              </a:defRPr>
            </a:pPr>
            <a:r>
              <a:rPr sz="1425" b="0">
                <a:solidFill>
                  <a:srgbClr val="555A61"/>
                </a:solidFill>
              </a:rPr>
              <a:t>Build tools that produce candidate stages from formulas or graphs.</a:t>
            </a:r>
          </a:p>
        </p:txBody>
      </p:sp>
      <p:sp>
        <p:nvSpPr>
          <p:cNvPr id="12" name="">
            <a:extLst xmlns:a="http://schemas.openxmlformats.org/drawingml/2006/main">
              <a:ext uri="{FF2B5EF4-FFF2-40B4-BE49-F238E27FC236}">
                <a16:creationId xmlns:a16="http://schemas.microsoft.com/office/drawing/2014/main" id="{EB396078-14A7-444E-A979-2D41D860F987}"/>
              </a:ext>
            </a:extLst>
          </p:cNvPr>
          <p:cNvSpPr>
            <a:spLocks xmlns:a="http://schemas.openxmlformats.org/drawingml/2006/main" noGrp="1"/>
          </p:cNvSpPr>
          <p:nvPr/>
        </p:nvSpPr>
        <p:spPr>
          <a:xfrm xmlns:a="http://schemas.openxmlformats.org/drawingml/2006/main">
            <a:off x="7810500" y="3371850"/>
            <a:ext cx="13335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13" name="">
            <a:extLst xmlns:a="http://schemas.openxmlformats.org/drawingml/2006/main">
              <a:ext uri="{FF2B5EF4-FFF2-40B4-BE49-F238E27FC236}">
                <a16:creationId xmlns:a16="http://schemas.microsoft.com/office/drawing/2014/main" id="{65138969-738E-4447-BBF3-0464B3863AF1}"/>
              </a:ext>
            </a:extLst>
          </p:cNvPr>
          <p:cNvSpPr>
            <a:spLocks xmlns:a="http://schemas.openxmlformats.org/drawingml/2006/main" noGrp="1"/>
          </p:cNvSpPr>
          <p:nvPr/>
        </p:nvSpPr>
        <p:spPr>
          <a:xfrm xmlns:a="http://schemas.openxmlformats.org/drawingml/2006/main">
            <a:off x="6705600" y="3105150"/>
            <a:ext cx="533400" cy="533400"/>
          </a:xfrm>
          <a:prstGeom xmlns:a="http://schemas.openxmlformats.org/drawingml/2006/main" prst="ellipse">
            <a:avLst/>
          </a:prstGeom>
          <a:solidFill xmlns:a="http://schemas.openxmlformats.org/drawingml/2006/main">
            <a:srgbClr val="F6B73C"/>
          </a:solidFill>
          <a:ln xmlns:a="http://schemas.openxmlformats.org/drawingml/2006/main" w="9525">
            <a:solidFill>
              <a:srgbClr val="222222"/>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3</a:t>
            </a:r>
          </a:p>
        </p:txBody>
      </p:sp>
      <p:sp>
        <p:nvSpPr>
          <p:cNvPr id="14" name="">
            <a:extLst xmlns:a="http://schemas.openxmlformats.org/drawingml/2006/main">
              <a:ext uri="{FF2B5EF4-FFF2-40B4-BE49-F238E27FC236}">
                <a16:creationId xmlns:a16="http://schemas.microsoft.com/office/drawing/2014/main" id="{958E10CC-AFD6-4396-8AB5-E1899341F432}"/>
              </a:ext>
            </a:extLst>
          </p:cNvPr>
          <p:cNvSpPr>
            <a:spLocks xmlns:a="http://schemas.openxmlformats.org/drawingml/2006/main" noGrp="1"/>
          </p:cNvSpPr>
          <p:nvPr/>
        </p:nvSpPr>
        <p:spPr>
          <a:xfrm xmlns:a="http://schemas.openxmlformats.org/drawingml/2006/main">
            <a:off x="6343650" y="3981450"/>
            <a:ext cx="125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11111"/>
                </a:solidFill>
              </a:defRPr>
            </a:pPr>
            <a:r>
              <a:rPr sz="1875" b="1">
                <a:solidFill>
                  <a:srgbClr val="111111"/>
                </a:solidFill>
              </a:rPr>
              <a:t>Validate</a:t>
            </a:r>
          </a:p>
        </p:txBody>
      </p:sp>
      <p:sp>
        <p:nvSpPr>
          <p:cNvPr id="15" name="">
            <a:extLst xmlns:a="http://schemas.openxmlformats.org/drawingml/2006/main">
              <a:ext uri="{FF2B5EF4-FFF2-40B4-BE49-F238E27FC236}">
                <a16:creationId xmlns:a16="http://schemas.microsoft.com/office/drawing/2014/main" id="{75F57A20-FDE8-41A0-8569-2C4C622CD23C}"/>
              </a:ext>
            </a:extLst>
          </p:cNvPr>
          <p:cNvSpPr>
            <a:spLocks xmlns:a="http://schemas.openxmlformats.org/drawingml/2006/main" noGrp="1"/>
          </p:cNvSpPr>
          <p:nvPr/>
        </p:nvSpPr>
        <p:spPr>
          <a:xfrm xmlns:a="http://schemas.openxmlformats.org/drawingml/2006/main">
            <a:off x="5886450" y="4419600"/>
            <a:ext cx="2171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0">
                <a:solidFill>
                  <a:srgbClr val="555A61"/>
                </a:solidFill>
              </a:defRPr>
            </a:pPr>
            <a:r>
              <a:rPr sz="1425" b="0">
                <a:solidFill>
                  <a:srgbClr val="555A61"/>
                </a:solidFill>
              </a:rPr>
              <a:t>Check correspondence between solution existence and clearability.</a:t>
            </a:r>
          </a:p>
        </p:txBody>
      </p:sp>
      <p:sp>
        <p:nvSpPr>
          <p:cNvPr id="16" name="">
            <a:extLst xmlns:a="http://schemas.openxmlformats.org/drawingml/2006/main">
              <a:ext uri="{FF2B5EF4-FFF2-40B4-BE49-F238E27FC236}">
                <a16:creationId xmlns:a16="http://schemas.microsoft.com/office/drawing/2014/main" id="{6E1F5350-0F02-4483-A82E-0059A54EDB3D}"/>
              </a:ext>
            </a:extLst>
          </p:cNvPr>
          <p:cNvSpPr>
            <a:spLocks xmlns:a="http://schemas.openxmlformats.org/drawingml/2006/main" noGrp="1"/>
          </p:cNvSpPr>
          <p:nvPr/>
        </p:nvSpPr>
        <p:spPr>
          <a:xfrm xmlns:a="http://schemas.openxmlformats.org/drawingml/2006/main">
            <a:off x="9467850" y="3105150"/>
            <a:ext cx="533400" cy="533400"/>
          </a:xfrm>
          <a:prstGeom xmlns:a="http://schemas.openxmlformats.org/drawingml/2006/main" prst="ellipse">
            <a:avLst/>
          </a:prstGeom>
          <a:solidFill xmlns:a="http://schemas.openxmlformats.org/drawingml/2006/main">
            <a:srgbClr val="EA4335"/>
          </a:solidFill>
          <a:ln xmlns:a="http://schemas.openxmlformats.org/drawingml/2006/main" w="9525">
            <a:solidFill>
              <a:srgbClr val="222222"/>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4</a:t>
            </a:r>
          </a:p>
        </p:txBody>
      </p:sp>
      <p:sp>
        <p:nvSpPr>
          <p:cNvPr id="17" name="">
            <a:extLst xmlns:a="http://schemas.openxmlformats.org/drawingml/2006/main">
              <a:ext uri="{FF2B5EF4-FFF2-40B4-BE49-F238E27FC236}">
                <a16:creationId xmlns:a16="http://schemas.microsoft.com/office/drawing/2014/main" id="{46CAC13A-C246-4073-9A23-85C00F97A989}"/>
              </a:ext>
            </a:extLst>
          </p:cNvPr>
          <p:cNvSpPr>
            <a:spLocks xmlns:a="http://schemas.openxmlformats.org/drawingml/2006/main" noGrp="1"/>
          </p:cNvSpPr>
          <p:nvPr/>
        </p:nvSpPr>
        <p:spPr>
          <a:xfrm xmlns:a="http://schemas.openxmlformats.org/drawingml/2006/main">
            <a:off x="9105900" y="3981450"/>
            <a:ext cx="125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11111"/>
                </a:solidFill>
              </a:defRPr>
            </a:pPr>
            <a:r>
              <a:rPr sz="1875" b="1">
                <a:solidFill>
                  <a:srgbClr val="111111"/>
                </a:solidFill>
              </a:rPr>
              <a:t>Test</a:t>
            </a:r>
          </a:p>
        </p:txBody>
      </p:sp>
      <p:sp>
        <p:nvSpPr>
          <p:cNvPr id="18" name="">
            <a:extLst xmlns:a="http://schemas.openxmlformats.org/drawingml/2006/main">
              <a:ext uri="{FF2B5EF4-FFF2-40B4-BE49-F238E27FC236}">
                <a16:creationId xmlns:a16="http://schemas.microsoft.com/office/drawing/2014/main" id="{A862E052-B068-4205-B44C-E401D35B25E5}"/>
              </a:ext>
            </a:extLst>
          </p:cNvPr>
          <p:cNvSpPr>
            <a:spLocks xmlns:a="http://schemas.openxmlformats.org/drawingml/2006/main" noGrp="1"/>
          </p:cNvSpPr>
          <p:nvPr/>
        </p:nvSpPr>
        <p:spPr>
          <a:xfrm xmlns:a="http://schemas.openxmlformats.org/drawingml/2006/main">
            <a:off x="8648700" y="4419600"/>
            <a:ext cx="2171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0">
                <a:solidFill>
                  <a:srgbClr val="555A61"/>
                </a:solidFill>
              </a:defRPr>
            </a:pPr>
            <a:r>
              <a:rPr sz="1425" b="0">
                <a:solidFill>
                  <a:srgbClr val="555A61"/>
                </a:solidFill>
              </a:rPr>
              <a:t>Study whether players understand and enjoy the resulting challenges.</a:t>
            </a:r>
          </a:p>
        </p:txBody>
      </p:sp>
    </p:spTree>
    <p:extLst>
      <p:ext uri="{BB962C8B-B14F-4D97-AF65-F5344CB8AC3E}">
        <p14:creationId xmlns:p14="http://schemas.microsoft.com/office/powerpoint/2010/main" val="166793428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032315-6E36-476C-A5B0-04C4DCBCC449}"/>
              </a:ext>
            </a:extLst>
          </p:cNvPr>
          <p:cNvSpPr>
            <a:spLocks xmlns:a="http://schemas.openxmlformats.org/drawingml/2006/main" noGrp="1"/>
          </p:cNvSpPr>
          <p:nvPr/>
        </p:nvSpPr>
        <p:spPr>
          <a:xfrm xmlns:a="http://schemas.openxmlformats.org/drawingml/2006/main">
            <a:off x="609600" y="685800"/>
            <a:ext cx="723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200" b="1">
                <a:solidFill>
                  <a:srgbClr val="111111"/>
                </a:solidFill>
              </a:defRPr>
            </a:pPr>
            <a:r>
              <a:rPr sz="4200" b="1">
                <a:solidFill>
                  <a:srgbClr val="111111"/>
                </a:solidFill>
              </a:rPr>
              <a:t>Discussion</a:t>
            </a:r>
          </a:p>
        </p:txBody>
      </p:sp>
      <p:sp>
        <p:nvSpPr>
          <p:cNvPr id="2" name="">
            <a:extLst xmlns:a="http://schemas.openxmlformats.org/drawingml/2006/main">
              <a:ext uri="{FF2B5EF4-FFF2-40B4-BE49-F238E27FC236}">
                <a16:creationId xmlns:a16="http://schemas.microsoft.com/office/drawing/2014/main" id="{022EC558-9A32-44F3-BF83-054529A75BB7}"/>
              </a:ext>
            </a:extLst>
          </p:cNvPr>
          <p:cNvSpPr>
            <a:spLocks xmlns:a="http://schemas.openxmlformats.org/drawingml/2006/main" noGrp="1"/>
          </p:cNvSpPr>
          <p:nvPr/>
        </p:nvSpPr>
        <p:spPr>
          <a:xfrm xmlns:a="http://schemas.openxmlformats.org/drawingml/2006/main">
            <a:off x="628650" y="19050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3D8DFF"/>
                </a:solidFill>
              </a:defRPr>
            </a:pPr>
            <a:r>
              <a:rPr sz="1725" b="1">
                <a:solidFill>
                  <a:srgbClr val="3D8DFF"/>
                </a:solidFill>
              </a:rPr>
              <a:t>Key takeaway</a:t>
            </a:r>
          </a:p>
        </p:txBody>
      </p:sp>
      <p:sp>
        <p:nvSpPr>
          <p:cNvPr id="3" name="">
            <a:extLst xmlns:a="http://schemas.openxmlformats.org/drawingml/2006/main">
              <a:ext uri="{FF2B5EF4-FFF2-40B4-BE49-F238E27FC236}">
                <a16:creationId xmlns:a16="http://schemas.microsoft.com/office/drawing/2014/main" id="{D300CD4B-FF78-42BB-B8F0-28966B87CD71}"/>
              </a:ext>
            </a:extLst>
          </p:cNvPr>
          <p:cNvSpPr>
            <a:spLocks xmlns:a="http://schemas.openxmlformats.org/drawingml/2006/main" noGrp="1"/>
          </p:cNvSpPr>
          <p:nvPr/>
        </p:nvSpPr>
        <p:spPr>
          <a:xfrm xmlns:a="http://schemas.openxmlformats.org/drawingml/2006/main">
            <a:off x="628650" y="234315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a:solidFill>
                  <a:srgbClr val="111111"/>
                </a:solidFill>
              </a:defRPr>
            </a:pPr>
            <a:r>
              <a:rPr sz="2400" b="1">
                <a:solidFill>
                  <a:srgbClr val="111111"/>
                </a:solidFill>
              </a:rPr>
              <a:t>The prototypes suggest that NP-complete problems can become playable constraint systems, not just metaphors for difficulty.</a:t>
            </a:r>
          </a:p>
        </p:txBody>
      </p:sp>
      <p:sp>
        <p:nvSpPr>
          <p:cNvPr id="4" name="">
            <a:extLst xmlns:a="http://schemas.openxmlformats.org/drawingml/2006/main">
              <a:ext uri="{FF2B5EF4-FFF2-40B4-BE49-F238E27FC236}">
                <a16:creationId xmlns:a16="http://schemas.microsoft.com/office/drawing/2014/main" id="{B1DA5C4D-0B12-49A1-9E88-27F5C54FA1AE}"/>
              </a:ext>
            </a:extLst>
          </p:cNvPr>
          <p:cNvSpPr>
            <a:spLocks xmlns:a="http://schemas.openxmlformats.org/drawingml/2006/main" noGrp="1"/>
          </p:cNvSpPr>
          <p:nvPr/>
        </p:nvSpPr>
        <p:spPr>
          <a:xfrm xmlns:a="http://schemas.openxmlformats.org/drawingml/2006/main">
            <a:off x="628650" y="40576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34A853"/>
                </a:solidFill>
              </a:defRPr>
            </a:pPr>
            <a:r>
              <a:rPr sz="1725" b="1">
                <a:solidFill>
                  <a:srgbClr val="34A853"/>
                </a:solidFill>
              </a:rPr>
              <a:t>Questions to invite</a:t>
            </a:r>
          </a:p>
        </p:txBody>
      </p:sp>
      <p:sp>
        <p:nvSpPr>
          <p:cNvPr id="5" name="">
            <a:extLst xmlns:a="http://schemas.openxmlformats.org/drawingml/2006/main">
              <a:ext uri="{FF2B5EF4-FFF2-40B4-BE49-F238E27FC236}">
                <a16:creationId xmlns:a16="http://schemas.microsoft.com/office/drawing/2014/main" id="{3987DF3D-56EA-4E18-80A1-C6C9AEAE188B}"/>
              </a:ext>
            </a:extLst>
          </p:cNvPr>
          <p:cNvSpPr>
            <a:spLocks xmlns:a="http://schemas.openxmlformats.org/drawingml/2006/main" noGrp="1"/>
          </p:cNvSpPr>
          <p:nvPr/>
        </p:nvSpPr>
        <p:spPr>
          <a:xfrm xmlns:a="http://schemas.openxmlformats.org/drawingml/2006/main">
            <a:off x="647700" y="46672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85B7630B-B5AF-48B8-96CD-12E13CC4D8B6}"/>
              </a:ext>
            </a:extLst>
          </p:cNvPr>
          <p:cNvSpPr>
            <a:spLocks xmlns:a="http://schemas.openxmlformats.org/drawingml/2006/main" noGrp="1"/>
          </p:cNvSpPr>
          <p:nvPr/>
        </p:nvSpPr>
        <p:spPr>
          <a:xfrm xmlns:a="http://schemas.openxmlformats.org/drawingml/2006/main">
            <a:off x="876300" y="4572000"/>
            <a:ext cx="910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111111"/>
                </a:solidFill>
              </a:defRPr>
            </a:pPr>
            <a:r>
              <a:rPr sz="1650" b="0">
                <a:solidFill>
                  <a:srgbClr val="111111"/>
                </a:solidFill>
              </a:rPr>
              <a:t>What level of formal proof is needed for a game-based reduction?</a:t>
            </a:r>
          </a:p>
        </p:txBody>
      </p:sp>
      <p:sp>
        <p:nvSpPr>
          <p:cNvPr id="7" name="">
            <a:extLst xmlns:a="http://schemas.openxmlformats.org/drawingml/2006/main">
              <a:ext uri="{FF2B5EF4-FFF2-40B4-BE49-F238E27FC236}">
                <a16:creationId xmlns:a16="http://schemas.microsoft.com/office/drawing/2014/main" id="{286054AD-4E63-48DA-A353-0ACEC38565FB}"/>
              </a:ext>
            </a:extLst>
          </p:cNvPr>
          <p:cNvSpPr>
            <a:spLocks xmlns:a="http://schemas.openxmlformats.org/drawingml/2006/main" noGrp="1"/>
          </p:cNvSpPr>
          <p:nvPr/>
        </p:nvSpPr>
        <p:spPr>
          <a:xfrm xmlns:a="http://schemas.openxmlformats.org/drawingml/2006/main">
            <a:off x="647700" y="51435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E3C03D26-98D0-4F0E-B007-0E17AB063F93}"/>
              </a:ext>
            </a:extLst>
          </p:cNvPr>
          <p:cNvSpPr>
            <a:spLocks xmlns:a="http://schemas.openxmlformats.org/drawingml/2006/main" noGrp="1"/>
          </p:cNvSpPr>
          <p:nvPr/>
        </p:nvSpPr>
        <p:spPr>
          <a:xfrm xmlns:a="http://schemas.openxmlformats.org/drawingml/2006/main">
            <a:off x="876300" y="5048250"/>
            <a:ext cx="910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111111"/>
                </a:solidFill>
              </a:defRPr>
            </a:pPr>
            <a:r>
              <a:rPr sz="1650" b="0">
                <a:solidFill>
                  <a:srgbClr val="111111"/>
                </a:solidFill>
              </a:rPr>
              <a:t>How should unsatisfiable or impossible instances be presented to players?</a:t>
            </a:r>
          </a:p>
        </p:txBody>
      </p:sp>
      <p:sp>
        <p:nvSpPr>
          <p:cNvPr id="9" name="">
            <a:extLst xmlns:a="http://schemas.openxmlformats.org/drawingml/2006/main">
              <a:ext uri="{FF2B5EF4-FFF2-40B4-BE49-F238E27FC236}">
                <a16:creationId xmlns:a16="http://schemas.microsoft.com/office/drawing/2014/main" id="{05822C38-55A3-4A80-B8E0-CF8CF4AB23C8}"/>
              </a:ext>
            </a:extLst>
          </p:cNvPr>
          <p:cNvSpPr>
            <a:spLocks xmlns:a="http://schemas.openxmlformats.org/drawingml/2006/main" noGrp="1"/>
          </p:cNvSpPr>
          <p:nvPr/>
        </p:nvSpPr>
        <p:spPr>
          <a:xfrm xmlns:a="http://schemas.openxmlformats.org/drawingml/2006/main">
            <a:off x="647700" y="56197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ED0C74D1-28D6-406A-AC4E-0A61CEE27077}"/>
              </a:ext>
            </a:extLst>
          </p:cNvPr>
          <p:cNvSpPr>
            <a:spLocks xmlns:a="http://schemas.openxmlformats.org/drawingml/2006/main" noGrp="1"/>
          </p:cNvSpPr>
          <p:nvPr/>
        </p:nvSpPr>
        <p:spPr>
          <a:xfrm xmlns:a="http://schemas.openxmlformats.org/drawingml/2006/main">
            <a:off x="876300" y="5524500"/>
            <a:ext cx="910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111111"/>
                </a:solidFill>
              </a:defRPr>
            </a:pPr>
            <a:r>
              <a:rPr sz="1650" b="0">
                <a:solidFill>
                  <a:srgbClr val="111111"/>
                </a:solidFill>
              </a:rPr>
              <a:t>Where is the boundary between mathematical structure and game-design fun?</a:t>
            </a:r>
          </a:p>
        </p:txBody>
      </p:sp>
      <p:sp>
        <p:nvSpPr>
          <p:cNvPr id="11" name="">
            <a:extLst xmlns:a="http://schemas.openxmlformats.org/drawingml/2006/main">
              <a:ext uri="{FF2B5EF4-FFF2-40B4-BE49-F238E27FC236}">
                <a16:creationId xmlns:a16="http://schemas.microsoft.com/office/drawing/2014/main" id="{0F7BA996-6F67-4CF1-8976-4FE39ABB081B}"/>
              </a:ext>
            </a:extLst>
          </p:cNvPr>
          <p:cNvSpPr>
            <a:spLocks xmlns:a="http://schemas.openxmlformats.org/drawingml/2006/main" noGrp="1"/>
          </p:cNvSpPr>
          <p:nvPr/>
        </p:nvSpPr>
        <p:spPr>
          <a:xfrm xmlns:a="http://schemas.openxmlformats.org/drawingml/2006/main">
            <a:off x="11296650" y="621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13</a:t>
            </a:r>
          </a:p>
        </p:txBody>
      </p:sp>
    </p:spTree>
    <p:extLst>
      <p:ext uri="{BB962C8B-B14F-4D97-AF65-F5344CB8AC3E}">
        <p14:creationId xmlns:p14="http://schemas.microsoft.com/office/powerpoint/2010/main" val="13814512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2026-07-12T00:04:20.8790000Z</dcterms:created>
  <dcterms:modified xsi:type="dcterms:W3CDTF">2026-07-12T00:04:20.8790000Z</dcterms:modified>
</coreProperties>
</file>