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46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3BFC78E-0531-4816-B823-0033A44D6AA1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810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Making Bullet-Hell Generation Safer with 3SAT and Hamilton Paths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D9F0E62-FC0A-4232-A30F-EFC3ACD9D6A6}"/>
              </a:ext>
            </a:extLst>
          </p:cNvPr>
          <p:cNvSpPr>
            <a:spLocks noGrp="1"/>
          </p:cNvSpPr>
          <p:nvPr/>
        </p:nvSpPr>
        <p:spPr>
          <a:xfrm>
            <a:off x="647700" y="28956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55A61"/>
                </a:solidFill>
              </a:defRPr>
            </a:pPr>
            <a:r>
              <a:rPr sz="1800" b="0">
                <a:solidFill>
                  <a:srgbClr val="555A61"/>
                </a:solidFill>
              </a:rPr>
              <a:t>Starting a research project in an I Wanna-style engine built with Siv3D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F52D239D-6B35-4CC3-8810-FC7899BF59C8}"/>
              </a:ext>
            </a:extLst>
          </p:cNvPr>
          <p:cNvSpPr>
            <a:spLocks noGrp="1"/>
          </p:cNvSpPr>
          <p:nvPr/>
        </p:nvSpPr>
        <p:spPr>
          <a:xfrm>
            <a:off x="8705850" y="914400"/>
            <a:ext cx="2400300" cy="4038600"/>
          </a:xfrm>
          <a:prstGeom prst="roundRect">
            <a:avLst>
              <a:gd name="adj" fmla="val 4762"/>
            </a:avLst>
          </a:prstGeom>
          <a:solidFill>
            <a:srgbClr val="F2F7FB"/>
          </a:solidFill>
          <a:ln w="9525">
            <a:solidFill>
              <a:srgbClr val="D4D7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FB88CBC-C410-40D5-AC44-4135913129FE}"/>
              </a:ext>
            </a:extLst>
          </p:cNvPr>
          <p:cNvSpPr>
            <a:spLocks noGrp="1"/>
          </p:cNvSpPr>
          <p:nvPr/>
        </p:nvSpPr>
        <p:spPr>
          <a:xfrm>
            <a:off x="9105900" y="1466850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3SAT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801F5A6-86D9-4599-8658-F9101F3DFBCF}"/>
              </a:ext>
            </a:extLst>
          </p:cNvPr>
          <p:cNvSpPr>
            <a:spLocks noGrp="1"/>
          </p:cNvSpPr>
          <p:nvPr/>
        </p:nvSpPr>
        <p:spPr>
          <a:xfrm>
            <a:off x="9620250" y="2381250"/>
            <a:ext cx="571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+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C25F116-49F6-436A-A66B-D91B09257290}"/>
              </a:ext>
            </a:extLst>
          </p:cNvPr>
          <p:cNvSpPr>
            <a:spLocks noGrp="1"/>
          </p:cNvSpPr>
          <p:nvPr/>
        </p:nvSpPr>
        <p:spPr>
          <a:xfrm>
            <a:off x="9086850" y="3162300"/>
            <a:ext cx="1714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34A853"/>
                </a:solidFill>
              </a:defRPr>
            </a:pPr>
            <a:r>
              <a:rPr sz="2700" b="1">
                <a:solidFill>
                  <a:srgbClr val="34A853"/>
                </a:solidFill>
              </a:rPr>
              <a:t>Hamilton</a:t>
            </a:r>
          </a:p>
          <a:p>
            <a:pPr algn="l">
              <a:defRPr sz="2700" b="1">
                <a:solidFill>
                  <a:srgbClr val="34A853"/>
                </a:solidFill>
              </a:defRPr>
            </a:pPr>
            <a:r>
              <a:rPr sz="2700" b="1">
                <a:solidFill>
                  <a:srgbClr val="34A853"/>
                </a:solidFill>
              </a:rPr>
              <a:t>Path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1D17030-E7F8-4ABD-8568-9D459927EEE0}"/>
              </a:ext>
            </a:extLst>
          </p:cNvPr>
          <p:cNvSpPr>
            <a:spLocks noGrp="1"/>
          </p:cNvSpPr>
          <p:nvPr/>
        </p:nvSpPr>
        <p:spPr>
          <a:xfrm>
            <a:off x="647700" y="56007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20-minute research introduction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E0BEA3E-8CB4-4AFD-B9A5-C9BADD71134F}"/>
              </a:ext>
            </a:extLst>
          </p:cNvPr>
          <p:cNvSpPr>
            <a:spLocks noGrp="1"/>
          </p:cNvSpPr>
          <p:nvPr/>
        </p:nvSpPr>
        <p:spPr>
          <a:xfrm>
            <a:off x="11239500" y="62293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16143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7E8D443-D139-4ABE-ABC3-DF65A80E3B6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I build the kind of games I love to play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8C6C5EB-08BF-40E3-86CE-7A4EDDF890D1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A short introduction to the perspective behind this project.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555EA23-3880-4363-9D13-6E43A11FBBB2}"/>
              </a:ext>
            </a:extLst>
          </p:cNvPr>
          <p:cNvSpPr>
            <a:spLocks noGrp="1"/>
          </p:cNvSpPr>
          <p:nvPr/>
        </p:nvSpPr>
        <p:spPr>
          <a:xfrm>
            <a:off x="11239500" y="62293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02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6968C25-819C-44E0-B433-826FF5C6D9CC}"/>
              </a:ext>
            </a:extLst>
          </p:cNvPr>
          <p:cNvSpPr>
            <a:spLocks noGrp="1"/>
          </p:cNvSpPr>
          <p:nvPr/>
        </p:nvSpPr>
        <p:spPr>
          <a:xfrm>
            <a:off x="723900" y="1924050"/>
            <a:ext cx="4000500" cy="314325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9525">
            <a:solidFill>
              <a:srgbClr val="D4D7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468A4E9-1F46-44DB-8B3C-595AAD5818AA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3238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Ryota Izumi</a:t>
            </a: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03E00294-7365-4428-88F1-5106E7EE3126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8BD483E-FB18-4F65-AEF3-A8BCFCBB00F0}"/>
              </a:ext>
            </a:extLst>
          </p:cNvPr>
          <p:cNvSpPr>
            <a:spLocks noGrp="1"/>
          </p:cNvSpPr>
          <p:nvPr/>
        </p:nvSpPr>
        <p:spPr>
          <a:xfrm>
            <a:off x="1295400" y="3048000"/>
            <a:ext cx="3009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I enjoy I Wanna fangames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7533EAE-3E2C-4592-8EEB-EE7423308055}"/>
              </a:ext>
            </a:extLst>
          </p:cNvPr>
          <p:cNvSpPr>
            <a:spLocks noGrp="1"/>
          </p:cNvSpPr>
          <p:nvPr/>
        </p:nvSpPr>
        <p:spPr>
          <a:xfrm>
            <a:off x="1066800" y="377190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2DCC600-86B9-46A2-B6F4-1D2F17961B03}"/>
              </a:ext>
            </a:extLst>
          </p:cNvPr>
          <p:cNvSpPr>
            <a:spLocks noGrp="1"/>
          </p:cNvSpPr>
          <p:nvPr/>
        </p:nvSpPr>
        <p:spPr>
          <a:xfrm>
            <a:off x="1295400" y="3676650"/>
            <a:ext cx="3009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My favorite stages are Avoidance-style bullet hells</a:t>
            </a: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B723131-3F04-4C94-952F-3DDA9828DA45}"/>
              </a:ext>
            </a:extLst>
          </p:cNvPr>
          <p:cNvSpPr>
            <a:spLocks noGrp="1"/>
          </p:cNvSpPr>
          <p:nvPr/>
        </p:nvSpPr>
        <p:spPr>
          <a:xfrm>
            <a:off x="1066800" y="440055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3A67001-5C7E-48C1-A18F-057AA33F3AF4}"/>
              </a:ext>
            </a:extLst>
          </p:cNvPr>
          <p:cNvSpPr>
            <a:spLocks noGrp="1"/>
          </p:cNvSpPr>
          <p:nvPr/>
        </p:nvSpPr>
        <p:spPr>
          <a:xfrm>
            <a:off x="1295400" y="4305300"/>
            <a:ext cx="3009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I am developing an I Wanna engine with Siv3D</a:t>
            </a:r>
          </a:p>
        </p:txBody>
      </p:sp>
      <p:pic>
        <p:nvPicPr>
          <p:cNvPr id="25" name="図 24"/>
          <p:cNvPicPr>
            <a:picLocks noChangeAspect="1"/>
          </p:cNvPicPr>
          <p:nvPr/>
        </p:nvPicPr>
        <p:blipFill>
          <a:blip r:embed="rId3"/>
          <a:srcRect t="14703" b="14703"/>
          <a:stretch>
            <a:fillRect/>
          </a:stretch>
        </p:blipFill>
        <p:spPr>
          <a:xfrm>
            <a:off x="5314950" y="1847850"/>
            <a:ext cx="6000750" cy="3371850"/>
          </a:xfrm>
          <a:prstGeom prst="roundRect">
            <a:avLst>
              <a:gd name="adj" fmla="val 3390"/>
            </a:avLst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B87B384-54D7-4DD3-9883-78EBE9D0D319}"/>
              </a:ext>
            </a:extLst>
          </p:cNvPr>
          <p:cNvSpPr>
            <a:spLocks noGrp="1"/>
          </p:cNvSpPr>
          <p:nvPr/>
        </p:nvSpPr>
        <p:spPr>
          <a:xfrm>
            <a:off x="5314950" y="5429250"/>
            <a:ext cx="596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Design interest: patterns that feel musical, readable, and fair.</a:t>
            </a:r>
          </a:p>
        </p:txBody>
      </p:sp>
    </p:spTree>
    <p:extLst>
      <p:ext uri="{BB962C8B-B14F-4D97-AF65-F5344CB8AC3E}">
        <p14:creationId xmlns:p14="http://schemas.microsoft.com/office/powerpoint/2010/main" val="428638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831AF2C-70C5-446C-8FEF-553FCA22384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Avoidance turns survival into a performance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550F244-1A5B-4B95-973D-0E784ED72B42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The player dodges a scripted barrage—often synchronized to music—until the sequence ends.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BFA77FE-7050-4F09-8B9E-5B804B519CBC}"/>
              </a:ext>
            </a:extLst>
          </p:cNvPr>
          <p:cNvSpPr>
            <a:spLocks noGrp="1"/>
          </p:cNvSpPr>
          <p:nvPr/>
        </p:nvSpPr>
        <p:spPr>
          <a:xfrm>
            <a:off x="11239500" y="62293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03</a:t>
            </a:r>
          </a:p>
        </p:txBody>
      </p:sp>
      <p:pic>
        <p:nvPicPr>
          <p:cNvPr id="18" name="図 17"/>
          <p:cNvPicPr>
            <a:picLocks noChangeAspect="1"/>
          </p:cNvPicPr>
          <p:nvPr/>
        </p:nvPicPr>
        <p:blipFill>
          <a:blip r:embed="rId3"/>
          <a:srcRect t="10957" b="10957"/>
          <a:stretch>
            <a:fillRect/>
          </a:stretch>
        </p:blipFill>
        <p:spPr>
          <a:xfrm>
            <a:off x="704850" y="1847850"/>
            <a:ext cx="6191250" cy="3848100"/>
          </a:xfrm>
          <a:prstGeom prst="roundRect">
            <a:avLst>
              <a:gd name="adj" fmla="val 2970"/>
            </a:avLst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F344796-647C-4777-8879-EFD31E749C1E}"/>
              </a:ext>
            </a:extLst>
          </p:cNvPr>
          <p:cNvSpPr>
            <a:spLocks noGrp="1"/>
          </p:cNvSpPr>
          <p:nvPr/>
        </p:nvSpPr>
        <p:spPr>
          <a:xfrm>
            <a:off x="7334250" y="1847850"/>
            <a:ext cx="3981450" cy="3848100"/>
          </a:xfrm>
          <a:prstGeom prst="roundRect">
            <a:avLst>
              <a:gd name="adj" fmla="val 2970"/>
            </a:avLst>
          </a:prstGeom>
          <a:solidFill>
            <a:srgbClr val="F7F8FA"/>
          </a:solidFill>
          <a:ln w="9525">
            <a:solidFill>
              <a:srgbClr val="D4D7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1F0A9FD-4A09-4EB7-A1B5-A87529F182A3}"/>
              </a:ext>
            </a:extLst>
          </p:cNvPr>
          <p:cNvSpPr>
            <a:spLocks noGrp="1"/>
          </p:cNvSpPr>
          <p:nvPr/>
        </p:nvSpPr>
        <p:spPr>
          <a:xfrm>
            <a:off x="7696200" y="22098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Typical rules</a:t>
            </a: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82A115F-3E2D-4ACB-A1CE-34978B1D9178}"/>
              </a:ext>
            </a:extLst>
          </p:cNvPr>
          <p:cNvSpPr>
            <a:spLocks noGrp="1"/>
          </p:cNvSpPr>
          <p:nvPr/>
        </p:nvSpPr>
        <p:spPr>
          <a:xfrm>
            <a:off x="7696200" y="304800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8931089-C3C3-4152-B202-510C8EA342C6}"/>
              </a:ext>
            </a:extLst>
          </p:cNvPr>
          <p:cNvSpPr>
            <a:spLocks noGrp="1"/>
          </p:cNvSpPr>
          <p:nvPr/>
        </p:nvSpPr>
        <p:spPr>
          <a:xfrm>
            <a:off x="7924800" y="2952750"/>
            <a:ext cx="2914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One hit usually means death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5B958DFC-91B9-4267-BDBA-FA1F935B8128}"/>
              </a:ext>
            </a:extLst>
          </p:cNvPr>
          <p:cNvSpPr>
            <a:spLocks noGrp="1"/>
          </p:cNvSpPr>
          <p:nvPr/>
        </p:nvSpPr>
        <p:spPr>
          <a:xfrm>
            <a:off x="7696200" y="363855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C965358-CA27-4595-BA53-33B43D10FD67}"/>
              </a:ext>
            </a:extLst>
          </p:cNvPr>
          <p:cNvSpPr>
            <a:spLocks noGrp="1"/>
          </p:cNvSpPr>
          <p:nvPr/>
        </p:nvSpPr>
        <p:spPr>
          <a:xfrm>
            <a:off x="7924800" y="3543300"/>
            <a:ext cx="2914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The player has a small, precise hitbox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2220ECE-06DB-4763-8A62-89445C71B428}"/>
              </a:ext>
            </a:extLst>
          </p:cNvPr>
          <p:cNvSpPr>
            <a:spLocks noGrp="1"/>
          </p:cNvSpPr>
          <p:nvPr/>
        </p:nvSpPr>
        <p:spPr>
          <a:xfrm>
            <a:off x="7696200" y="422910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11D56C8-8BCB-4DDB-A03C-52AB922209FA}"/>
              </a:ext>
            </a:extLst>
          </p:cNvPr>
          <p:cNvSpPr>
            <a:spLocks noGrp="1"/>
          </p:cNvSpPr>
          <p:nvPr/>
        </p:nvSpPr>
        <p:spPr>
          <a:xfrm>
            <a:off x="7924800" y="4133850"/>
            <a:ext cx="2914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Patterns evolve with the song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4888C0DF-E98E-44BA-A6B5-96A54984955D}"/>
              </a:ext>
            </a:extLst>
          </p:cNvPr>
          <p:cNvSpPr>
            <a:spLocks noGrp="1"/>
          </p:cNvSpPr>
          <p:nvPr/>
        </p:nvSpPr>
        <p:spPr>
          <a:xfrm>
            <a:off x="7696200" y="481965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1AAA754-7CFE-48EE-9D54-1EFC053A10C6}"/>
              </a:ext>
            </a:extLst>
          </p:cNvPr>
          <p:cNvSpPr>
            <a:spLocks noGrp="1"/>
          </p:cNvSpPr>
          <p:nvPr/>
        </p:nvSpPr>
        <p:spPr>
          <a:xfrm>
            <a:off x="7924800" y="4724400"/>
            <a:ext cx="2914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Learning through retries is expected</a:t>
            </a:r>
          </a:p>
        </p:txBody>
      </p:sp>
    </p:spTree>
    <p:extLst>
      <p:ext uri="{BB962C8B-B14F-4D97-AF65-F5344CB8AC3E}">
        <p14:creationId xmlns:p14="http://schemas.microsoft.com/office/powerpoint/2010/main" val="1360141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47A010A-6B67-4A51-B83F-EF4C31E62D2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Siv3D provides a controllable testbed for I Wanna mechanics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EC805CC-D7A6-4F6B-878E-5F5E9D2F6459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The engine lets the same runtime support ordinary stages, Avoidance patterns, and research prototypes.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4CBD4C7-915B-43B1-B663-342F53E8A3D2}"/>
              </a:ext>
            </a:extLst>
          </p:cNvPr>
          <p:cNvSpPr>
            <a:spLocks noGrp="1"/>
          </p:cNvSpPr>
          <p:nvPr/>
        </p:nvSpPr>
        <p:spPr>
          <a:xfrm>
            <a:off x="11239500" y="62293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04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BFB2CB1-78A6-427C-B19E-AAB0E4C956CA}"/>
              </a:ext>
            </a:extLst>
          </p:cNvPr>
          <p:cNvSpPr>
            <a:spLocks noGrp="1"/>
          </p:cNvSpPr>
          <p:nvPr/>
        </p:nvSpPr>
        <p:spPr>
          <a:xfrm>
            <a:off x="704850" y="2152650"/>
            <a:ext cx="2324100" cy="2571750"/>
          </a:xfrm>
          <a:prstGeom prst="roundRect">
            <a:avLst>
              <a:gd name="adj" fmla="val 4918"/>
            </a:avLst>
          </a:prstGeom>
          <a:solidFill>
            <a:srgbClr val="F7F8FA"/>
          </a:solidFill>
          <a:ln w="9525">
            <a:solidFill>
              <a:srgbClr val="D4D7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E1BBA17-03EA-4062-8184-019715849570}"/>
              </a:ext>
            </a:extLst>
          </p:cNvPr>
          <p:cNvSpPr>
            <a:spLocks noGrp="1"/>
          </p:cNvSpPr>
          <p:nvPr/>
        </p:nvSpPr>
        <p:spPr>
          <a:xfrm>
            <a:off x="933450" y="23812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96CDB91-A8A3-45B9-B50C-CF9CA5DBA347}"/>
              </a:ext>
            </a:extLst>
          </p:cNvPr>
          <p:cNvSpPr>
            <a:spLocks noGrp="1"/>
          </p:cNvSpPr>
          <p:nvPr/>
        </p:nvSpPr>
        <p:spPr>
          <a:xfrm>
            <a:off x="933450" y="2990850"/>
            <a:ext cx="1847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Core movement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6BB6DF1-BEAC-448B-BCD5-F476A7942DB4}"/>
              </a:ext>
            </a:extLst>
          </p:cNvPr>
          <p:cNvSpPr>
            <a:spLocks noGrp="1"/>
          </p:cNvSpPr>
          <p:nvPr/>
        </p:nvSpPr>
        <p:spPr>
          <a:xfrm>
            <a:off x="933450" y="3810000"/>
            <a:ext cx="1847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A61"/>
                </a:solidFill>
              </a:defRPr>
            </a:pPr>
            <a:r>
              <a:rPr sz="1425" b="0">
                <a:solidFill>
                  <a:srgbClr val="555A61"/>
                </a:solidFill>
              </a:rPr>
              <a:t>Run, jump, double jump, collision</a:t>
            </a:r>
          </a:p>
        </p:txBody>
      </p:sp>
      <p:sp>
        <p:nvSpPr>
          <p:cNvPr id="8" name="直線コネクタ 7">
            <a:extLst>
              <a:ext uri="{FF2B5EF4-FFF2-40B4-BE49-F238E27FC236}">
                <a16:creationId xmlns:a16="http://schemas.microsoft.com/office/drawing/2014/main" id="{BC6D508C-493B-40AC-BAD4-7FFD83210163}"/>
              </a:ext>
            </a:extLst>
          </p:cNvPr>
          <p:cNvSpPr>
            <a:spLocks noGrp="1"/>
          </p:cNvSpPr>
          <p:nvPr/>
        </p:nvSpPr>
        <p:spPr>
          <a:xfrm>
            <a:off x="3067050" y="3429000"/>
            <a:ext cx="342900" cy="0"/>
          </a:xfrm>
          <a:prstGeom prst="line">
            <a:avLst/>
          </a:prstGeom>
          <a:noFill/>
          <a:ln w="2857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C6E4CE0-738A-458B-9376-94DB562339E5}"/>
              </a:ext>
            </a:extLst>
          </p:cNvPr>
          <p:cNvSpPr>
            <a:spLocks noGrp="1"/>
          </p:cNvSpPr>
          <p:nvPr/>
        </p:nvSpPr>
        <p:spPr>
          <a:xfrm>
            <a:off x="3524250" y="2152650"/>
            <a:ext cx="2324100" cy="2571750"/>
          </a:xfrm>
          <a:prstGeom prst="roundRect">
            <a:avLst>
              <a:gd name="adj" fmla="val 4918"/>
            </a:avLst>
          </a:prstGeom>
          <a:solidFill>
            <a:srgbClr val="F7F8FA"/>
          </a:solidFill>
          <a:ln w="9525">
            <a:solidFill>
              <a:srgbClr val="D4D7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075B982-FF50-41CB-9D7B-6C500576A6AB}"/>
              </a:ext>
            </a:extLst>
          </p:cNvPr>
          <p:cNvSpPr>
            <a:spLocks noGrp="1"/>
          </p:cNvSpPr>
          <p:nvPr/>
        </p:nvSpPr>
        <p:spPr>
          <a:xfrm>
            <a:off x="3752850" y="23812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34A853"/>
                </a:solidFill>
              </a:defRPr>
            </a:pPr>
            <a:r>
              <a:rPr sz="2100" b="1">
                <a:solidFill>
                  <a:srgbClr val="34A853"/>
                </a:solidFill>
              </a:rPr>
              <a:t>2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A07289A-C4EF-4433-9BA5-412AFC1A6ED2}"/>
              </a:ext>
            </a:extLst>
          </p:cNvPr>
          <p:cNvSpPr>
            <a:spLocks noGrp="1"/>
          </p:cNvSpPr>
          <p:nvPr/>
        </p:nvSpPr>
        <p:spPr>
          <a:xfrm>
            <a:off x="3752850" y="2990850"/>
            <a:ext cx="1847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I Wanna objects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38149FF-EC8A-41F0-BD0F-F69C8923BAA9}"/>
              </a:ext>
            </a:extLst>
          </p:cNvPr>
          <p:cNvSpPr>
            <a:spLocks noGrp="1"/>
          </p:cNvSpPr>
          <p:nvPr/>
        </p:nvSpPr>
        <p:spPr>
          <a:xfrm>
            <a:off x="3752850" y="3810000"/>
            <a:ext cx="1847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A61"/>
                </a:solidFill>
              </a:defRPr>
            </a:pPr>
            <a:r>
              <a:rPr sz="1425" b="0" dirty="0">
                <a:solidFill>
                  <a:srgbClr val="555A61"/>
                </a:solidFill>
              </a:rPr>
              <a:t>Blocks,  cherries</a:t>
            </a:r>
          </a:p>
        </p:txBody>
      </p:sp>
      <p:sp>
        <p:nvSpPr>
          <p:cNvPr id="13" name="直線コネクタ 12">
            <a:extLst>
              <a:ext uri="{FF2B5EF4-FFF2-40B4-BE49-F238E27FC236}">
                <a16:creationId xmlns:a16="http://schemas.microsoft.com/office/drawing/2014/main" id="{E0D0D4D6-F1C0-4C98-880C-C559DBE2096C}"/>
              </a:ext>
            </a:extLst>
          </p:cNvPr>
          <p:cNvSpPr>
            <a:spLocks noGrp="1"/>
          </p:cNvSpPr>
          <p:nvPr/>
        </p:nvSpPr>
        <p:spPr>
          <a:xfrm>
            <a:off x="5886450" y="3429000"/>
            <a:ext cx="342900" cy="0"/>
          </a:xfrm>
          <a:prstGeom prst="line">
            <a:avLst/>
          </a:prstGeom>
          <a:noFill/>
          <a:ln w="2857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5A012A7-D1EB-4142-9892-C84266AC2B30}"/>
              </a:ext>
            </a:extLst>
          </p:cNvPr>
          <p:cNvSpPr>
            <a:spLocks noGrp="1"/>
          </p:cNvSpPr>
          <p:nvPr/>
        </p:nvSpPr>
        <p:spPr>
          <a:xfrm>
            <a:off x="6343650" y="2152650"/>
            <a:ext cx="2324100" cy="2571750"/>
          </a:xfrm>
          <a:prstGeom prst="roundRect">
            <a:avLst>
              <a:gd name="adj" fmla="val 4918"/>
            </a:avLst>
          </a:prstGeom>
          <a:solidFill>
            <a:srgbClr val="F7F8FA"/>
          </a:solidFill>
          <a:ln w="9525">
            <a:solidFill>
              <a:srgbClr val="D4D7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DBF3DDE-1070-47A4-B87E-D0517F4054B0}"/>
              </a:ext>
            </a:extLst>
          </p:cNvPr>
          <p:cNvSpPr>
            <a:spLocks noGrp="1"/>
          </p:cNvSpPr>
          <p:nvPr/>
        </p:nvSpPr>
        <p:spPr>
          <a:xfrm>
            <a:off x="6572250" y="23812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6B73C"/>
                </a:solidFill>
              </a:defRPr>
            </a:pPr>
            <a:r>
              <a:rPr sz="2100" b="1">
                <a:solidFill>
                  <a:srgbClr val="F6B73C"/>
                </a:solidFill>
              </a:rPr>
              <a:t>3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4C26CEC-8E18-460C-B592-0DD81CCACFA5}"/>
              </a:ext>
            </a:extLst>
          </p:cNvPr>
          <p:cNvSpPr>
            <a:spLocks noGrp="1"/>
          </p:cNvSpPr>
          <p:nvPr/>
        </p:nvSpPr>
        <p:spPr>
          <a:xfrm>
            <a:off x="6572250" y="2990850"/>
            <a:ext cx="1847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Avoidance control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DED1420-D868-4298-B277-02DAAC681452}"/>
              </a:ext>
            </a:extLst>
          </p:cNvPr>
          <p:cNvSpPr>
            <a:spLocks noGrp="1"/>
          </p:cNvSpPr>
          <p:nvPr/>
        </p:nvSpPr>
        <p:spPr>
          <a:xfrm>
            <a:off x="6572250" y="3810000"/>
            <a:ext cx="1847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A61"/>
                </a:solidFill>
              </a:defRPr>
            </a:pPr>
            <a:r>
              <a:rPr sz="1425" b="0">
                <a:solidFill>
                  <a:srgbClr val="555A61"/>
                </a:solidFill>
              </a:rPr>
              <a:t>Timed spawns, music cues, scripted motion</a:t>
            </a:r>
          </a:p>
        </p:txBody>
      </p:sp>
      <p:sp>
        <p:nvSpPr>
          <p:cNvPr id="18" name="直線コネクタ 17">
            <a:extLst>
              <a:ext uri="{FF2B5EF4-FFF2-40B4-BE49-F238E27FC236}">
                <a16:creationId xmlns:a16="http://schemas.microsoft.com/office/drawing/2014/main" id="{7374365F-EF7A-482C-8DC0-1D569343F633}"/>
              </a:ext>
            </a:extLst>
          </p:cNvPr>
          <p:cNvSpPr>
            <a:spLocks noGrp="1"/>
          </p:cNvSpPr>
          <p:nvPr/>
        </p:nvSpPr>
        <p:spPr>
          <a:xfrm>
            <a:off x="8705850" y="3429000"/>
            <a:ext cx="342900" cy="0"/>
          </a:xfrm>
          <a:prstGeom prst="line">
            <a:avLst/>
          </a:prstGeom>
          <a:noFill/>
          <a:ln w="2857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639D0813-8D6C-4680-BEE0-D9D80BA9E942}"/>
              </a:ext>
            </a:extLst>
          </p:cNvPr>
          <p:cNvSpPr>
            <a:spLocks noGrp="1"/>
          </p:cNvSpPr>
          <p:nvPr/>
        </p:nvSpPr>
        <p:spPr>
          <a:xfrm>
            <a:off x="9163050" y="2152650"/>
            <a:ext cx="2324100" cy="2571750"/>
          </a:xfrm>
          <a:prstGeom prst="roundRect">
            <a:avLst>
              <a:gd name="adj" fmla="val 4918"/>
            </a:avLst>
          </a:prstGeom>
          <a:solidFill>
            <a:srgbClr val="F7F8FA"/>
          </a:solidFill>
          <a:ln w="9525">
            <a:solidFill>
              <a:srgbClr val="D4D7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9113C9F-FDDC-4C84-A483-73E462A1CE03}"/>
              </a:ext>
            </a:extLst>
          </p:cNvPr>
          <p:cNvSpPr>
            <a:spLocks noGrp="1"/>
          </p:cNvSpPr>
          <p:nvPr/>
        </p:nvSpPr>
        <p:spPr>
          <a:xfrm>
            <a:off x="9391650" y="23812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EA4335"/>
                </a:solidFill>
              </a:defRPr>
            </a:pPr>
            <a:r>
              <a:rPr sz="2100" b="1">
                <a:solidFill>
                  <a:srgbClr val="EA4335"/>
                </a:solidFill>
              </a:rPr>
              <a:t>4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C522DB2-5DD5-40C1-9BFF-5EB5844BA7A9}"/>
              </a:ext>
            </a:extLst>
          </p:cNvPr>
          <p:cNvSpPr>
            <a:spLocks noGrp="1"/>
          </p:cNvSpPr>
          <p:nvPr/>
        </p:nvSpPr>
        <p:spPr>
          <a:xfrm>
            <a:off x="9391650" y="2990850"/>
            <a:ext cx="1847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Research layer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25926F5-9CE1-4DB6-BED5-4C36747452A8}"/>
              </a:ext>
            </a:extLst>
          </p:cNvPr>
          <p:cNvSpPr>
            <a:spLocks noGrp="1"/>
          </p:cNvSpPr>
          <p:nvPr/>
        </p:nvSpPr>
        <p:spPr>
          <a:xfrm>
            <a:off x="9391650" y="3810000"/>
            <a:ext cx="1847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A61"/>
                </a:solidFill>
              </a:defRPr>
            </a:pPr>
            <a:r>
              <a:rPr sz="1425" b="0">
                <a:solidFill>
                  <a:srgbClr val="555A61"/>
                </a:solidFill>
              </a:rPr>
              <a:t>Generate, validate, and replay candidate patterns</a:t>
            </a:r>
          </a:p>
        </p:txBody>
      </p:sp>
    </p:spTree>
    <p:extLst>
      <p:ext uri="{BB962C8B-B14F-4D97-AF65-F5344CB8AC3E}">
        <p14:creationId xmlns:p14="http://schemas.microsoft.com/office/powerpoint/2010/main" val="108801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516ACA2-3C61-493E-84C6-BE0BCA62121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A beautiful barrage can still create an impossible state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6228693-D1EA-4AE5-89AF-BC6AFDE035DC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Music synchronization, spectacle, and difficulty interact—so manual or automatic generation may accidentally trap the player.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4F47E8F-1575-41BD-9C49-563303212230}"/>
              </a:ext>
            </a:extLst>
          </p:cNvPr>
          <p:cNvSpPr>
            <a:spLocks noGrp="1"/>
          </p:cNvSpPr>
          <p:nvPr/>
        </p:nvSpPr>
        <p:spPr>
          <a:xfrm>
            <a:off x="11239500" y="62293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05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231675C-B5F3-4D9A-9456-6F97ADE5BA9F}"/>
              </a:ext>
            </a:extLst>
          </p:cNvPr>
          <p:cNvSpPr>
            <a:spLocks noGrp="1"/>
          </p:cNvSpPr>
          <p:nvPr/>
        </p:nvSpPr>
        <p:spPr>
          <a:xfrm>
            <a:off x="704850" y="2057400"/>
            <a:ext cx="2990850" cy="2571750"/>
          </a:xfrm>
          <a:prstGeom prst="roundRect">
            <a:avLst>
              <a:gd name="adj" fmla="val 4444"/>
            </a:avLst>
          </a:prstGeom>
          <a:solidFill>
            <a:srgbClr val="F7F8FA"/>
          </a:solidFill>
          <a:ln w="9525">
            <a:solidFill>
              <a:srgbClr val="D4D7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3F4DE3-73EC-4FFA-9056-FD20F39601A3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Musical timing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1C1CA3E-7276-4318-8E4B-EEEB0214B266}"/>
              </a:ext>
            </a:extLst>
          </p:cNvPr>
          <p:cNvSpPr>
            <a:spLocks noGrp="1"/>
          </p:cNvSpPr>
          <p:nvPr/>
        </p:nvSpPr>
        <p:spPr>
          <a:xfrm>
            <a:off x="1009650" y="3105150"/>
            <a:ext cx="2266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A61"/>
                </a:solidFill>
              </a:defRPr>
            </a:pPr>
            <a:r>
              <a:rPr sz="1650" b="0">
                <a:solidFill>
                  <a:srgbClr val="555A61"/>
                </a:solidFill>
              </a:rPr>
              <a:t>Spawns and transitions must land on beats and phrases.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8A5D851-F3FA-4E16-B5F4-E7DA3EC8D4C9}"/>
              </a:ext>
            </a:extLst>
          </p:cNvPr>
          <p:cNvSpPr>
            <a:spLocks noGrp="1"/>
          </p:cNvSpPr>
          <p:nvPr/>
        </p:nvSpPr>
        <p:spPr>
          <a:xfrm>
            <a:off x="4610100" y="2057400"/>
            <a:ext cx="2990850" cy="2571750"/>
          </a:xfrm>
          <a:prstGeom prst="roundRect">
            <a:avLst>
              <a:gd name="adj" fmla="val 4444"/>
            </a:avLst>
          </a:prstGeom>
          <a:solidFill>
            <a:srgbClr val="F7F8FA"/>
          </a:solidFill>
          <a:ln w="9525">
            <a:solidFill>
              <a:srgbClr val="D4D7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5B2A57D-B60A-42CF-87E7-6E3CF14CFA0A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34A853"/>
                </a:solidFill>
              </a:defRPr>
            </a:pPr>
            <a:r>
              <a:rPr sz="2100" b="1">
                <a:solidFill>
                  <a:srgbClr val="34A853"/>
                </a:solidFill>
              </a:rPr>
              <a:t>Visual impact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E9BC10C-5527-444B-A16D-4512DFB44B7C}"/>
              </a:ext>
            </a:extLst>
          </p:cNvPr>
          <p:cNvSpPr>
            <a:spLocks noGrp="1"/>
          </p:cNvSpPr>
          <p:nvPr/>
        </p:nvSpPr>
        <p:spPr>
          <a:xfrm>
            <a:off x="4914900" y="3105150"/>
            <a:ext cx="2266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A61"/>
                </a:solidFill>
              </a:defRPr>
            </a:pPr>
            <a:r>
              <a:rPr sz="1650" b="0">
                <a:solidFill>
                  <a:srgbClr val="555A61"/>
                </a:solidFill>
              </a:rPr>
              <a:t>Dense motion and dramatic changes make the pattern memorable.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078C1D44-17B4-432C-9A4A-4DF2EA76F2A2}"/>
              </a:ext>
            </a:extLst>
          </p:cNvPr>
          <p:cNvSpPr>
            <a:spLocks noGrp="1"/>
          </p:cNvSpPr>
          <p:nvPr/>
        </p:nvSpPr>
        <p:spPr>
          <a:xfrm>
            <a:off x="8515350" y="2057400"/>
            <a:ext cx="2990850" cy="2571750"/>
          </a:xfrm>
          <a:prstGeom prst="roundRect">
            <a:avLst>
              <a:gd name="adj" fmla="val 4444"/>
            </a:avLst>
          </a:prstGeom>
          <a:solidFill>
            <a:srgbClr val="F7F8FA"/>
          </a:solidFill>
          <a:ln w="9525">
            <a:solidFill>
              <a:srgbClr val="D4D7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0834CFC-27FD-48FE-9821-8A6EC5DFD95E}"/>
              </a:ext>
            </a:extLst>
          </p:cNvPr>
          <p:cNvSpPr>
            <a:spLocks noGrp="1"/>
          </p:cNvSpPr>
          <p:nvPr/>
        </p:nvSpPr>
        <p:spPr>
          <a:xfrm>
            <a:off x="8820150" y="24003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EA4335"/>
                </a:solidFill>
              </a:defRPr>
            </a:pPr>
            <a:r>
              <a:rPr sz="2100" b="1">
                <a:solidFill>
                  <a:srgbClr val="EA4335"/>
                </a:solidFill>
              </a:rPr>
              <a:t>Guaranteed escape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14BDB09-14AB-45E2-B8EC-9E721104C4C0}"/>
              </a:ext>
            </a:extLst>
          </p:cNvPr>
          <p:cNvSpPr>
            <a:spLocks noGrp="1"/>
          </p:cNvSpPr>
          <p:nvPr/>
        </p:nvSpPr>
        <p:spPr>
          <a:xfrm>
            <a:off x="8820150" y="3105150"/>
            <a:ext cx="2266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A61"/>
                </a:solidFill>
              </a:defRPr>
            </a:pPr>
            <a:r>
              <a:rPr sz="1650" b="0">
                <a:solidFill>
                  <a:srgbClr val="555A61"/>
                </a:solidFill>
              </a:rPr>
              <a:t>At least one survivable route must remain through the barrage.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AABDF02-C00D-40F1-AC8E-307FA2A7BA84}"/>
              </a:ext>
            </a:extLst>
          </p:cNvPr>
          <p:cNvSpPr>
            <a:spLocks noGrp="1"/>
          </p:cNvSpPr>
          <p:nvPr/>
        </p:nvSpPr>
        <p:spPr>
          <a:xfrm>
            <a:off x="1123950" y="5257800"/>
            <a:ext cx="9944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Research goal: encode survivability constraints so generation becomes easier to design and safer to trust.</a:t>
            </a:r>
          </a:p>
        </p:txBody>
      </p:sp>
    </p:spTree>
    <p:extLst>
      <p:ext uri="{BB962C8B-B14F-4D97-AF65-F5344CB8AC3E}">
        <p14:creationId xmlns:p14="http://schemas.microsoft.com/office/powerpoint/2010/main" val="1619983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2ACDB4C-7A49-46F2-8129-4B24471F396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Constraint problems can act as generation scaffolds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65BFB60-883E-4A9A-AD60-4A86FDA36F3D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Instead of placing every hazard directly, define choices and checks that preserve at least one valid route.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B56B123-753E-415A-ABD9-4F2AD412481A}"/>
              </a:ext>
            </a:extLst>
          </p:cNvPr>
          <p:cNvSpPr>
            <a:spLocks noGrp="1"/>
          </p:cNvSpPr>
          <p:nvPr/>
        </p:nvSpPr>
        <p:spPr>
          <a:xfrm>
            <a:off x="11239500" y="62293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06</a:t>
            </a:r>
          </a:p>
        </p:txBody>
      </p:sp>
      <p:sp>
        <p:nvSpPr>
          <p:cNvPr id="4" name="直線コネクタ 3">
            <a:extLst>
              <a:ext uri="{FF2B5EF4-FFF2-40B4-BE49-F238E27FC236}">
                <a16:creationId xmlns:a16="http://schemas.microsoft.com/office/drawing/2014/main" id="{3AD847F6-66DF-4F00-A5E4-BED42142081E}"/>
              </a:ext>
            </a:extLst>
          </p:cNvPr>
          <p:cNvSpPr>
            <a:spLocks noGrp="1"/>
          </p:cNvSpPr>
          <p:nvPr/>
        </p:nvSpPr>
        <p:spPr>
          <a:xfrm>
            <a:off x="1638300" y="3105150"/>
            <a:ext cx="1885950" cy="0"/>
          </a:xfrm>
          <a:prstGeom prst="line">
            <a:avLst/>
          </a:prstGeom>
          <a:noFill/>
          <a:ln w="2857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986C11D7-EAB1-406C-9473-004F9E1929D9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762000" cy="7620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F9A0475-D78A-4571-9C6A-3A266C813F45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1DD9010-ACCD-4999-8B4C-B915FF0F20C1}"/>
              </a:ext>
            </a:extLst>
          </p:cNvPr>
          <p:cNvSpPr>
            <a:spLocks noGrp="1"/>
          </p:cNvSpPr>
          <p:nvPr/>
        </p:nvSpPr>
        <p:spPr>
          <a:xfrm>
            <a:off x="457200" y="3829050"/>
            <a:ext cx="1600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Describe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2CBDCDC-EF66-4DA5-82BC-395E3926D923}"/>
              </a:ext>
            </a:extLst>
          </p:cNvPr>
          <p:cNvSpPr>
            <a:spLocks noGrp="1"/>
          </p:cNvSpPr>
          <p:nvPr/>
        </p:nvSpPr>
        <p:spPr>
          <a:xfrm>
            <a:off x="228600" y="4324350"/>
            <a:ext cx="20574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55A61"/>
                </a:solidFill>
              </a:defRPr>
            </a:pPr>
            <a:r>
              <a:rPr sz="1425" b="0">
                <a:solidFill>
                  <a:srgbClr val="555A61"/>
                </a:solidFill>
              </a:rPr>
              <a:t>Represent candidate routes or safe regions</a:t>
            </a:r>
          </a:p>
        </p:txBody>
      </p:sp>
      <p:sp>
        <p:nvSpPr>
          <p:cNvPr id="9" name="直線コネクタ 8">
            <a:extLst>
              <a:ext uri="{FF2B5EF4-FFF2-40B4-BE49-F238E27FC236}">
                <a16:creationId xmlns:a16="http://schemas.microsoft.com/office/drawing/2014/main" id="{E5FE5CAA-6D03-4CBC-8714-E9CD966DD321}"/>
              </a:ext>
            </a:extLst>
          </p:cNvPr>
          <p:cNvSpPr>
            <a:spLocks noGrp="1"/>
          </p:cNvSpPr>
          <p:nvPr/>
        </p:nvSpPr>
        <p:spPr>
          <a:xfrm>
            <a:off x="4476750" y="3105150"/>
            <a:ext cx="1885950" cy="0"/>
          </a:xfrm>
          <a:prstGeom prst="line">
            <a:avLst/>
          </a:prstGeom>
          <a:noFill/>
          <a:ln w="2857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12FFD4E3-1373-44E1-B143-AF9D55CCD4B5}"/>
              </a:ext>
            </a:extLst>
          </p:cNvPr>
          <p:cNvSpPr>
            <a:spLocks noGrp="1"/>
          </p:cNvSpPr>
          <p:nvPr/>
        </p:nvSpPr>
        <p:spPr>
          <a:xfrm>
            <a:off x="3714750" y="2724150"/>
            <a:ext cx="762000" cy="7620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6B56773-6BEE-4F7A-9FA6-BBFF7B8694AE}"/>
              </a:ext>
            </a:extLst>
          </p:cNvPr>
          <p:cNvSpPr>
            <a:spLocks noGrp="1"/>
          </p:cNvSpPr>
          <p:nvPr/>
        </p:nvSpPr>
        <p:spPr>
          <a:xfrm>
            <a:off x="3886200" y="28956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3121FB0-DFC9-40E4-A1E0-2D3BB77436B0}"/>
              </a:ext>
            </a:extLst>
          </p:cNvPr>
          <p:cNvSpPr>
            <a:spLocks noGrp="1"/>
          </p:cNvSpPr>
          <p:nvPr/>
        </p:nvSpPr>
        <p:spPr>
          <a:xfrm>
            <a:off x="3295650" y="3829050"/>
            <a:ext cx="1600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Encode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02838FE-A5F7-43B2-B46E-9FC1AA3023A4}"/>
              </a:ext>
            </a:extLst>
          </p:cNvPr>
          <p:cNvSpPr>
            <a:spLocks noGrp="1"/>
          </p:cNvSpPr>
          <p:nvPr/>
        </p:nvSpPr>
        <p:spPr>
          <a:xfrm>
            <a:off x="3067050" y="4324350"/>
            <a:ext cx="20574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55A61"/>
                </a:solidFill>
              </a:defRPr>
            </a:pPr>
            <a:r>
              <a:rPr sz="1425" b="0">
                <a:solidFill>
                  <a:srgbClr val="555A61"/>
                </a:solidFill>
              </a:rPr>
              <a:t>Translate design rules into 3SAT or a graph</a:t>
            </a:r>
          </a:p>
        </p:txBody>
      </p:sp>
      <p:sp>
        <p:nvSpPr>
          <p:cNvPr id="14" name="直線コネクタ 13">
            <a:extLst>
              <a:ext uri="{FF2B5EF4-FFF2-40B4-BE49-F238E27FC236}">
                <a16:creationId xmlns:a16="http://schemas.microsoft.com/office/drawing/2014/main" id="{D32A37E7-DD55-49EB-8B22-962B70A3562E}"/>
              </a:ext>
            </a:extLst>
          </p:cNvPr>
          <p:cNvSpPr>
            <a:spLocks noGrp="1"/>
          </p:cNvSpPr>
          <p:nvPr/>
        </p:nvSpPr>
        <p:spPr>
          <a:xfrm>
            <a:off x="7315200" y="3105150"/>
            <a:ext cx="1885950" cy="0"/>
          </a:xfrm>
          <a:prstGeom prst="line">
            <a:avLst/>
          </a:prstGeom>
          <a:noFill/>
          <a:ln w="2857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6C1776E0-6493-4BAB-B08F-A4B62634C116}"/>
              </a:ext>
            </a:extLst>
          </p:cNvPr>
          <p:cNvSpPr>
            <a:spLocks noGrp="1"/>
          </p:cNvSpPr>
          <p:nvPr/>
        </p:nvSpPr>
        <p:spPr>
          <a:xfrm>
            <a:off x="6553200" y="2724150"/>
            <a:ext cx="762000" cy="762000"/>
          </a:xfrm>
          <a:prstGeom prst="ellipse">
            <a:avLst/>
          </a:prstGeom>
          <a:solidFill>
            <a:srgbClr val="F6B73C"/>
          </a:solidFill>
          <a:ln w="0">
            <a:solidFill>
              <a:srgbClr val="F6B7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C10B04B-2272-4E05-AA35-A41C082C54F5}"/>
              </a:ext>
            </a:extLst>
          </p:cNvPr>
          <p:cNvSpPr>
            <a:spLocks noGrp="1"/>
          </p:cNvSpPr>
          <p:nvPr/>
        </p:nvSpPr>
        <p:spPr>
          <a:xfrm>
            <a:off x="6724650" y="28956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4C61759-A2B5-4DEE-8E34-C590CAF6E634}"/>
              </a:ext>
            </a:extLst>
          </p:cNvPr>
          <p:cNvSpPr>
            <a:spLocks noGrp="1"/>
          </p:cNvSpPr>
          <p:nvPr/>
        </p:nvSpPr>
        <p:spPr>
          <a:xfrm>
            <a:off x="6134100" y="3829050"/>
            <a:ext cx="1600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Solve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69F13C5-3619-4CD4-A304-D00F3348C9A7}"/>
              </a:ext>
            </a:extLst>
          </p:cNvPr>
          <p:cNvSpPr>
            <a:spLocks noGrp="1"/>
          </p:cNvSpPr>
          <p:nvPr/>
        </p:nvSpPr>
        <p:spPr>
          <a:xfrm>
            <a:off x="5905500" y="4324350"/>
            <a:ext cx="20574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55A61"/>
                </a:solidFill>
              </a:defRPr>
            </a:pPr>
            <a:r>
              <a:rPr sz="1425" b="0">
                <a:solidFill>
                  <a:srgbClr val="555A61"/>
                </a:solidFill>
              </a:rPr>
              <a:t>Find a satisfying assignment or Hamilton path</a:t>
            </a: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2A3112B2-A7F6-428B-B55F-C3153A5CB03B}"/>
              </a:ext>
            </a:extLst>
          </p:cNvPr>
          <p:cNvSpPr>
            <a:spLocks noGrp="1"/>
          </p:cNvSpPr>
          <p:nvPr/>
        </p:nvSpPr>
        <p:spPr>
          <a:xfrm>
            <a:off x="9391650" y="2724150"/>
            <a:ext cx="762000" cy="7620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B85F527-06DF-482F-9294-7839EE1B6815}"/>
              </a:ext>
            </a:extLst>
          </p:cNvPr>
          <p:cNvSpPr>
            <a:spLocks noGrp="1"/>
          </p:cNvSpPr>
          <p:nvPr/>
        </p:nvSpPr>
        <p:spPr>
          <a:xfrm>
            <a:off x="9563100" y="28956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8D79E48-5CEA-42ED-BFC6-F1C8F5C220D9}"/>
              </a:ext>
            </a:extLst>
          </p:cNvPr>
          <p:cNvSpPr>
            <a:spLocks noGrp="1"/>
          </p:cNvSpPr>
          <p:nvPr/>
        </p:nvSpPr>
        <p:spPr>
          <a:xfrm>
            <a:off x="8972550" y="3829050"/>
            <a:ext cx="1600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Build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5743D37-2E18-4BC7-A094-2F2B8435FC6A}"/>
              </a:ext>
            </a:extLst>
          </p:cNvPr>
          <p:cNvSpPr>
            <a:spLocks noGrp="1"/>
          </p:cNvSpPr>
          <p:nvPr/>
        </p:nvSpPr>
        <p:spPr>
          <a:xfrm>
            <a:off x="8743950" y="4324350"/>
            <a:ext cx="20574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55A61"/>
                </a:solidFill>
              </a:defRPr>
            </a:pPr>
            <a:r>
              <a:rPr sz="1425" b="0">
                <a:solidFill>
                  <a:srgbClr val="555A61"/>
                </a:solidFill>
              </a:rPr>
              <a:t>Convert the solution into timed stage elements</a:t>
            </a:r>
          </a:p>
        </p:txBody>
      </p:sp>
    </p:spTree>
    <p:extLst>
      <p:ext uri="{BB962C8B-B14F-4D97-AF65-F5344CB8AC3E}">
        <p14:creationId xmlns:p14="http://schemas.microsoft.com/office/powerpoint/2010/main" val="577813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2964776-8F7D-4AC5-BEBC-E3DDEC07496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3SAT turns route choices into a playable logic test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A1E5A7F-FDF3-40CE-8E59-0A4588992764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The player commits to truth values, then each clause becomes a gate that must have one satisfied literal.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ECDBE12-F71A-4464-A1C6-11C955CEC3F2}"/>
              </a:ext>
            </a:extLst>
          </p:cNvPr>
          <p:cNvSpPr>
            <a:spLocks noGrp="1"/>
          </p:cNvSpPr>
          <p:nvPr/>
        </p:nvSpPr>
        <p:spPr>
          <a:xfrm>
            <a:off x="11239500" y="62293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07</a:t>
            </a:r>
          </a:p>
        </p:txBody>
      </p:sp>
      <p:pic>
        <p:nvPicPr>
          <p:cNvPr id="13" name="図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4175" y="1790700"/>
            <a:ext cx="4988651" cy="3943350"/>
          </a:xfrm>
          <a:prstGeom prst="roundRect">
            <a:avLst>
              <a:gd name="adj" fmla="val 2899"/>
            </a:avLst>
          </a:prstGeom>
        </p:spPr>
      </p:pic>
      <p:pic>
        <p:nvPicPr>
          <p:cNvPr id="14" name="図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75626" y="1790700"/>
            <a:ext cx="4955747" cy="3943350"/>
          </a:xfrm>
          <a:prstGeom prst="roundRect">
            <a:avLst>
              <a:gd name="adj" fmla="val 2899"/>
            </a:avLst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A6A740B8-4273-4925-A7BA-C6E15449B58A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952500" cy="323850"/>
          </a:xfrm>
          <a:prstGeom prst="roundRect">
            <a:avLst>
              <a:gd name="adj" fmla="val 35294"/>
            </a:avLst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ASSIGN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772BD3C-A13B-439B-85B1-8E30925966E7}"/>
              </a:ext>
            </a:extLst>
          </p:cNvPr>
          <p:cNvSpPr>
            <a:spLocks noGrp="1"/>
          </p:cNvSpPr>
          <p:nvPr/>
        </p:nvSpPr>
        <p:spPr>
          <a:xfrm>
            <a:off x="6553200" y="1943100"/>
            <a:ext cx="952500" cy="323850"/>
          </a:xfrm>
          <a:prstGeom prst="roundRect">
            <a:avLst>
              <a:gd name="adj" fmla="val 35294"/>
            </a:avLst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2528F2A-E161-4372-82B9-C22C694979B1}"/>
              </a:ext>
            </a:extLst>
          </p:cNvPr>
          <p:cNvSpPr>
            <a:spLocks noGrp="1"/>
          </p:cNvSpPr>
          <p:nvPr/>
        </p:nvSpPr>
        <p:spPr>
          <a:xfrm>
            <a:off x="876300" y="584835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Choose TRUE or FALSE before the timer ends.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16ECB63-8F24-49EE-8C60-09FD9037FEDD}"/>
              </a:ext>
            </a:extLst>
          </p:cNvPr>
          <p:cNvSpPr>
            <a:spLocks noGrp="1"/>
          </p:cNvSpPr>
          <p:nvPr/>
        </p:nvSpPr>
        <p:spPr>
          <a:xfrm>
            <a:off x="6591300" y="584835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A clause is passable when at least one literal is true.</a:t>
            </a:r>
          </a:p>
        </p:txBody>
      </p:sp>
    </p:spTree>
    <p:extLst>
      <p:ext uri="{BB962C8B-B14F-4D97-AF65-F5344CB8AC3E}">
        <p14:creationId xmlns:p14="http://schemas.microsoft.com/office/powerpoint/2010/main" val="747063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D7EA8589-FEBB-45A2-8037-8FA17EA3A68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prototype preserves the meaning of a 3SAT formula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CFA5E48-D8E2-4CE0-BC1B-920E59D3EBDB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A satisfying assignment corresponds to a complete route through every clause check.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10C18FA-F302-4CDA-BB42-A226DAC00458}"/>
              </a:ext>
            </a:extLst>
          </p:cNvPr>
          <p:cNvSpPr>
            <a:spLocks noGrp="1"/>
          </p:cNvSpPr>
          <p:nvPr/>
        </p:nvSpPr>
        <p:spPr>
          <a:xfrm>
            <a:off x="11239500" y="62293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08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CA60AB0-6C31-457E-8124-2034A2868B90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2363724" cy="742950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2D74276-D685-44A6-A072-1AC3C85DDF07}"/>
              </a:ext>
            </a:extLst>
          </p:cNvPr>
          <p:cNvSpPr>
            <a:spLocks noGrp="1"/>
          </p:cNvSpPr>
          <p:nvPr/>
        </p:nvSpPr>
        <p:spPr>
          <a:xfrm>
            <a:off x="857250" y="1943100"/>
            <a:ext cx="2097024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Formula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5557A5B-0EE9-4CCF-A01B-609C53F13017}"/>
              </a:ext>
            </a:extLst>
          </p:cNvPr>
          <p:cNvSpPr>
            <a:spLocks noGrp="1"/>
          </p:cNvSpPr>
          <p:nvPr/>
        </p:nvSpPr>
        <p:spPr>
          <a:xfrm>
            <a:off x="3087624" y="1809750"/>
            <a:ext cx="4082796" cy="742950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941D4EB-6C40-469E-A682-DBA8E4CB0A3A}"/>
              </a:ext>
            </a:extLst>
          </p:cNvPr>
          <p:cNvSpPr>
            <a:spLocks noGrp="1"/>
          </p:cNvSpPr>
          <p:nvPr/>
        </p:nvSpPr>
        <p:spPr>
          <a:xfrm>
            <a:off x="3220974" y="1943100"/>
            <a:ext cx="3816096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Game mechanic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20F5B74-CEF6-4092-BB20-926D1C07F1B1}"/>
              </a:ext>
            </a:extLst>
          </p:cNvPr>
          <p:cNvSpPr>
            <a:spLocks noGrp="1"/>
          </p:cNvSpPr>
          <p:nvPr/>
        </p:nvSpPr>
        <p:spPr>
          <a:xfrm>
            <a:off x="7170420" y="1809750"/>
            <a:ext cx="4297680" cy="742950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FE756E1-78A4-4E8F-8B31-25174C081FDF}"/>
              </a:ext>
            </a:extLst>
          </p:cNvPr>
          <p:cNvSpPr>
            <a:spLocks noGrp="1"/>
          </p:cNvSpPr>
          <p:nvPr/>
        </p:nvSpPr>
        <p:spPr>
          <a:xfrm>
            <a:off x="7303770" y="1943100"/>
            <a:ext cx="40309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Clearability condition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65545FB-03ED-4DEF-8862-12E9453F240B}"/>
              </a:ext>
            </a:extLst>
          </p:cNvPr>
          <p:cNvSpPr>
            <a:spLocks noGrp="1"/>
          </p:cNvSpPr>
          <p:nvPr/>
        </p:nvSpPr>
        <p:spPr>
          <a:xfrm>
            <a:off x="723900" y="2552700"/>
            <a:ext cx="2363724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90B3B3E-5690-4B94-B2B0-44EC2775483D}"/>
              </a:ext>
            </a:extLst>
          </p:cNvPr>
          <p:cNvSpPr>
            <a:spLocks noGrp="1"/>
          </p:cNvSpPr>
          <p:nvPr/>
        </p:nvSpPr>
        <p:spPr>
          <a:xfrm>
            <a:off x="857250" y="2686050"/>
            <a:ext cx="2097024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Variable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9E6E542-30C6-4311-BA99-3ACA0A83446C}"/>
              </a:ext>
            </a:extLst>
          </p:cNvPr>
          <p:cNvSpPr>
            <a:spLocks noGrp="1"/>
          </p:cNvSpPr>
          <p:nvPr/>
        </p:nvSpPr>
        <p:spPr>
          <a:xfrm>
            <a:off x="3087624" y="2552700"/>
            <a:ext cx="4082796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3E4404A-22F0-4FB2-8A4C-98A5F98D9A2D}"/>
              </a:ext>
            </a:extLst>
          </p:cNvPr>
          <p:cNvSpPr>
            <a:spLocks noGrp="1"/>
          </p:cNvSpPr>
          <p:nvPr/>
        </p:nvSpPr>
        <p:spPr>
          <a:xfrm>
            <a:off x="3220974" y="2686050"/>
            <a:ext cx="3816096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Forced TRUE / FALSE choice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9CE2C7D-B2B9-4E9F-B48E-234B602DF373}"/>
              </a:ext>
            </a:extLst>
          </p:cNvPr>
          <p:cNvSpPr>
            <a:spLocks noGrp="1"/>
          </p:cNvSpPr>
          <p:nvPr/>
        </p:nvSpPr>
        <p:spPr>
          <a:xfrm>
            <a:off x="7170420" y="2552700"/>
            <a:ext cx="429768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ECEC060-B030-4B7B-AB8D-0DF61365E6BE}"/>
              </a:ext>
            </a:extLst>
          </p:cNvPr>
          <p:cNvSpPr>
            <a:spLocks noGrp="1"/>
          </p:cNvSpPr>
          <p:nvPr/>
        </p:nvSpPr>
        <p:spPr>
          <a:xfrm>
            <a:off x="7303770" y="2686050"/>
            <a:ext cx="40309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One value is committed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1AE2777-3D47-4428-B8B1-06A2617F12E8}"/>
              </a:ext>
            </a:extLst>
          </p:cNvPr>
          <p:cNvSpPr>
            <a:spLocks noGrp="1"/>
          </p:cNvSpPr>
          <p:nvPr/>
        </p:nvSpPr>
        <p:spPr>
          <a:xfrm>
            <a:off x="723900" y="3295650"/>
            <a:ext cx="2363724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EEBCE54-2F20-4E17-A857-510088014DD2}"/>
              </a:ext>
            </a:extLst>
          </p:cNvPr>
          <p:cNvSpPr>
            <a:spLocks noGrp="1"/>
          </p:cNvSpPr>
          <p:nvPr/>
        </p:nvSpPr>
        <p:spPr>
          <a:xfrm>
            <a:off x="857250" y="3429000"/>
            <a:ext cx="2097024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Literal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C39BB02-70DC-43DE-9BE8-F3C3D3AA079F}"/>
              </a:ext>
            </a:extLst>
          </p:cNvPr>
          <p:cNvSpPr>
            <a:spLocks noGrp="1"/>
          </p:cNvSpPr>
          <p:nvPr/>
        </p:nvSpPr>
        <p:spPr>
          <a:xfrm>
            <a:off x="3087624" y="3295650"/>
            <a:ext cx="4082796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681F021-C3FB-4AC2-9098-E8527A923B45}"/>
              </a:ext>
            </a:extLst>
          </p:cNvPr>
          <p:cNvSpPr>
            <a:spLocks noGrp="1"/>
          </p:cNvSpPr>
          <p:nvPr/>
        </p:nvSpPr>
        <p:spPr>
          <a:xfrm>
            <a:off x="3220974" y="3429000"/>
            <a:ext cx="3816096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Route-linked condition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09240A8-28F9-472E-BD71-E36B240FA498}"/>
              </a:ext>
            </a:extLst>
          </p:cNvPr>
          <p:cNvSpPr>
            <a:spLocks noGrp="1"/>
          </p:cNvSpPr>
          <p:nvPr/>
        </p:nvSpPr>
        <p:spPr>
          <a:xfrm>
            <a:off x="7170420" y="3295650"/>
            <a:ext cx="429768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C33ED49-0B87-4A53-A624-B696F4567A60}"/>
              </a:ext>
            </a:extLst>
          </p:cNvPr>
          <p:cNvSpPr>
            <a:spLocks noGrp="1"/>
          </p:cNvSpPr>
          <p:nvPr/>
        </p:nvSpPr>
        <p:spPr>
          <a:xfrm>
            <a:off x="7303770" y="3429000"/>
            <a:ext cx="40309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Positive and negated values differ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49AA483-B5DD-4F9C-915D-441980FC6934}"/>
              </a:ext>
            </a:extLst>
          </p:cNvPr>
          <p:cNvSpPr>
            <a:spLocks noGrp="1"/>
          </p:cNvSpPr>
          <p:nvPr/>
        </p:nvSpPr>
        <p:spPr>
          <a:xfrm>
            <a:off x="723900" y="4038600"/>
            <a:ext cx="2363724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B2A3705-FF81-4CB3-A738-3B3D17587353}"/>
              </a:ext>
            </a:extLst>
          </p:cNvPr>
          <p:cNvSpPr>
            <a:spLocks noGrp="1"/>
          </p:cNvSpPr>
          <p:nvPr/>
        </p:nvSpPr>
        <p:spPr>
          <a:xfrm>
            <a:off x="857250" y="4171950"/>
            <a:ext cx="2097024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Clause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7BFC6A3-D125-4D1B-B6F5-EB407AAFD3B0}"/>
              </a:ext>
            </a:extLst>
          </p:cNvPr>
          <p:cNvSpPr>
            <a:spLocks noGrp="1"/>
          </p:cNvSpPr>
          <p:nvPr/>
        </p:nvSpPr>
        <p:spPr>
          <a:xfrm>
            <a:off x="3087624" y="4038600"/>
            <a:ext cx="4082796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491B95C-CECF-4A94-A256-F5168CACBF01}"/>
              </a:ext>
            </a:extLst>
          </p:cNvPr>
          <p:cNvSpPr>
            <a:spLocks noGrp="1"/>
          </p:cNvSpPr>
          <p:nvPr/>
        </p:nvSpPr>
        <p:spPr>
          <a:xfrm>
            <a:off x="3220974" y="4171950"/>
            <a:ext cx="3816096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Pass / fail barrage gate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B94CDAC7-FF26-4A77-932E-6E3B04643569}"/>
              </a:ext>
            </a:extLst>
          </p:cNvPr>
          <p:cNvSpPr>
            <a:spLocks noGrp="1"/>
          </p:cNvSpPr>
          <p:nvPr/>
        </p:nvSpPr>
        <p:spPr>
          <a:xfrm>
            <a:off x="7170420" y="4038600"/>
            <a:ext cx="429768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947ED0C-AF76-4484-9230-63E22A3A9BC1}"/>
              </a:ext>
            </a:extLst>
          </p:cNvPr>
          <p:cNvSpPr>
            <a:spLocks noGrp="1"/>
          </p:cNvSpPr>
          <p:nvPr/>
        </p:nvSpPr>
        <p:spPr>
          <a:xfrm>
            <a:off x="7303770" y="4171950"/>
            <a:ext cx="40309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At least one literal opens the route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36C9211-CC79-41AA-A973-9D4AB28990F3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2363724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E26B5F62-DD08-47C5-A20A-B58C6C4231F4}"/>
              </a:ext>
            </a:extLst>
          </p:cNvPr>
          <p:cNvSpPr>
            <a:spLocks noGrp="1"/>
          </p:cNvSpPr>
          <p:nvPr/>
        </p:nvSpPr>
        <p:spPr>
          <a:xfrm>
            <a:off x="857250" y="4914900"/>
            <a:ext cx="2097024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Solution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57BEC510-3186-46C5-8257-8EB94AD72323}"/>
              </a:ext>
            </a:extLst>
          </p:cNvPr>
          <p:cNvSpPr>
            <a:spLocks noGrp="1"/>
          </p:cNvSpPr>
          <p:nvPr/>
        </p:nvSpPr>
        <p:spPr>
          <a:xfrm>
            <a:off x="3087624" y="4781550"/>
            <a:ext cx="4082796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1E40AA1C-035D-4AB5-A477-47C104145D13}"/>
              </a:ext>
            </a:extLst>
          </p:cNvPr>
          <p:cNvSpPr>
            <a:spLocks noGrp="1"/>
          </p:cNvSpPr>
          <p:nvPr/>
        </p:nvSpPr>
        <p:spPr>
          <a:xfrm>
            <a:off x="3220974" y="4914900"/>
            <a:ext cx="3816096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Complete sequence of choices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2350A1A3-0F0C-434A-84EB-FDFFAE9D06EC}"/>
              </a:ext>
            </a:extLst>
          </p:cNvPr>
          <p:cNvSpPr>
            <a:spLocks noGrp="1"/>
          </p:cNvSpPr>
          <p:nvPr/>
        </p:nvSpPr>
        <p:spPr>
          <a:xfrm>
            <a:off x="7170420" y="4781550"/>
            <a:ext cx="429768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AD24D746-21E6-4A84-B153-99C4F9AEB877}"/>
              </a:ext>
            </a:extLst>
          </p:cNvPr>
          <p:cNvSpPr>
            <a:spLocks noGrp="1"/>
          </p:cNvSpPr>
          <p:nvPr/>
        </p:nvSpPr>
        <p:spPr>
          <a:xfrm>
            <a:off x="7303770" y="4914900"/>
            <a:ext cx="40309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Every clause can be survived</a:t>
            </a:r>
          </a:p>
        </p:txBody>
      </p:sp>
    </p:spTree>
    <p:extLst>
      <p:ext uri="{BB962C8B-B14F-4D97-AF65-F5344CB8AC3E}">
        <p14:creationId xmlns:p14="http://schemas.microsoft.com/office/powerpoint/2010/main" val="261489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84F29E0-0700-45C5-9901-75B8C6399DC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Live demo: the 3SAT stage in action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CFA4CC6-295C-4CF6-97C2-C5CB021011DD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The prototype will be launched here to show assignment, clause checks, failure, and a successful clear.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9E76AF1-7A2D-4E53-8104-A3A7FC4D33DE}"/>
              </a:ext>
            </a:extLst>
          </p:cNvPr>
          <p:cNvSpPr>
            <a:spLocks noGrp="1"/>
          </p:cNvSpPr>
          <p:nvPr/>
        </p:nvSpPr>
        <p:spPr>
          <a:xfrm>
            <a:off x="11239500" y="62293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09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B9FD7C9-2555-4ABA-882A-0612E8EC8E77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7372350" cy="400050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9525">
            <a:solidFill>
              <a:srgbClr val="8B929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5DDC5A7-CE2E-444F-B17F-DAE7A89C8E9C}"/>
              </a:ext>
            </a:extLst>
          </p:cNvPr>
          <p:cNvSpPr>
            <a:spLocks noGrp="1"/>
          </p:cNvSpPr>
          <p:nvPr/>
        </p:nvSpPr>
        <p:spPr>
          <a:xfrm>
            <a:off x="1943100" y="3371850"/>
            <a:ext cx="4819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555A61"/>
                </a:solidFill>
              </a:defRPr>
            </a:pPr>
            <a:r>
              <a:rPr sz="2550" b="1">
                <a:solidFill>
                  <a:srgbClr val="555A61"/>
                </a:solidFill>
              </a:rPr>
              <a:t>LIVE DEMO / SCREENSHOT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1748BA8-555F-447D-85E7-6E062B306661}"/>
              </a:ext>
            </a:extLst>
          </p:cNvPr>
          <p:cNvSpPr>
            <a:spLocks noGrp="1"/>
          </p:cNvSpPr>
          <p:nvPr/>
        </p:nvSpPr>
        <p:spPr>
          <a:xfrm>
            <a:off x="2190750" y="3981450"/>
            <a:ext cx="432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Insert one full-frame gameplay image here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32C566E-E269-4BE1-AA1D-749566F3B8AB}"/>
              </a:ext>
            </a:extLst>
          </p:cNvPr>
          <p:cNvSpPr>
            <a:spLocks noGrp="1"/>
          </p:cNvSpPr>
          <p:nvPr/>
        </p:nvSpPr>
        <p:spPr>
          <a:xfrm>
            <a:off x="8496300" y="1809750"/>
            <a:ext cx="3028950" cy="4000500"/>
          </a:xfrm>
          <a:prstGeom prst="roundRect">
            <a:avLst>
              <a:gd name="adj" fmla="val 3774"/>
            </a:avLst>
          </a:prstGeom>
          <a:solidFill>
            <a:srgbClr val="F7F8FA"/>
          </a:solidFill>
          <a:ln w="9525">
            <a:solidFill>
              <a:srgbClr val="D4D7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9A61735-3B2D-4F3B-93C8-BA4E85AFCB80}"/>
              </a:ext>
            </a:extLst>
          </p:cNvPr>
          <p:cNvSpPr>
            <a:spLocks noGrp="1"/>
          </p:cNvSpPr>
          <p:nvPr/>
        </p:nvSpPr>
        <p:spPr>
          <a:xfrm>
            <a:off x="8839200" y="2171700"/>
            <a:ext cx="2324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Watch for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42A045E9-C9E1-44C0-B67C-C9A283CBC0AA}"/>
              </a:ext>
            </a:extLst>
          </p:cNvPr>
          <p:cNvSpPr>
            <a:spLocks noGrp="1"/>
          </p:cNvSpPr>
          <p:nvPr/>
        </p:nvSpPr>
        <p:spPr>
          <a:xfrm>
            <a:off x="8839200" y="297180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96301AF-3A33-4759-86A8-61042461A969}"/>
              </a:ext>
            </a:extLst>
          </p:cNvPr>
          <p:cNvSpPr>
            <a:spLocks noGrp="1"/>
          </p:cNvSpPr>
          <p:nvPr/>
        </p:nvSpPr>
        <p:spPr>
          <a:xfrm>
            <a:off x="9067800" y="2876550"/>
            <a:ext cx="2057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Timed truth assignment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357B6DA1-4568-4A2F-B67E-B2E67F8EF93D}"/>
              </a:ext>
            </a:extLst>
          </p:cNvPr>
          <p:cNvSpPr>
            <a:spLocks noGrp="1"/>
          </p:cNvSpPr>
          <p:nvPr/>
        </p:nvSpPr>
        <p:spPr>
          <a:xfrm>
            <a:off x="8839200" y="358140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BB6ACE1-0AB2-4771-B422-9BBDAC7ED2CA}"/>
              </a:ext>
            </a:extLst>
          </p:cNvPr>
          <p:cNvSpPr>
            <a:spLocks noGrp="1"/>
          </p:cNvSpPr>
          <p:nvPr/>
        </p:nvSpPr>
        <p:spPr>
          <a:xfrm>
            <a:off x="9067800" y="3486150"/>
            <a:ext cx="2057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Clause-by-clause feedback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65EF90FA-7F2A-4AB0-9B66-8A54BA020ABE}"/>
              </a:ext>
            </a:extLst>
          </p:cNvPr>
          <p:cNvSpPr>
            <a:spLocks noGrp="1"/>
          </p:cNvSpPr>
          <p:nvPr/>
        </p:nvSpPr>
        <p:spPr>
          <a:xfrm>
            <a:off x="8839200" y="419100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B866E29-5412-4DFB-9D64-5E3DD77AFF1F}"/>
              </a:ext>
            </a:extLst>
          </p:cNvPr>
          <p:cNvSpPr>
            <a:spLocks noGrp="1"/>
          </p:cNvSpPr>
          <p:nvPr/>
        </p:nvSpPr>
        <p:spPr>
          <a:xfrm>
            <a:off x="9067800" y="4095750"/>
            <a:ext cx="2057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What happens on failure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54296653-BB15-401F-B8D1-8C5BE8D7945F}"/>
              </a:ext>
            </a:extLst>
          </p:cNvPr>
          <p:cNvSpPr>
            <a:spLocks noGrp="1"/>
          </p:cNvSpPr>
          <p:nvPr/>
        </p:nvSpPr>
        <p:spPr>
          <a:xfrm>
            <a:off x="8839200" y="480060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EBD7741-1800-445A-93C2-3467FC8E478B}"/>
              </a:ext>
            </a:extLst>
          </p:cNvPr>
          <p:cNvSpPr>
            <a:spLocks noGrp="1"/>
          </p:cNvSpPr>
          <p:nvPr/>
        </p:nvSpPr>
        <p:spPr>
          <a:xfrm>
            <a:off x="9067800" y="4705350"/>
            <a:ext cx="2057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How the stage communicates a valid route</a:t>
            </a:r>
          </a:p>
        </p:txBody>
      </p:sp>
    </p:spTree>
    <p:extLst>
      <p:ext uri="{BB962C8B-B14F-4D97-AF65-F5344CB8AC3E}">
        <p14:creationId xmlns:p14="http://schemas.microsoft.com/office/powerpoint/2010/main" val="358372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27C4096-B2F1-47C3-AFD7-660C4D57B63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Hamilton Path creates one-shot route planning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6C12AE4-25A7-45F6-9C5A-E673104F54D7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Visit every platform exactly once, follow valid connections, then reach the goal.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538B08D-55F5-4297-9EB8-3849555372C6}"/>
              </a:ext>
            </a:extLst>
          </p:cNvPr>
          <p:cNvSpPr>
            <a:spLocks noGrp="1"/>
          </p:cNvSpPr>
          <p:nvPr/>
        </p:nvSpPr>
        <p:spPr>
          <a:xfrm>
            <a:off x="11239500" y="62293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10</a:t>
            </a:r>
          </a:p>
        </p:txBody>
      </p:sp>
      <p:pic>
        <p:nvPicPr>
          <p:cNvPr id="18" name="図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53132" y="1771650"/>
            <a:ext cx="5151887" cy="4095750"/>
          </a:xfrm>
          <a:prstGeom prst="roundRect">
            <a:avLst>
              <a:gd name="adj" fmla="val 2791"/>
            </a:avLst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A7F8C43-AEC3-4FE1-B36D-B0A6F3B8763C}"/>
              </a:ext>
            </a:extLst>
          </p:cNvPr>
          <p:cNvSpPr>
            <a:spLocks noGrp="1"/>
          </p:cNvSpPr>
          <p:nvPr/>
        </p:nvSpPr>
        <p:spPr>
          <a:xfrm>
            <a:off x="7848600" y="1771650"/>
            <a:ext cx="3676650" cy="4095750"/>
          </a:xfrm>
          <a:prstGeom prst="roundRect">
            <a:avLst>
              <a:gd name="adj" fmla="val 3109"/>
            </a:avLst>
          </a:prstGeom>
          <a:solidFill>
            <a:srgbClr val="F7F8FA"/>
          </a:solidFill>
          <a:ln w="9525">
            <a:solidFill>
              <a:srgbClr val="D4D7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B900652-06AE-4956-9C2C-44B157B38089}"/>
              </a:ext>
            </a:extLst>
          </p:cNvPr>
          <p:cNvSpPr>
            <a:spLocks noGrp="1"/>
          </p:cNvSpPr>
          <p:nvPr/>
        </p:nvSpPr>
        <p:spPr>
          <a:xfrm>
            <a:off x="8191500" y="2133600"/>
            <a:ext cx="2933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Generation idea</a:t>
            </a: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FEF35682-36D3-4771-B438-D047021FEBC6}"/>
              </a:ext>
            </a:extLst>
          </p:cNvPr>
          <p:cNvSpPr>
            <a:spLocks noGrp="1"/>
          </p:cNvSpPr>
          <p:nvPr/>
        </p:nvSpPr>
        <p:spPr>
          <a:xfrm>
            <a:off x="8191500" y="291465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79F2382-7099-4579-A035-70E53C1FBE5F}"/>
              </a:ext>
            </a:extLst>
          </p:cNvPr>
          <p:cNvSpPr>
            <a:spLocks noGrp="1"/>
          </p:cNvSpPr>
          <p:nvPr/>
        </p:nvSpPr>
        <p:spPr>
          <a:xfrm>
            <a:off x="8420100" y="2819400"/>
            <a:ext cx="2628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Vertices become safe platforms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7935DE8A-DBDB-491E-B191-92A4B7D75351}"/>
              </a:ext>
            </a:extLst>
          </p:cNvPr>
          <p:cNvSpPr>
            <a:spLocks noGrp="1"/>
          </p:cNvSpPr>
          <p:nvPr/>
        </p:nvSpPr>
        <p:spPr>
          <a:xfrm>
            <a:off x="8191500" y="354330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F95FC13-CCEA-4B5E-90B5-70800403B0DA}"/>
              </a:ext>
            </a:extLst>
          </p:cNvPr>
          <p:cNvSpPr>
            <a:spLocks noGrp="1"/>
          </p:cNvSpPr>
          <p:nvPr/>
        </p:nvSpPr>
        <p:spPr>
          <a:xfrm>
            <a:off x="8420100" y="3448050"/>
            <a:ext cx="2628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Edges define permitted transitions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7920C2CE-EDC8-47A5-8E6B-7E6979FDFBD6}"/>
              </a:ext>
            </a:extLst>
          </p:cNvPr>
          <p:cNvSpPr>
            <a:spLocks noGrp="1"/>
          </p:cNvSpPr>
          <p:nvPr/>
        </p:nvSpPr>
        <p:spPr>
          <a:xfrm>
            <a:off x="8191500" y="417195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DC92AC4-1B89-470F-BCE3-6209D073F9E5}"/>
              </a:ext>
            </a:extLst>
          </p:cNvPr>
          <p:cNvSpPr>
            <a:spLocks noGrp="1"/>
          </p:cNvSpPr>
          <p:nvPr/>
        </p:nvSpPr>
        <p:spPr>
          <a:xfrm>
            <a:off x="8420100" y="4076700"/>
            <a:ext cx="2628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Visited vertices cannot be reused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7BB4BBD1-41E9-46BA-B49D-DFFC583410B2}"/>
              </a:ext>
            </a:extLst>
          </p:cNvPr>
          <p:cNvSpPr>
            <a:spLocks noGrp="1"/>
          </p:cNvSpPr>
          <p:nvPr/>
        </p:nvSpPr>
        <p:spPr>
          <a:xfrm>
            <a:off x="8191500" y="480060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D41D83F-E54E-4A97-ADB1-CCE7790CB1D4}"/>
              </a:ext>
            </a:extLst>
          </p:cNvPr>
          <p:cNvSpPr>
            <a:spLocks noGrp="1"/>
          </p:cNvSpPr>
          <p:nvPr/>
        </p:nvSpPr>
        <p:spPr>
          <a:xfrm>
            <a:off x="8420100" y="4705350"/>
            <a:ext cx="2628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 Hamilton path supplies a complete survivable route</a:t>
            </a:r>
          </a:p>
        </p:txBody>
      </p:sp>
    </p:spTree>
    <p:extLst>
      <p:ext uri="{BB962C8B-B14F-4D97-AF65-F5344CB8AC3E}">
        <p14:creationId xmlns:p14="http://schemas.microsoft.com/office/powerpoint/2010/main" val="1990011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05E968F-352C-4E20-8E5B-28F85995A62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Next, move from prototypes to reliable pattern generation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519AEFB-E85C-4D00-A607-C222FCB106C2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The immediate work is to implement, evaluate, and improve the two approaches.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7503817-CBEC-4122-BBCA-DFAB08AB8B05}"/>
              </a:ext>
            </a:extLst>
          </p:cNvPr>
          <p:cNvSpPr>
            <a:spLocks noGrp="1"/>
          </p:cNvSpPr>
          <p:nvPr/>
        </p:nvSpPr>
        <p:spPr>
          <a:xfrm>
            <a:off x="11239500" y="62293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11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1F5818EE-CF23-434E-9FFE-46EF7E7AEB7D}"/>
              </a:ext>
            </a:extLst>
          </p:cNvPr>
          <p:cNvSpPr>
            <a:spLocks noGrp="1"/>
          </p:cNvSpPr>
          <p:nvPr/>
        </p:nvSpPr>
        <p:spPr>
          <a:xfrm>
            <a:off x="704850" y="2000250"/>
            <a:ext cx="3257550" cy="28575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D4D7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D5EE3B3-08BB-4FAB-B9E2-033C50999720}"/>
              </a:ext>
            </a:extLst>
          </p:cNvPr>
          <p:cNvSpPr>
            <a:spLocks noGrp="1"/>
          </p:cNvSpPr>
          <p:nvPr/>
        </p:nvSpPr>
        <p:spPr>
          <a:xfrm>
            <a:off x="1028700" y="23431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34A853"/>
                </a:solidFill>
              </a:defRPr>
            </a:pPr>
            <a:r>
              <a:rPr sz="2175" b="1">
                <a:solidFill>
                  <a:srgbClr val="34A853"/>
                </a:solidFill>
              </a:rPr>
              <a:t>Implement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D46858-7765-4933-A39D-0BE2B8D3A10A}"/>
              </a:ext>
            </a:extLst>
          </p:cNvPr>
          <p:cNvSpPr>
            <a:spLocks noGrp="1"/>
          </p:cNvSpPr>
          <p:nvPr/>
        </p:nvSpPr>
        <p:spPr>
          <a:xfrm>
            <a:off x="1028700" y="3105150"/>
            <a:ext cx="24384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A61"/>
                </a:solidFill>
              </a:defRPr>
            </a:pPr>
            <a:r>
              <a:rPr sz="1650" b="0">
                <a:solidFill>
                  <a:srgbClr val="555A61"/>
                </a:solidFill>
              </a:rPr>
              <a:t>Build a playable Hamilton Path example inside an actual Avoidance or stage sequence.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423C290-2141-4B11-9984-F2D76B16BC75}"/>
              </a:ext>
            </a:extLst>
          </p:cNvPr>
          <p:cNvSpPr>
            <a:spLocks noGrp="1"/>
          </p:cNvSpPr>
          <p:nvPr/>
        </p:nvSpPr>
        <p:spPr>
          <a:xfrm>
            <a:off x="4467225" y="2000250"/>
            <a:ext cx="3257550" cy="28575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D4D7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1B66E1E-D97C-4A2E-8A88-A1124D95CA3C}"/>
              </a:ext>
            </a:extLst>
          </p:cNvPr>
          <p:cNvSpPr>
            <a:spLocks noGrp="1"/>
          </p:cNvSpPr>
          <p:nvPr/>
        </p:nvSpPr>
        <p:spPr>
          <a:xfrm>
            <a:off x="4791075" y="23431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Improve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D3398AF-A626-4F68-989A-3867FB1631E9}"/>
              </a:ext>
            </a:extLst>
          </p:cNvPr>
          <p:cNvSpPr>
            <a:spLocks noGrp="1"/>
          </p:cNvSpPr>
          <p:nvPr/>
        </p:nvSpPr>
        <p:spPr>
          <a:xfrm>
            <a:off x="4791075" y="3105150"/>
            <a:ext cx="24384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A61"/>
                </a:solidFill>
              </a:defRPr>
            </a:pPr>
            <a:r>
              <a:rPr sz="1650" b="0">
                <a:solidFill>
                  <a:srgbClr val="555A61"/>
                </a:solidFill>
              </a:rPr>
              <a:t>Refine the 3SAT example: readability, pacing, difficulty, and integration with music.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96A5B2F-648B-4A20-9562-B13C607C51FE}"/>
              </a:ext>
            </a:extLst>
          </p:cNvPr>
          <p:cNvSpPr>
            <a:spLocks noGrp="1"/>
          </p:cNvSpPr>
          <p:nvPr/>
        </p:nvSpPr>
        <p:spPr>
          <a:xfrm>
            <a:off x="8229600" y="2000250"/>
            <a:ext cx="3257550" cy="28575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D4D7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F6C5D2E-8340-4A96-9CB7-20C9BFE3CBC6}"/>
              </a:ext>
            </a:extLst>
          </p:cNvPr>
          <p:cNvSpPr>
            <a:spLocks noGrp="1"/>
          </p:cNvSpPr>
          <p:nvPr/>
        </p:nvSpPr>
        <p:spPr>
          <a:xfrm>
            <a:off x="8553450" y="23431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EA4335"/>
                </a:solidFill>
              </a:defRPr>
            </a:pPr>
            <a:r>
              <a:rPr sz="2175" b="1">
                <a:solidFill>
                  <a:srgbClr val="EA4335"/>
                </a:solidFill>
              </a:rPr>
              <a:t>Evaluate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0EFD9F0-1A28-4387-8D83-F79C1325DB6D}"/>
              </a:ext>
            </a:extLst>
          </p:cNvPr>
          <p:cNvSpPr>
            <a:spLocks noGrp="1"/>
          </p:cNvSpPr>
          <p:nvPr/>
        </p:nvSpPr>
        <p:spPr>
          <a:xfrm>
            <a:off x="8553450" y="3105150"/>
            <a:ext cx="24384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A61"/>
                </a:solidFill>
              </a:defRPr>
            </a:pPr>
            <a:r>
              <a:rPr sz="1650" b="0">
                <a:solidFill>
                  <a:srgbClr val="555A61"/>
                </a:solidFill>
              </a:rPr>
              <a:t>Check both logical correctness and whether players experience the result as fair and fun.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1B6B8B4-01B6-4AFB-95E3-F08F72861740}"/>
              </a:ext>
            </a:extLst>
          </p:cNvPr>
          <p:cNvSpPr>
            <a:spLocks noGrp="1"/>
          </p:cNvSpPr>
          <p:nvPr/>
        </p:nvSpPr>
        <p:spPr>
          <a:xfrm>
            <a:off x="1066800" y="5314950"/>
            <a:ext cx="10058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Can formal constraints help us author expressive bullet hells without sacrificing a guaranteed route?</a:t>
            </a:r>
          </a:p>
        </p:txBody>
      </p:sp>
    </p:spTree>
    <p:extLst>
      <p:ext uri="{BB962C8B-B14F-4D97-AF65-F5344CB8AC3E}">
        <p14:creationId xmlns:p14="http://schemas.microsoft.com/office/powerpoint/2010/main" val="7353644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</Words>
  <Application>Microsoft Office PowerPoint</Application>
  <DocSecurity>0</DocSecurity>
  <PresentationFormat>ワイド画面</PresentationFormat>
  <Paragraphs>117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3" baseType="lpstr">
      <vt:lpstr>Calibri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泉亮多</cp:lastModifiedBy>
  <cp:revision>1</cp:revision>
  <dcterms:created xsi:type="dcterms:W3CDTF">2026-07-12T01:51:32Z</dcterms:created>
  <dcterms:modified xsi:type="dcterms:W3CDTF">2026-07-12T02:05:34Z</dcterms:modified>
</cp:coreProperties>
</file>