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88c5111ffc4a6c" /><Relationship Type="http://schemas.openxmlformats.org/officeDocument/2006/relationships/extended-properties" Target="/docProps/app.xml" Id="Rbf9bda97eb284b8b" /><Relationship Type="http://schemas.openxmlformats.org/officeDocument/2006/relationships/officeDocument" Target="/ppt/presentation.xml" Id="R519d903978134f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d0c2d9d46b41a0"/>
  </p:sldMasterIdLst>
  <p:notesMasterIdLst>
    <p:notesMasterId xmlns:r="http://schemas.openxmlformats.org/officeDocument/2006/relationships" r:id="R96694b3d094e49bc"/>
  </p:notesMasterIdLst>
  <p:sldIdLst>
    <p:sldId xmlns:r="http://schemas.openxmlformats.org/officeDocument/2006/relationships" id="256" r:id="R9820dedd17c54665"/>
    <p:sldId xmlns:r="http://schemas.openxmlformats.org/officeDocument/2006/relationships" id="257" r:id="Ra81b17b21f6945ba"/>
    <p:sldId xmlns:r="http://schemas.openxmlformats.org/officeDocument/2006/relationships" id="258" r:id="R944528501bdc4254"/>
    <p:sldId xmlns:r="http://schemas.openxmlformats.org/officeDocument/2006/relationships" id="259" r:id="Rbc54e1ec60d0494d"/>
    <p:sldId xmlns:r="http://schemas.openxmlformats.org/officeDocument/2006/relationships" id="260" r:id="Rc75867f9ba634297"/>
    <p:sldId xmlns:r="http://schemas.openxmlformats.org/officeDocument/2006/relationships" id="261" r:id="Ra505e509f2f2462c"/>
    <p:sldId xmlns:r="http://schemas.openxmlformats.org/officeDocument/2006/relationships" id="262" r:id="R2da15bf330014388"/>
    <p:sldId xmlns:r="http://schemas.openxmlformats.org/officeDocument/2006/relationships" id="263" r:id="Rf733b86c510d4acd"/>
    <p:sldId xmlns:r="http://schemas.openxmlformats.org/officeDocument/2006/relationships" id="264" r:id="Rbc21649001634170"/>
    <p:sldId xmlns:r="http://schemas.openxmlformats.org/officeDocument/2006/relationships" id="265" r:id="R7959fff001ef4d97"/>
    <p:sldId xmlns:r="http://schemas.openxmlformats.org/officeDocument/2006/relationships" id="266" r:id="Rb406617f0d144916"/>
    <p:sldId xmlns:r="http://schemas.openxmlformats.org/officeDocument/2006/relationships" id="267" r:id="R524f45d6e7384234"/>
    <p:sldId xmlns:r="http://schemas.openxmlformats.org/officeDocument/2006/relationships" id="268" r:id="R68e5aad4012849f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ee0957cbea4344" /><Relationship Type="http://schemas.openxmlformats.org/officeDocument/2006/relationships/slideMaster" Target="/ppt/slideMasters/slideMaster1.xml" Id="R0bd0c2d9d46b41a0" /><Relationship Type="http://schemas.openxmlformats.org/officeDocument/2006/relationships/notesMaster" Target="/ppt/notesMasters/notesMaster1.xml" Id="R96694b3d094e49bc" /><Relationship Type="http://schemas.openxmlformats.org/officeDocument/2006/relationships/presProps" Target="/ppt/presProps.xml" Id="R8d9a230d28ba4d87" /><Relationship Type="http://schemas.openxmlformats.org/officeDocument/2006/relationships/tableStyles" Target="/ppt/tableStyles.xml" Id="Ra1551bd7c1db4105" /><Relationship Type="http://schemas.openxmlformats.org/officeDocument/2006/relationships/slide" Target="/ppt/slides/slide1.xml" Id="R9820dedd17c54665" /><Relationship Type="http://schemas.openxmlformats.org/officeDocument/2006/relationships/slide" Target="/ppt/slides/slide2.xml" Id="Ra81b17b21f6945ba" /><Relationship Type="http://schemas.openxmlformats.org/officeDocument/2006/relationships/slide" Target="/ppt/slides/slide3.xml" Id="R944528501bdc4254" /><Relationship Type="http://schemas.openxmlformats.org/officeDocument/2006/relationships/slide" Target="/ppt/slides/slide4.xml" Id="Rbc54e1ec60d0494d" /><Relationship Type="http://schemas.openxmlformats.org/officeDocument/2006/relationships/slide" Target="/ppt/slides/slide5.xml" Id="Rc75867f9ba634297" /><Relationship Type="http://schemas.openxmlformats.org/officeDocument/2006/relationships/slide" Target="/ppt/slides/slide6.xml" Id="Ra505e509f2f2462c" /><Relationship Type="http://schemas.openxmlformats.org/officeDocument/2006/relationships/slide" Target="/ppt/slides/slide7.xml" Id="R2da15bf330014388" /><Relationship Type="http://schemas.openxmlformats.org/officeDocument/2006/relationships/slide" Target="/ppt/slides/slide8.xml" Id="Rf733b86c510d4acd" /><Relationship Type="http://schemas.openxmlformats.org/officeDocument/2006/relationships/slide" Target="/ppt/slides/slide9.xml" Id="Rbc21649001634170" /><Relationship Type="http://schemas.openxmlformats.org/officeDocument/2006/relationships/slide" Target="/ppt/slides/slide10.xml" Id="R7959fff001ef4d97" /><Relationship Type="http://schemas.openxmlformats.org/officeDocument/2006/relationships/slide" Target="/ppt/slides/slide11.xml" Id="Rb406617f0d144916" /><Relationship Type="http://schemas.openxmlformats.org/officeDocument/2006/relationships/slide" Target="/ppt/slides/slide12.xml" Id="R524f45d6e7384234" /><Relationship Type="http://schemas.openxmlformats.org/officeDocument/2006/relationships/slide" Target="/ppt/slides/slide13.xml" Id="R68e5aad4012849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e345056b4544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92622d2cde4ea6" /><Relationship Type="http://schemas.openxmlformats.org/officeDocument/2006/relationships/notesMaster" Target="/ppt/notesMasters/notesMaster1.xml" Id="Rcd86880603f641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aa69218da74b80" /><Relationship Type="http://schemas.openxmlformats.org/officeDocument/2006/relationships/notesMaster" Target="/ppt/notesMasters/notesMaster1.xml" Id="Rb1ca5f0833334c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fb356cea604f39" /><Relationship Type="http://schemas.openxmlformats.org/officeDocument/2006/relationships/notesMaster" Target="/ppt/notesMasters/notesMaster1.xml" Id="R5cd5909e3cff4f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dae485f5674aa2" /><Relationship Type="http://schemas.openxmlformats.org/officeDocument/2006/relationships/notesMaster" Target="/ppt/notesMasters/notesMaster1.xml" Id="R4bf73d975c094e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c02a9b2a5f4637" /><Relationship Type="http://schemas.openxmlformats.org/officeDocument/2006/relationships/notesMaster" Target="/ppt/notesMasters/notesMaster1.xml" Id="R4148563ab4eb49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2b165c3b1d4913" /><Relationship Type="http://schemas.openxmlformats.org/officeDocument/2006/relationships/notesMaster" Target="/ppt/notesMasters/notesMaster1.xml" Id="Rf93d278a19624e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0702841e5d4ac9" /><Relationship Type="http://schemas.openxmlformats.org/officeDocument/2006/relationships/notesMaster" Target="/ppt/notesMasters/notesMaster1.xml" Id="Rce8976f5cbb348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d5de03493d4281" /><Relationship Type="http://schemas.openxmlformats.org/officeDocument/2006/relationships/notesMaster" Target="/ppt/notesMasters/notesMaster1.xml" Id="R624364a8f54a48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e4121b388345b1" /><Relationship Type="http://schemas.openxmlformats.org/officeDocument/2006/relationships/notesMaster" Target="/ppt/notesMasters/notesMaster1.xml" Id="R9a725e7285314b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d42c413d7f64386" /><Relationship Type="http://schemas.openxmlformats.org/officeDocument/2006/relationships/notesMaster" Target="/ppt/notesMasters/notesMaster1.xml" Id="Rfd31c225ac7a492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afd52779dd4232" /><Relationship Type="http://schemas.openxmlformats.org/officeDocument/2006/relationships/notesMaster" Target="/ppt/notesMasters/notesMaster1.xml" Id="R196df53f62444e3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a6bbc064d94443" /><Relationship Type="http://schemas.openxmlformats.org/officeDocument/2006/relationships/notesMaster" Target="/ppt/notesMasters/notesMaster1.xml" Id="Rfb984cf32570425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fbbda7120ae40d8" /><Relationship Type="http://schemas.openxmlformats.org/officeDocument/2006/relationships/notesMaster" Target="/ppt/notesMasters/notesMaster1.xml" Id="Rb3fb43bfade94f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4b3696893949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bc48ce902e427b" /><Relationship Type="http://schemas.openxmlformats.org/officeDocument/2006/relationships/slideLayout" Target="/ppt/slideLayouts/slideLayout1.xml" Id="R114dcb5638ab44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4dcb5638ab44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4a6ebe492411a" /><Relationship Type="http://schemas.openxmlformats.org/officeDocument/2006/relationships/notesSlide" Target="/ppt/notesSlides/notesSlide1.xml" Id="R43921f9674e641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bea853393479c" /><Relationship Type="http://schemas.openxmlformats.org/officeDocument/2006/relationships/notesSlide" Target="/ppt/notesSlides/notesSlide2.xml" Id="R97f4c08c8da84e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10421ef25e4ed2" /><Relationship Type="http://schemas.openxmlformats.org/officeDocument/2006/relationships/notesSlide" Target="/ppt/notesSlides/notesSlide3.xml" Id="R0b37844f4c9a42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408f779e9473e" /><Relationship Type="http://schemas.openxmlformats.org/officeDocument/2006/relationships/notesSlide" Target="/ppt/notesSlides/notesSlide4.xml" Id="Re64a4b539b5a43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d9a5a49f10442f" /><Relationship Type="http://schemas.openxmlformats.org/officeDocument/2006/relationships/notesSlide" Target="/ppt/notesSlides/notesSlide5.xml" Id="R65f7eabbe4a844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579b7770b4099" /><Relationship Type="http://schemas.openxmlformats.org/officeDocument/2006/relationships/notesSlide" Target="/ppt/notesSlides/notesSlide6.xml" Id="R8070958a0e6b4b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17a95fb2b4057" /><Relationship Type="http://schemas.openxmlformats.org/officeDocument/2006/relationships/notesSlide" Target="/ppt/notesSlides/notesSlide7.xml" Id="R1f90e904f2e341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05cc6aa78f491c" /><Relationship Type="http://schemas.openxmlformats.org/officeDocument/2006/relationships/notesSlide" Target="/ppt/notesSlides/notesSlide8.xml" Id="R623520f739b943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11ea1b5a14394" /><Relationship Type="http://schemas.openxmlformats.org/officeDocument/2006/relationships/notesSlide" Target="/ppt/notesSlides/notesSlide9.xml" Id="Rf85704c039a345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4c9316ff54113" /><Relationship Type="http://schemas.openxmlformats.org/officeDocument/2006/relationships/notesSlide" Target="/ppt/notesSlides/notesSlide10.xml" Id="R38245815e63b4ed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2eda609e004612" /><Relationship Type="http://schemas.openxmlformats.org/officeDocument/2006/relationships/notesSlide" Target="/ppt/notesSlides/notesSlide11.xml" Id="Rae2b3fc2905944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450ffaa694fe6" /><Relationship Type="http://schemas.openxmlformats.org/officeDocument/2006/relationships/notesSlide" Target="/ppt/notesSlides/notesSlide12.xml" Id="R37ac57c2b59c4cf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aaac9d0344fca" /><Relationship Type="http://schemas.openxmlformats.org/officeDocument/2006/relationships/notesSlide" Target="/ppt/notesSlides/notesSlide13.xml" Id="Rd0b3d758c87140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BF294F-2A66-4B53-8769-053D3D5D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144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111111"/>
                </a:solidFill>
              </a:defRPr>
            </a:pPr>
            <a:r>
              <a:rPr sz="4125" b="1">
                <a:solidFill>
                  <a:srgbClr val="111111"/>
                </a:solidFill>
              </a:rPr>
              <a:t>Encoding NP-Complete Problems as Bullet-Hell Game Gimmicks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C5246-7B3D-44AE-99B3-6172DFAF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A61"/>
                </a:solidFill>
              </a:defRPr>
            </a:pPr>
            <a:r>
              <a:rPr sz="1800" b="0">
                <a:solidFill>
                  <a:srgbClr val="555A61"/>
                </a:solidFill>
              </a:rPr>
              <a:t>A research presentation using an I Wanna-style engine built with Siv3D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6E52BD-8AE9-48C3-975A-037673B4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952500"/>
            <a:ext cx="2476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D4D7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F18E2-EE39-49AE-A240-8B646304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478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</a:defRPr>
            </a:pPr>
            <a:r>
              <a:rPr sz="3150" b="1">
                <a:solidFill>
                  <a:srgbClr val="3D8DFF"/>
                </a:solidFill>
              </a:rPr>
              <a:t>3SAT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86E51B-69A3-47DC-BBCB-B659239E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241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EE6AE-F45B-4C94-BDF1-8394D352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0515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4A853"/>
                </a:solidFill>
              </a:defRPr>
            </a:pPr>
            <a:r>
              <a:rPr sz="2850" b="1">
                <a:solidFill>
                  <a:srgbClr val="34A853"/>
                </a:solidFill>
              </a:rPr>
              <a:t>Hamilton</a:t>
            </a:r>
          </a:p>
          <a:p xmlns:a="http://schemas.openxmlformats.org/drawingml/2006/main">
            <a:pPr algn="l">
              <a:defRPr sz="2850" b="1">
                <a:solidFill>
                  <a:srgbClr val="34A853"/>
                </a:solidFill>
              </a:defRPr>
            </a:pPr>
            <a:r>
              <a:rPr sz="2850" b="1">
                <a:solidFill>
                  <a:srgbClr val="34A853"/>
                </a:solidFill>
              </a:rPr>
              <a:t>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03B4EC-9DB8-40C8-8E0E-0C70835E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A61"/>
                </a:solidFill>
              </a:defRPr>
            </a:pPr>
            <a:r>
              <a:rPr sz="1500" b="0">
                <a:solidFill>
                  <a:srgbClr val="555A61"/>
                </a:solidFill>
              </a:rPr>
              <a:t>20-minute talk / 10-minute Q&amp;A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0D7214-8B4D-43E9-9AA6-0FA9B2FE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103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A61"/>
                </a:solidFill>
              </a:defRPr>
            </a:pPr>
            <a:r>
              <a:rPr sz="1050" b="0">
                <a:solidFill>
                  <a:srgbClr val="555A61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265729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29DAB5-38A0-4E75-9711-3D461E6B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research question is broader than difficulty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724F43-FE55-4065-85B3-BE42C5BE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A61"/>
                </a:solidFill>
              </a:defRPr>
            </a:pPr>
            <a:r>
              <a:rPr sz="1500" b="0">
                <a:solidFill>
                  <a:srgbClr val="555A61"/>
                </a:solidFill>
              </a:rPr>
              <a:t>The goal is to connect formal problem structure with playable level structure.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30374-117A-4F02-A789-D0495AA6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103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A61"/>
                </a:solidFill>
              </a:defRPr>
            </a:pPr>
            <a:r>
              <a:rPr sz="1050" b="0">
                <a:solidFill>
                  <a:srgbClr val="555A61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0F97B4-160F-4618-98A9-C63ECA45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FBF3B-4DD0-4E82-A61A-DF285F0A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9677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Can a Boolean formula or graph instance be transformed into a playable gimmick?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01E6B-CDC4-4B54-AC37-ECB3ED11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203338-3674-48A0-9203-016BC5A7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9677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Does stage clearability correspond to the existence of a valid solution?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80FBBC-9D27-46BE-BCE4-78AD0BF7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1B0FB7-B7B6-4A00-B865-A2433FE0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95650"/>
            <a:ext cx="9677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Can the player experience search, constraint satisfaction, and backtracking as game actions?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1EB772-4573-46B2-A812-275A4F54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A20B9A-0A47-4021-94C1-7C1D735E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24300"/>
            <a:ext cx="9677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Can the same engine support both prototype demonstrations and practical stage design?</a:t>
            </a:r>
          </a:p>
        </p:txBody>
      </p:sp>
    </p:spTree>
    <p:extLst>
      <p:ext uri="{BB962C8B-B14F-4D97-AF65-F5344CB8AC3E}">
        <p14:creationId xmlns:p14="http://schemas.microsoft.com/office/powerpoint/2010/main" val="12152565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32D4CD-7F87-4137-BFB2-2937DF9C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Two completed prototypes give the research a concrete 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FAC0D5-4D46-4642-A82F-3B30B7C3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A61"/>
                </a:solidFill>
              </a:defRPr>
            </a:pPr>
            <a:r>
              <a:rPr sz="1500" b="0">
                <a:solidFill>
                  <a:srgbClr val="555A61"/>
                </a:solidFill>
              </a:rPr>
              <a:t>Both reductions currently exist as provisional gimmicks; 3SAT also has an in-stage usage example.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53256-D499-496B-B7E6-2A6A9E64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103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A61"/>
                </a:solidFill>
              </a:defRPr>
            </a:pPr>
            <a:r>
              <a:rPr sz="1050" b="0">
                <a:solidFill>
                  <a:srgbClr val="555A61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35F63-0BAD-4079-9A67-39062343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4D7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7144E7-0F4D-49E9-8BE7-0DDBEB1F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2405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4D7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5AEDFE-C3B3-4ADE-B6CC-6CD68D9A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2405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4D7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84083E-2CC2-41AE-9C06-7C8355C4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3SAT gimmick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8FB7B3-3075-4288-A463-ED0F0934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25908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A61"/>
                </a:solidFill>
              </a:defRPr>
            </a:pPr>
            <a:r>
              <a:rPr sz="1575" b="0">
                <a:solidFill>
                  <a:srgbClr val="555A61"/>
                </a:solidFill>
              </a:rPr>
              <a:t>A route-choice structure represents variable assignments. Clause sections test whether at least one literal is satisfied.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6D2EB5-C4D3-475C-BDB9-483A28F2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669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Hamilton Path gimmick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F274A-98BE-4241-A0C7-76FF43E2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81350"/>
            <a:ext cx="2590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A61"/>
                </a:solidFill>
              </a:defRPr>
            </a:pPr>
            <a:r>
              <a:rPr sz="1575" b="0">
                <a:solidFill>
                  <a:srgbClr val="555A61"/>
                </a:solidFill>
              </a:rPr>
              <a:t>Graph traversal is mapped to player movement while enforcing edge validity and one-time vertex visits.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504443-042C-4955-906A-F36D2FD8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669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Practical 3SAT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22BF13-3699-4960-9BA3-3BC462B3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81350"/>
            <a:ext cx="2590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A61"/>
                </a:solidFill>
              </a:defRPr>
            </a:pPr>
            <a:r>
              <a:rPr sz="1575" b="0">
                <a:solidFill>
                  <a:srgbClr val="555A61"/>
                </a:solidFill>
              </a:rPr>
              <a:t>The 3SAT mechanism has moved beyond a toy prototype and has been used in an actual stage context.</a:t>
            </a:r>
          </a:p>
        </p:txBody>
      </p:sp>
    </p:spTree>
    <p:extLst>
      <p:ext uri="{BB962C8B-B14F-4D97-AF65-F5344CB8AC3E}">
        <p14:creationId xmlns:p14="http://schemas.microsoft.com/office/powerpoint/2010/main" val="10208162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ADF9B4-1BCE-4FF6-BEB6-58405CD8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3SAT becomes a sequence of commitments and checks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0D031C-0239-47F4-B52C-A2226AF0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A61"/>
                </a:solidFill>
              </a:defRPr>
            </a:pPr>
            <a:r>
              <a:rPr sz="1500" b="0">
                <a:solidFill>
                  <a:srgbClr val="555A61"/>
                </a:solidFill>
              </a:rPr>
              <a:t>The player chooses truth values, then the stage tests clause satisfaction.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A94632-0253-4351-A47D-537AFEAE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103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A61"/>
                </a:solidFill>
              </a:defRPr>
            </a:pPr>
            <a:r>
              <a:rPr sz="1050" b="0">
                <a:solidFill>
                  <a:srgbClr val="555A61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E81C76-4029-4A0F-8A51-DF73BE3A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4476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4D7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A1BE0F-07BD-415B-8D9E-17BF9B7C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857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4A853"/>
          </a:solidFill>
          <a:ln xmlns:a="http://schemas.openxmlformats.org/drawingml/2006/main" w="9525">
            <a:solidFill>
              <a:srgbClr val="34A85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TRUE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70A133-414F-49AC-ADEB-5C4A27CC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324100"/>
            <a:ext cx="3067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Upper route commits the variable to true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FCB1D-3241-4AB8-A695-523CFBAC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4476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4D7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0FF5CE-321A-46E8-9A1B-B02AE67D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86150"/>
            <a:ext cx="857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4335"/>
          </a:solidFill>
          <a:ln xmlns:a="http://schemas.openxmlformats.org/drawingml/2006/main" w="9525">
            <a:solidFill>
              <a:srgbClr val="EA43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FALSE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24759B-CC0E-4B5E-BE95-ECEDEA5E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05200"/>
            <a:ext cx="3067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Lower route commits the variable to false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5726F9-65DE-4131-95EA-0AE6317D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2415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0D4D58-F786-4EC3-919D-89285EBE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0525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0CB4B8-0A97-4967-AB94-DBD6049B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71700"/>
            <a:ext cx="4000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4D7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49A436-E296-4F8C-A012-4A8FD34C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955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Clause 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33205E-47C3-4CCA-BEA3-8796E9DE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861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D8DFF"/>
                </a:solidFill>
              </a:defRPr>
            </a:pPr>
            <a:r>
              <a:rPr sz="1725" b="0">
                <a:solidFill>
                  <a:srgbClr val="3D8DFF"/>
                </a:solidFill>
              </a:rPr>
              <a:t>(x1 OR not x2 OR x3)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02CC1B-9369-4BBE-A9A8-8D684615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766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A61"/>
                </a:solidFill>
              </a:defRPr>
            </a:pPr>
            <a:r>
              <a:rPr sz="1500" b="0">
                <a:solidFill>
                  <a:srgbClr val="555A61"/>
                </a:solidFill>
              </a:rPr>
              <a:t>Pass if at least one selected literal opens the path.</a:t>
            </a:r>
          </a:p>
        </p:txBody>
      </p:sp>
    </p:spTree>
    <p:extLst>
      <p:ext uri="{BB962C8B-B14F-4D97-AF65-F5344CB8AC3E}">
        <p14:creationId xmlns:p14="http://schemas.microsoft.com/office/powerpoint/2010/main" val="19882311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FF968B-90D6-48EC-A6BB-4E64F740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A 3SAT stage can preserve the logical meaning of the formula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513102-91C3-44F0-AE16-4662F100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A61"/>
                </a:solidFill>
              </a:defRPr>
            </a:pPr>
            <a:r>
              <a:rPr sz="1500" b="0">
                <a:solidFill>
                  <a:srgbClr val="555A61"/>
                </a:solidFill>
              </a:rPr>
              <a:t>The important claim is correspondence, not just visual analogy.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2377B-FCAD-4816-8B18-08321970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103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A61"/>
                </a:solidFill>
              </a:defRPr>
            </a:pPr>
            <a:r>
              <a:rPr sz="1050" b="0">
                <a:solidFill>
                  <a:srgbClr val="555A61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CA7C5-F429-4ED5-B9B1-6CE0A2ED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2537460" cy="70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8B4C9-3AAF-42A0-91FD-C167A9A5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230886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Formula 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0A5DC-A2F6-41C3-A270-5745A166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1809750"/>
            <a:ext cx="3277553" cy="70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BE8C1-ACC4-4AF6-9659-1A30AD76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860" y="1905000"/>
            <a:ext cx="3048953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Game element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371EFD-E3B1-44D8-AE8F-E879E121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5113" y="1809750"/>
            <a:ext cx="4757738" cy="70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1E4A2C-770B-4C48-B6DC-A321026B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1905000"/>
            <a:ext cx="4529138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Why it matters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548122-5972-4433-AC1A-9CC26994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0790"/>
            <a:ext cx="2537460" cy="70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B10EB4-3402-4446-A9A1-BEF90E67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6040"/>
            <a:ext cx="230886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Variable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F011ED-7146-4A2F-9762-81D07369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510790"/>
            <a:ext cx="3277553" cy="70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64BB42-043B-4540-A413-1BBAFD12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860" y="2606040"/>
            <a:ext cx="3048953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A forced route choice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7391E7-0618-40DB-BCD7-20945456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5113" y="2510790"/>
            <a:ext cx="4757738" cy="70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075B06-D117-4143-BF5C-0E2F7830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2606040"/>
            <a:ext cx="4529138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The player commits to one truth value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1965DD-136A-4BD3-ACA6-5FFF270F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1830"/>
            <a:ext cx="2537460" cy="70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162A4E-084A-463C-A4F5-7A8A6C15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07080"/>
            <a:ext cx="230886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Literal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10172A-1986-4BBC-9670-D74D7A5C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211830"/>
            <a:ext cx="3277553" cy="70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2AD1E9-31C2-450D-A8B9-AC6FAB75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860" y="3307080"/>
            <a:ext cx="3048953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A condition tied to a route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34792E-FE5F-46CB-B085-65BF0288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5113" y="3211830"/>
            <a:ext cx="4757738" cy="70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D1C4A6-6A03-4243-B30B-94FF9566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3307080"/>
            <a:ext cx="4529138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Positive and negated choices can be distinguished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11182D-B3E5-4BEB-AB7B-E371FA54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12870"/>
            <a:ext cx="2537460" cy="70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1853C8-BF2A-4622-92FD-8C5BC7D0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8120"/>
            <a:ext cx="230886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Clause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BAEF1F-A0BF-4CAB-8233-A247EF2E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912870"/>
            <a:ext cx="3277553" cy="70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EEF490-6572-4908-A289-1BA3E7C8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860" y="4008120"/>
            <a:ext cx="3048953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A pass/fail gate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11F4A0-C561-44A6-AA5F-FA1BF74E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5113" y="3912870"/>
            <a:ext cx="4757738" cy="70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DA6CD4-9EB1-461C-8DB6-75747CE9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4008120"/>
            <a:ext cx="4529138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At least one satisfied literal opens progression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20B8C3-A31F-4BDE-801F-BCE7312D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13910"/>
            <a:ext cx="2537460" cy="70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FDD0DE-8F2A-46BB-86B4-9EFB82B2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9160"/>
            <a:ext cx="230886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Satisfying assignment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B1B1F1-79F5-4E38-BAC9-EEA8A157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4613910"/>
            <a:ext cx="3277553" cy="70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F8442B-D2F4-43E1-804C-E6DD88F8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860" y="4709160"/>
            <a:ext cx="3048953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A complete clear route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BF9C42-4B58-4F08-A498-3C68B092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5113" y="4613910"/>
            <a:ext cx="4757738" cy="70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1725BC-300B-4EDE-AC0C-04209F7E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4709160"/>
            <a:ext cx="4529138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Clearability mirrors satisfiability</a:t>
            </a:r>
          </a:p>
        </p:txBody>
      </p:sp>
    </p:spTree>
    <p:extLst>
      <p:ext uri="{BB962C8B-B14F-4D97-AF65-F5344CB8AC3E}">
        <p14:creationId xmlns:p14="http://schemas.microsoft.com/office/powerpoint/2010/main" val="15033725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A6692C-83C7-45FD-8874-4479321D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existing 3SAT use case turns the prototype into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F92E26-6D5E-4EA0-A1AD-BEB2FBC9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A61"/>
                </a:solidFill>
              </a:defRPr>
            </a:pPr>
            <a:r>
              <a:rPr sz="1500" b="0">
                <a:solidFill>
                  <a:srgbClr val="555A61"/>
                </a:solidFill>
              </a:rPr>
              <a:t>A practical stage example lets the study discuss playability, not just construction.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91403-1064-4FA5-938C-1DA2D72D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103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A61"/>
                </a:solidFill>
              </a:defRPr>
            </a:pPr>
            <a:r>
              <a:rPr sz="1050" b="0">
                <a:solidFill>
                  <a:srgbClr val="555A61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AD0A9-B4F7-4C74-AD30-82B81028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485775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4D7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3F0AE-9081-4C03-8B61-8749EF08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What the example can show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C8F21C-6FE4-4929-B65D-87D6988F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24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7FB20-0653-4090-A6EF-665C0B06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28950"/>
            <a:ext cx="358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Players can read the choice structure during play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6A9221-8011-42DE-982E-9003AAE7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14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E18E54-D4C6-40AE-ACEA-BF5636F6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19500"/>
            <a:ext cx="358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The constraint checks can be embedded into action timing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CBD119-B952-45EB-A88D-C903F544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271032-BE74-48E0-A219-3373187C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10050"/>
            <a:ext cx="358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The mechanism can coexist with ordinary I Wanna hazards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29F146-4398-42B2-98FC-49268339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43100"/>
            <a:ext cx="485775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4D7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386287-5E30-476E-B30B-7A290796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What should be measured next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DDF2C3-A364-46BC-9ECD-D8864D30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24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A863CF-3876-43BB-BC20-68A6100E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28950"/>
            <a:ext cx="358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Time to infer the rule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D4CABA-6035-4979-9060-894A8E4B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14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7417B7-A5B5-46F8-A56B-2CBE8F75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19500"/>
            <a:ext cx="358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Failure patterns and backtracking behavior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C675DC-DAD7-4BCB-AEAB-66909276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E55DCB-171D-41CC-895A-A92B5062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10050"/>
            <a:ext cx="358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Whether solving feels strategic or arbitrary</a:t>
            </a:r>
          </a:p>
        </p:txBody>
      </p:sp>
    </p:spTree>
    <p:extLst>
      <p:ext uri="{BB962C8B-B14F-4D97-AF65-F5344CB8AC3E}">
        <p14:creationId xmlns:p14="http://schemas.microsoft.com/office/powerpoint/2010/main" val="19703249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492D63-0690-40D7-989D-3691CE36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Hamilton Path maps graph traversal to route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0845D-F0CF-4914-B7E3-0C46C810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A61"/>
                </a:solidFill>
              </a:defRPr>
            </a:pPr>
            <a:r>
              <a:rPr sz="1500" b="0">
                <a:solidFill>
                  <a:srgbClr val="555A61"/>
                </a:solidFill>
              </a:rPr>
              <a:t>The player must visit every vertex once while following only valid edges.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18949-7EF8-4176-8C04-50C27C03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103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A61"/>
                </a:solidFill>
              </a:defRPr>
            </a:pPr>
            <a:r>
              <a:rPr sz="1050" b="0">
                <a:solidFill>
                  <a:srgbClr val="555A61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90A363-0787-43B0-8574-AF547128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76550"/>
            <a:ext cx="1638300" cy="-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EEA92-391B-4164-9BF7-93102494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76550"/>
            <a:ext cx="163830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B76DE2-AA92-44FF-8143-10C66039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95500"/>
            <a:ext cx="180975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C74BC9-9448-47F0-B36B-62D4E9D1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14750"/>
            <a:ext cx="1809750" cy="-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33D50C-933A-4C94-A1C5-F2893F0B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57500"/>
            <a:ext cx="1638300" cy="-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E18DCE-18B9-41F0-A598-6A1FCA6A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57500"/>
            <a:ext cx="1638300" cy="990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AB093A-B1C3-427E-BD7F-BADC0991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098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46F0E6-C8A3-4821-AD8E-67237BD5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288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27533E-A79C-42D2-B1E3-C0143A20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480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891BD7-5159-4274-8BCE-20A552FC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908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73C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D34270-7E54-47AE-88F5-1FDD6FDE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14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57FB88-A56C-4D47-9416-7C862C5A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814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AEFA3E-B284-447E-ABCD-F03A1EE8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959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A valid clear route is a Hamilton path: each vertex appears exactly once.</a:t>
            </a:r>
          </a:p>
        </p:txBody>
      </p:sp>
    </p:spTree>
    <p:extLst>
      <p:ext uri="{BB962C8B-B14F-4D97-AF65-F5344CB8AC3E}">
        <p14:creationId xmlns:p14="http://schemas.microsoft.com/office/powerpoint/2010/main" val="9773906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2D39DE-4ADE-41E4-B671-BEF86C2A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Hamilton Path gimmick has two core enforcement problems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3B64D-9040-4440-ACC3-50E0125A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A61"/>
                </a:solidFill>
              </a:defRPr>
            </a:pPr>
            <a:r>
              <a:rPr sz="1500" b="0">
                <a:solidFill>
                  <a:srgbClr val="555A61"/>
                </a:solidFill>
              </a:rPr>
              <a:t>The stage must prevent illegal edges and repeated vertex visits.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A7061-0DB0-401E-B87A-6E074F5F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103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A61"/>
                </a:solidFill>
              </a:defRPr>
            </a:pPr>
            <a:r>
              <a:rPr sz="1050" b="0">
                <a:solidFill>
                  <a:srgbClr val="555A61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A7F54-B590-4BFF-B10F-F5081C8D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4762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4D7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0E38F-7287-41F3-98D3-54AC1087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8350"/>
            <a:ext cx="4762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4D7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42A657-56A8-4BA2-9AB1-996A9055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003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Edge validity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3F18D-B1DE-4344-9EDF-7486F5CA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371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A61"/>
                </a:solidFill>
              </a:defRPr>
            </a:pPr>
            <a:r>
              <a:rPr sz="1650" b="0">
                <a:solidFill>
                  <a:srgbClr val="555A61"/>
                </a:solidFill>
              </a:rPr>
              <a:t>Movement options should exist only where the original graph has an edge. Non-edges must be blocked by geometry, hazards, or state.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C88475-4F42-4DE6-8C23-73EBE977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003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Visit uniqueness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8C884A-76CE-4913-9CA3-8C35CAA9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371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A61"/>
                </a:solidFill>
              </a:defRPr>
            </a:pPr>
            <a:r>
              <a:rPr sz="1650" b="0">
                <a:solidFill>
                  <a:srgbClr val="555A61"/>
                </a:solidFill>
              </a:rPr>
              <a:t>After a vertex is used, the corresponding route should become unavailable or fatal, forcing a one-time visit constraint.</a:t>
            </a:r>
          </a:p>
        </p:txBody>
      </p:sp>
    </p:spTree>
    <p:extLst>
      <p:ext uri="{BB962C8B-B14F-4D97-AF65-F5344CB8AC3E}">
        <p14:creationId xmlns:p14="http://schemas.microsoft.com/office/powerpoint/2010/main" val="3949347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B97D9B-8CC2-4BBD-99AD-8446F61C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Both gimmicks express search through player movement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E68CE-2550-4CDD-8DAC-63EA689B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A61"/>
                </a:solidFill>
              </a:defRPr>
            </a:pPr>
            <a:r>
              <a:rPr sz="1500" b="0">
                <a:solidFill>
                  <a:srgbClr val="555A61"/>
                </a:solidFill>
              </a:rPr>
              <a:t>This shared structure is the basis for comparing them as research objects.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3B49E2-F98E-4D24-BC96-BE6974F3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103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A61"/>
                </a:solidFill>
              </a:defRPr>
            </a:pPr>
            <a:r>
              <a:rPr sz="1050" b="0">
                <a:solidFill>
                  <a:srgbClr val="555A61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273F0-79E5-4733-89E9-991572A3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2148840" cy="7391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9CFC6-D6A9-4F98-8229-35710EBE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1920240" cy="586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Aspect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4FC87-F3AA-4000-AD52-336E7545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740" y="1752600"/>
            <a:ext cx="4082796" cy="7391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5C5EE-CAED-4C1B-910A-29FAAED3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040" y="1847850"/>
            <a:ext cx="3854196" cy="586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3SAT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7BE931-D092-4C63-A0F6-562B4B1F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5536" y="1752600"/>
            <a:ext cx="4512564" cy="7391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D1EA35-F14B-4B8F-943C-E79AA6BA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836" y="1847850"/>
            <a:ext cx="4283964" cy="586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Hamilton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5E04F1-ADF9-41E4-9E82-677215D5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1740"/>
            <a:ext cx="2148840" cy="7391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E3FD8F-A4ED-4C04-AE23-B6B03ACF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86990"/>
            <a:ext cx="1920240" cy="586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Choice unit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E18BA5-5F91-4C94-ACFC-B629ADF5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740" y="2491740"/>
            <a:ext cx="4082796" cy="7391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24EE84-2E34-448F-8479-900AB4A8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040" y="2586990"/>
            <a:ext cx="3854196" cy="586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Truth assignment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330C98-A132-4F04-94B8-25F0BA22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5536" y="2491740"/>
            <a:ext cx="4512564" cy="7391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3AE70D-07D1-4DAD-BF00-514D987C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836" y="2586990"/>
            <a:ext cx="4283964" cy="586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Next vertex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672CB7-FEC4-4BBA-B0D4-D7EE90A2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0880"/>
            <a:ext cx="2148840" cy="7391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3AA1C4-9E19-4B9B-86DD-1B458059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26130"/>
            <a:ext cx="1920240" cy="586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Constraint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D5994D-3AA8-4260-AFF1-F654FAA3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740" y="3230880"/>
            <a:ext cx="4082796" cy="7391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50EF98-89DC-4833-B67B-A975299C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040" y="3326130"/>
            <a:ext cx="3854196" cy="586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Every clause must be satisfied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1C6814-D65A-4CB9-B166-1C689D81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5536" y="3230880"/>
            <a:ext cx="4512564" cy="7391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ACE5F8-9E77-4326-94A8-D43F7BD9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836" y="3326130"/>
            <a:ext cx="4283964" cy="586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Every vertex must be visited once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7262BE-41E6-414C-AF9A-9EDC1A62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0020"/>
            <a:ext cx="2148840" cy="7391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1DBF83-884C-43E0-9028-97D35E48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65270"/>
            <a:ext cx="1920240" cy="586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Failure mode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A6B51D-7C73-4440-A7DC-77C648B2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740" y="3970020"/>
            <a:ext cx="4082796" cy="7391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ED4966-77BF-48C0-B27E-BA387538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040" y="4065270"/>
            <a:ext cx="3854196" cy="586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An unsatisfied clause blocks progress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0A0673-102E-4D90-9B07-DF13EB7E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5536" y="3970020"/>
            <a:ext cx="4512564" cy="7391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AF777F-B7FF-487E-96FF-1E4EC2AF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836" y="4065270"/>
            <a:ext cx="4283964" cy="586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A repeated vertex or missing edge blocks progress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902E69-3417-4755-9846-2A30E058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9160"/>
            <a:ext cx="2148840" cy="7391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E037F5-DBE4-4E19-8CEC-5A68A5CC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04410"/>
            <a:ext cx="1920240" cy="586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Player experience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B30995-513C-4400-AD8E-7C0A63D3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740" y="4709160"/>
            <a:ext cx="4082796" cy="7391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7E540E-46CB-4CE3-8845-D2B9209A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040" y="4804410"/>
            <a:ext cx="3854196" cy="586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Commit, test, revise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D7874B-28DE-4604-AADC-54266442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5536" y="4709160"/>
            <a:ext cx="4512564" cy="7391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D1D77F-6150-4EE1-864E-C65F9393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836" y="4804410"/>
            <a:ext cx="4283964" cy="586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Plan, traverse, avoid reuse</a:t>
            </a:r>
          </a:p>
        </p:txBody>
      </p:sp>
    </p:spTree>
    <p:extLst>
      <p:ext uri="{BB962C8B-B14F-4D97-AF65-F5344CB8AC3E}">
        <p14:creationId xmlns:p14="http://schemas.microsoft.com/office/powerpoint/2010/main" val="9858637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6DEDBE-6F58-42B5-BED3-04D4FD26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research contribution can be framed at three levels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8EDBAA-7970-42C7-BF7E-5CA710CF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A61"/>
                </a:solidFill>
              </a:defRPr>
            </a:pPr>
            <a:r>
              <a:rPr sz="1500" b="0">
                <a:solidFill>
                  <a:srgbClr val="555A61"/>
                </a:solidFill>
              </a:rPr>
              <a:t>This keeps the talk balanced between theory, implementation, and game design.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4766E-041B-44AF-B4BA-6CC6CB1A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103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A61"/>
                </a:solidFill>
              </a:defRPr>
            </a:pPr>
            <a:r>
              <a:rPr sz="1050" b="0">
                <a:solidFill>
                  <a:srgbClr val="555A61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340B7-6B4C-4401-9047-48A85B3B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4D7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C0850-0E2C-4643-9C61-CAC1E3CB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526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4D7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9E5774-63D4-4C95-9A32-995CBD91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526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4D7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7C09B4-92BE-43DF-8CAE-9DA8AF77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</a:defRPr>
            </a:pPr>
            <a:r>
              <a:rPr sz="2025" b="1">
                <a:solidFill>
                  <a:srgbClr val="3D8DFF"/>
                </a:solidFill>
              </a:rPr>
              <a:t>Computational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06A10-FA9D-47D7-BF51-3AC2AD8D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2362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A61"/>
                </a:solidFill>
              </a:defRPr>
            </a:pPr>
            <a:r>
              <a:rPr sz="1650" b="0">
                <a:solidFill>
                  <a:srgbClr val="555A61"/>
                </a:solidFill>
              </a:rPr>
              <a:t>Clearability can be related to satisfiability or path existence.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B0A00E-A281-46BA-B89C-83C9DD6A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765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4A853"/>
                </a:solidFill>
              </a:defRPr>
            </a:pPr>
            <a:r>
              <a:rPr sz="2025" b="1">
                <a:solidFill>
                  <a:srgbClr val="34A853"/>
                </a:solidFill>
              </a:rPr>
              <a:t>Educational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943EBA-8506-4A03-BE37-1A771BFC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81350"/>
            <a:ext cx="2362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A61"/>
                </a:solidFill>
              </a:defRPr>
            </a:pPr>
            <a:r>
              <a:rPr sz="1650" b="0">
                <a:solidFill>
                  <a:srgbClr val="555A61"/>
                </a:solidFill>
              </a:rPr>
              <a:t>Abstract NP-complete problems become visible and playable.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79D2E8-3F74-49D3-A415-BB56D9A7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765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A4335"/>
                </a:solidFill>
              </a:defRPr>
            </a:pPr>
            <a:r>
              <a:rPr sz="2025" b="1">
                <a:solidFill>
                  <a:srgbClr val="EA4335"/>
                </a:solidFill>
              </a:rPr>
              <a:t>Design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D6998A-B990-4641-9F7E-29DCB81E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81350"/>
            <a:ext cx="2362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A61"/>
                </a:solidFill>
              </a:defRPr>
            </a:pPr>
            <a:r>
              <a:rPr sz="1650" b="0">
                <a:solidFill>
                  <a:srgbClr val="555A61"/>
                </a:solidFill>
              </a:rPr>
              <a:t>Problem instances can inspire systematic stage-generation rules.</a:t>
            </a:r>
          </a:p>
        </p:txBody>
      </p:sp>
    </p:spTree>
    <p:extLst>
      <p:ext uri="{BB962C8B-B14F-4D97-AF65-F5344CB8AC3E}">
        <p14:creationId xmlns:p14="http://schemas.microsoft.com/office/powerpoint/2010/main" val="1691536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C0C8D5-CFED-45DA-8CA7-BE5FFCB0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Evaluation should separate correctness from playability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82ACB-9D2C-4A24-A81D-227FEF1B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A61"/>
                </a:solidFill>
              </a:defRPr>
            </a:pPr>
            <a:r>
              <a:rPr sz="1500" b="0">
                <a:solidFill>
                  <a:srgbClr val="555A61"/>
                </a:solidFill>
              </a:rPr>
              <a:t>A stage can be logically faithful and still fail as a game experience.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861B8E-61B2-48A6-90CD-50CCC62F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103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A61"/>
                </a:solidFill>
              </a:defRPr>
            </a:pPr>
            <a:r>
              <a:rPr sz="1050" b="0">
                <a:solidFill>
                  <a:srgbClr val="555A61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AB0E1-A72C-4C74-9B3C-5CB15A15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2405634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8A21E2-FFDA-4A58-B9C3-C8EC9C62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2177034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Criterion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90AFCF-33A5-45B7-ABE8-0672B9C7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284" y="1790700"/>
            <a:ext cx="3936492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96DFAB-5ADF-4AF7-9B92-DF29E51A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584" y="1885950"/>
            <a:ext cx="3707892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Question to answer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A83EBE-ACC1-4A3A-BF52-877402D9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0776" y="1790700"/>
            <a:ext cx="4592574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47FE9F-C43C-4A86-81A1-362B5121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5076" y="1885950"/>
            <a:ext cx="4363974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Possible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82969D-CD51-4C5E-AF8E-A657C02E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2405634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9FA764-7E28-4D07-B872-62CF7E08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2177034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Formal correspondence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8D616C-4E98-4758-82F3-6E61A8AD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284" y="2533650"/>
            <a:ext cx="3936492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CCBC0-CFA4-424E-B600-47ADEEA2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584" y="2628900"/>
            <a:ext cx="3707892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Does a solution exist iff the stage is clearable?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2F8C3C-C5B6-4740-87F9-7CD34AEF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0776" y="2533650"/>
            <a:ext cx="4592574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A417A9-C040-48B7-9AE6-3AB3FD30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5076" y="2628900"/>
            <a:ext cx="4363974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Small proofs and generated test cases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F75631-D47F-43DA-86A4-3E91A608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76600"/>
            <a:ext cx="2405634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7CBCF9-01EB-4B73-A24C-86848C0D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2177034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Readability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F9BE9B-6467-4BD4-8396-032D5925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284" y="3276600"/>
            <a:ext cx="3936492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69DEAF-1010-4C34-B42D-16E3E5D7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584" y="3371850"/>
            <a:ext cx="3707892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Can players infer what each route means?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BAB46B-7B54-468B-B6AA-05070ECA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0776" y="3276600"/>
            <a:ext cx="4592574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12BD9C-E42B-4202-B629-0D3F6248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5076" y="3371850"/>
            <a:ext cx="4363974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Observation and post-play explanation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47553C-86AB-43F4-99D3-D202F994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9550"/>
            <a:ext cx="2405634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8AC19A-F57D-4804-B4BD-B34F7D38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2177034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Difficulty quality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2F6558-6509-4454-A985-40EF542D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284" y="4019550"/>
            <a:ext cx="3936492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B75BC5-5BAC-454A-914D-9E10461C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584" y="4114800"/>
            <a:ext cx="3707892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Is the challenge strategic rather than obscure?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E378D3-8A6A-4989-BA3C-F543D83D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0776" y="4019550"/>
            <a:ext cx="4592574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34E8E5-1221-49E4-8F36-0BF25C4E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5076" y="4114800"/>
            <a:ext cx="4363974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Failure logs and retry behavior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DA73D8-61AE-45CC-8DF0-B9A8076D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2405634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4E00BF-EB34-470E-9F9F-84507097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2177034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Scalability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C3B1D1-663E-4974-96B7-ADC18B7B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284" y="4762500"/>
            <a:ext cx="3936492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A465AA-CFD8-4F73-BCF1-56E48B2C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584" y="4857750"/>
            <a:ext cx="3707892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What instance sizes remain playable?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8DF362-8655-4247-81EF-C5B603AA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0776" y="4762500"/>
            <a:ext cx="4592574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88213D-F4BD-4238-9B48-56758744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5076" y="4857750"/>
            <a:ext cx="4363974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Stage size, object count, completion time</a:t>
            </a:r>
          </a:p>
        </p:txBody>
      </p:sp>
    </p:spTree>
    <p:extLst>
      <p:ext uri="{BB962C8B-B14F-4D97-AF65-F5344CB8AC3E}">
        <p14:creationId xmlns:p14="http://schemas.microsoft.com/office/powerpoint/2010/main" val="10817625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4C669F-6252-44EB-9EA0-715AE94F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Next: turn examples into a repeatable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0B927-60D9-4522-B7C1-2329E8C3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A61"/>
                </a:solidFill>
              </a:defRPr>
            </a:pPr>
            <a:r>
              <a:rPr sz="1500" b="0">
                <a:solidFill>
                  <a:srgbClr val="555A61"/>
                </a:solidFill>
              </a:rPr>
              <a:t>The prototypes are ready enough to support a research plan.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8EA317-0AED-412D-AEB4-A15BE75D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103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A61"/>
                </a:solidFill>
              </a:defRPr>
            </a:pPr>
            <a:r>
              <a:rPr sz="1050" b="0">
                <a:solidFill>
                  <a:srgbClr val="555A61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98AE9-CAF5-4604-A368-4B34BB33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7185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5A09E7-BF26-44BE-A64A-02BE2162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051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DA058A-7D12-4418-97E8-C19567BB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Define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CDAC06-84F4-49E1-8AE8-2F65D787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19600"/>
            <a:ext cx="2171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55A61"/>
                </a:solidFill>
              </a:defRPr>
            </a:pPr>
            <a:r>
              <a:rPr sz="1425" b="0">
                <a:solidFill>
                  <a:srgbClr val="555A61"/>
                </a:solidFill>
              </a:rPr>
              <a:t>Formalize the mapping from problem instances to stage components.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7F5FCE-3487-4754-9BFE-B987FAEC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7185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69F578-57BA-459C-A066-FD221DA1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051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215874-6444-49E6-8C17-D7039839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814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Generate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9D49FD-DC55-4A74-B43C-35561CD2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19600"/>
            <a:ext cx="2171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55A61"/>
                </a:solidFill>
              </a:defRPr>
            </a:pPr>
            <a:r>
              <a:rPr sz="1425" b="0">
                <a:solidFill>
                  <a:srgbClr val="555A61"/>
                </a:solidFill>
              </a:rPr>
              <a:t>Build tools that produce candidate stages from formulas or graphs.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396078-14A7-444E-A979-2D41D860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7185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138969-738E-4447-BBF3-0464B386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051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73C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8E10CC-AFD6-4396-8AB5-E1899341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814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Validate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F57A20-FDE8-41A0-8569-2C4C622C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419600"/>
            <a:ext cx="2171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55A61"/>
                </a:solidFill>
              </a:defRPr>
            </a:pPr>
            <a:r>
              <a:rPr sz="1425" b="0">
                <a:solidFill>
                  <a:srgbClr val="555A61"/>
                </a:solidFill>
              </a:rPr>
              <a:t>Check correspondence between solution existence and clearability.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1F5350-0F02-4483-A82E-0059A54E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051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CAC13A-C246-4073-9A23-85C00F97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9814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62E052-B068-4205-B44C-E401D35B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19600"/>
            <a:ext cx="2171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55A61"/>
                </a:solidFill>
              </a:defRPr>
            </a:pPr>
            <a:r>
              <a:rPr sz="1425" b="0">
                <a:solidFill>
                  <a:srgbClr val="555A61"/>
                </a:solidFill>
              </a:rPr>
              <a:t>Study whether players understand and enjoy the resulting challenges.</a:t>
            </a:r>
          </a:p>
        </p:txBody>
      </p:sp>
    </p:spTree>
    <p:extLst>
      <p:ext uri="{BB962C8B-B14F-4D97-AF65-F5344CB8AC3E}">
        <p14:creationId xmlns:p14="http://schemas.microsoft.com/office/powerpoint/2010/main" val="16679342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032315-6E36-476C-A5B0-04C4DCBC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Discussion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EC558-9A32-44F3-BF83-054529A7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Key takeaway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00CD4B-FF78-42BB-B8F0-28966B87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The prototypes suggest that NP-complete problems can become playable constraint systems, not just metaphors for difficulty.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DA5C4D-0B12-49A1-9E88-27F5C54F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4A853"/>
                </a:solidFill>
              </a:defRPr>
            </a:pPr>
            <a:r>
              <a:rPr sz="1725" b="1">
                <a:solidFill>
                  <a:srgbClr val="34A853"/>
                </a:solidFill>
              </a:rPr>
              <a:t>Questions to invite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7DF3D-56EA-4E18-80A1-C6C9AEAE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B7630B-B5AF-48B8-96CD-12E13CC4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910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What level of formal proof is needed for a game-based reduction?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054AD-4E63-48DA-A353-0ACEC385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C03D26-98D0-4F0E-B007-0E17AB06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910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How should unsatisfiable or impossible instances be presented to players?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822C38-55A3-4A80-B8E0-CF8CF4AB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0C74D1-28D6-406A-AC4E-0A61CEE2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910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Where is the boundary between mathematical structure and game-design fun?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7BA996-6F67-4CF1-8976-4FE39ABB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103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A61"/>
                </a:solidFill>
              </a:defRPr>
            </a:pPr>
            <a:r>
              <a:rPr sz="1050" b="0">
                <a:solidFill>
                  <a:srgbClr val="555A61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814512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2026-07-11T19:30:02.3080000Z</dcterms:created>
  <dcterms:modified xsi:type="dcterms:W3CDTF">2026-07-11T19:30:02.3080000Z</dcterms:modified>
</coreProperties>
</file>